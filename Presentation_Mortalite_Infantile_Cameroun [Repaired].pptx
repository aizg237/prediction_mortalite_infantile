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82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365760"/>
            <a:ext cx="109728" cy="228600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365760"/>
            <a:ext cx="54864" cy="2286000"/>
          </a:xfrm>
          <a:prstGeom prst="rect">
            <a:avLst/>
          </a:prstGeom>
          <a:solidFill>
            <a:srgbClr val="4A8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Analyse des Facteurs Associés à 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584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8C045"/>
                </a:solidFill>
              </a:rPr>
              <a:t>Mortalité Infantile au Cameroun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C6E0"/>
                </a:solidFill>
              </a:rPr>
              <a:t>Approche par Régression Logistique Pondérée et Machine Learning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944368"/>
            <a:ext cx="10332720" cy="27432"/>
          </a:xfrm>
          <a:prstGeom prst="rect">
            <a:avLst/>
          </a:prstGeom>
          <a:solidFill>
            <a:srgbClr val="4A8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3127248"/>
            <a:ext cx="4937760" cy="3108960"/>
          </a:xfrm>
          <a:prstGeom prst="roundRect">
            <a:avLst/>
          </a:prstGeom>
          <a:solidFill>
            <a:srgbClr val="1F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EC6E0"/>
                </a:solidFill>
              </a:rPr>
              <a:t>Présenté par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58444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C045"/>
                </a:solidFill>
              </a:rPr>
              <a:t>M. Yannick FONO BINDJEME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069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Étudiant en Statistiques et Informatique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4165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498DB"/>
                </a:solidFill>
              </a:rPr>
              <a:t>Institut Saint Jean Ingénieur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127248"/>
            <a:ext cx="4937760" cy="3108960"/>
          </a:xfrm>
          <a:prstGeom prst="roundRect">
            <a:avLst/>
          </a:prstGeom>
          <a:solidFill>
            <a:srgbClr val="1F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EC6E0"/>
                </a:solidFill>
              </a:rPr>
              <a:t>Sous la supervision 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58444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 dirty="0" err="1">
                <a:solidFill>
                  <a:srgbClr val="E8C045"/>
                </a:solidFill>
              </a:rPr>
              <a:t>Pr</a:t>
            </a:r>
            <a:r>
              <a:rPr sz="1550" b="1" i="0" dirty="0">
                <a:solidFill>
                  <a:srgbClr val="E8C045"/>
                </a:solidFill>
              </a:rPr>
              <a:t> Nguefack-Tsague Georges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069080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 err="1">
                <a:solidFill>
                  <a:srgbClr val="FFFFFF"/>
                </a:solidFill>
              </a:rPr>
              <a:t>Professeur</a:t>
            </a:r>
            <a:r>
              <a:rPr sz="1050" b="0" i="0" dirty="0">
                <a:solidFill>
                  <a:srgbClr val="FFFFFF"/>
                </a:solidFill>
              </a:rPr>
              <a:t> de </a:t>
            </a:r>
            <a:r>
              <a:rPr lang="en-US" sz="1050" dirty="0" err="1">
                <a:solidFill>
                  <a:srgbClr val="FFFFFF"/>
                </a:solidFill>
              </a:rPr>
              <a:t>S</a:t>
            </a:r>
            <a:r>
              <a:rPr sz="1050" b="0" i="0" dirty="0" err="1">
                <a:solidFill>
                  <a:srgbClr val="FFFFFF"/>
                </a:solidFill>
              </a:rPr>
              <a:t>tatistiques</a:t>
            </a:r>
            <a:endParaRPr sz="1050" b="0" i="0" dirty="0">
              <a:solidFill>
                <a:srgbClr val="FFFFFF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14400" y="6528816"/>
            <a:ext cx="10332720" cy="347472"/>
          </a:xfrm>
          <a:prstGeom prst="rect">
            <a:avLst/>
          </a:prstGeom>
          <a:solidFill>
            <a:srgbClr val="1F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6583680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 dirty="0">
                <a:solidFill>
                  <a:srgbClr val="AEC6E0"/>
                </a:solidFill>
              </a:rPr>
              <a:t>Données : </a:t>
            </a:r>
            <a:r>
              <a:rPr sz="1000" b="0" i="1" dirty="0" err="1">
                <a:solidFill>
                  <a:srgbClr val="AEC6E0"/>
                </a:solidFill>
              </a:rPr>
              <a:t>Enquête</a:t>
            </a:r>
            <a:r>
              <a:rPr sz="1000" b="0" i="1" dirty="0">
                <a:solidFill>
                  <a:srgbClr val="AEC6E0"/>
                </a:solidFill>
              </a:rPr>
              <a:t> </a:t>
            </a:r>
            <a:r>
              <a:rPr sz="1000" b="0" i="1" dirty="0" err="1">
                <a:solidFill>
                  <a:srgbClr val="AEC6E0"/>
                </a:solidFill>
              </a:rPr>
              <a:t>Démographique</a:t>
            </a:r>
            <a:r>
              <a:rPr sz="1000" b="0" i="1" dirty="0">
                <a:solidFill>
                  <a:srgbClr val="AEC6E0"/>
                </a:solidFill>
              </a:rPr>
              <a:t> et de Santé (EDS) Cameroun 2018   —  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Plan de la Présentation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Structure en deux grandes parties : Statistiques et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5486400" cy="484632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5486400" cy="530352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C045"/>
                </a:solidFill>
              </a:rPr>
              <a:t>PARTIE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FFFFFF"/>
                </a:solidFill>
              </a:rPr>
              <a:t>Statistiques</a:t>
            </a:r>
            <a:endParaRPr sz="1400" b="1" i="0" dirty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51206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1A1A2E"/>
                </a:solidFill>
              </a:rPr>
              <a:t>I.1  </a:t>
            </a:r>
            <a:r>
              <a:rPr dirty="0" err="1">
                <a:solidFill>
                  <a:srgbClr val="1A1A2E"/>
                </a:solidFill>
              </a:rPr>
              <a:t>Contexte</a:t>
            </a:r>
            <a:r>
              <a:rPr dirty="0">
                <a:solidFill>
                  <a:srgbClr val="1A1A2E"/>
                </a:solidFill>
              </a:rPr>
              <a:t> et </a:t>
            </a:r>
            <a:r>
              <a:rPr dirty="0" err="1">
                <a:solidFill>
                  <a:srgbClr val="1A1A2E"/>
                </a:solidFill>
              </a:rPr>
              <a:t>problématique</a:t>
            </a:r>
            <a:endParaRPr dirty="0">
              <a:solidFill>
                <a:srgbClr val="1A1A2E"/>
              </a:solidFill>
            </a:endParaRPr>
          </a:p>
          <a:p>
            <a:pPr algn="l"/>
            <a:r>
              <a:rPr b="0" i="0" dirty="0">
                <a:solidFill>
                  <a:srgbClr val="1A1A2E"/>
                </a:solidFill>
              </a:rPr>
              <a:t>I.2  Source de données — EDS Cameroun 2018</a:t>
            </a:r>
          </a:p>
          <a:p>
            <a:pPr algn="l"/>
            <a:r>
              <a:rPr b="0" i="0" dirty="0">
                <a:solidFill>
                  <a:srgbClr val="1A1A2E"/>
                </a:solidFill>
              </a:rPr>
              <a:t>I.3  </a:t>
            </a:r>
            <a:r>
              <a:rPr b="0" i="0" dirty="0" err="1">
                <a:solidFill>
                  <a:srgbClr val="1A1A2E"/>
                </a:solidFill>
              </a:rPr>
              <a:t>Préparation</a:t>
            </a:r>
            <a:r>
              <a:rPr b="0" i="0" dirty="0">
                <a:solidFill>
                  <a:srgbClr val="1A1A2E"/>
                </a:solidFill>
              </a:rPr>
              <a:t> et </a:t>
            </a:r>
            <a:r>
              <a:rPr b="0" i="0" dirty="0" err="1">
                <a:solidFill>
                  <a:srgbClr val="1A1A2E"/>
                </a:solidFill>
              </a:rPr>
              <a:t>nettoyage</a:t>
            </a:r>
            <a:r>
              <a:rPr b="0" i="0" dirty="0">
                <a:solidFill>
                  <a:srgbClr val="1A1A2E"/>
                </a:solidFill>
              </a:rPr>
              <a:t> des données</a:t>
            </a:r>
          </a:p>
          <a:p>
            <a:pPr algn="l"/>
            <a:r>
              <a:rPr b="0" i="0" dirty="0">
                <a:solidFill>
                  <a:srgbClr val="1A1A2E"/>
                </a:solidFill>
              </a:rPr>
              <a:t>I.4  </a:t>
            </a:r>
            <a:r>
              <a:rPr b="0" i="0" dirty="0" err="1">
                <a:solidFill>
                  <a:srgbClr val="1A1A2E"/>
                </a:solidFill>
              </a:rPr>
              <a:t>Analyse</a:t>
            </a:r>
            <a:r>
              <a:rPr b="0" i="0" dirty="0">
                <a:solidFill>
                  <a:srgbClr val="1A1A2E"/>
                </a:solidFill>
              </a:rPr>
              <a:t> descriptive et </a:t>
            </a:r>
            <a:r>
              <a:rPr b="0" i="0" dirty="0" err="1">
                <a:solidFill>
                  <a:srgbClr val="1A1A2E"/>
                </a:solidFill>
              </a:rPr>
              <a:t>bivariée</a:t>
            </a:r>
            <a:endParaRPr b="0" i="0" dirty="0">
              <a:solidFill>
                <a:srgbClr val="1A1A2E"/>
              </a:solidFill>
            </a:endParaRPr>
          </a:p>
          <a:p>
            <a:pPr algn="l"/>
            <a:r>
              <a:rPr b="0" i="0" dirty="0">
                <a:solidFill>
                  <a:srgbClr val="1A1A2E"/>
                </a:solidFill>
              </a:rPr>
              <a:t>I.5  </a:t>
            </a:r>
            <a:r>
              <a:rPr b="0" i="0" dirty="0" err="1">
                <a:solidFill>
                  <a:srgbClr val="1A1A2E"/>
                </a:solidFill>
              </a:rPr>
              <a:t>Régression</a:t>
            </a:r>
            <a:r>
              <a:rPr b="0" i="0" dirty="0">
                <a:solidFill>
                  <a:srgbClr val="1A1A2E"/>
                </a:solidFill>
              </a:rPr>
              <a:t> </a:t>
            </a:r>
            <a:r>
              <a:rPr b="0" i="0" dirty="0" err="1">
                <a:solidFill>
                  <a:srgbClr val="1A1A2E"/>
                </a:solidFill>
              </a:rPr>
              <a:t>logistique</a:t>
            </a:r>
            <a:r>
              <a:rPr b="0" i="0" dirty="0">
                <a:solidFill>
                  <a:srgbClr val="1A1A2E"/>
                </a:solidFill>
              </a:rPr>
              <a:t> </a:t>
            </a:r>
            <a:r>
              <a:rPr b="0" i="0" dirty="0" err="1">
                <a:solidFill>
                  <a:srgbClr val="1A1A2E"/>
                </a:solidFill>
              </a:rPr>
              <a:t>pondérée</a:t>
            </a:r>
            <a:endParaRPr b="0" i="0" dirty="0">
              <a:solidFill>
                <a:srgbClr val="1A1A2E"/>
              </a:solidFill>
            </a:endParaRPr>
          </a:p>
          <a:p>
            <a:pPr algn="l"/>
            <a:r>
              <a:rPr b="0" i="0" dirty="0">
                <a:solidFill>
                  <a:srgbClr val="1A1A2E"/>
                </a:solidFill>
              </a:rPr>
              <a:t>I.6  </a:t>
            </a:r>
            <a:r>
              <a:rPr b="0" i="0" dirty="0" err="1">
                <a:solidFill>
                  <a:srgbClr val="1A1A2E"/>
                </a:solidFill>
              </a:rPr>
              <a:t>Résultats</a:t>
            </a:r>
            <a:r>
              <a:rPr b="0" i="0" dirty="0">
                <a:solidFill>
                  <a:srgbClr val="1A1A2E"/>
                </a:solidFill>
              </a:rPr>
              <a:t> et odds ratios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40"/>
            <a:ext cx="5486400" cy="484632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5486400" cy="530352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490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C045"/>
                </a:solidFill>
              </a:rPr>
              <a:t>PARTIE 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190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Machine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48840"/>
            <a:ext cx="51206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1A1A2E"/>
                </a:solidFill>
              </a:rPr>
              <a:t>II.1  Pipeline de </a:t>
            </a:r>
            <a:r>
              <a:rPr dirty="0" err="1">
                <a:solidFill>
                  <a:srgbClr val="1A1A2E"/>
                </a:solidFill>
              </a:rPr>
              <a:t>prétraitement</a:t>
            </a:r>
            <a:endParaRPr dirty="0">
              <a:solidFill>
                <a:srgbClr val="1A1A2E"/>
              </a:solidFill>
            </a:endParaRPr>
          </a:p>
          <a:p>
            <a:pPr algn="l"/>
            <a:r>
              <a:rPr b="0" i="0" dirty="0">
                <a:solidFill>
                  <a:srgbClr val="1A1A2E"/>
                </a:solidFill>
              </a:rPr>
              <a:t>II.2  Cinq </a:t>
            </a:r>
            <a:r>
              <a:rPr b="0" i="0" dirty="0" err="1">
                <a:solidFill>
                  <a:srgbClr val="1A1A2E"/>
                </a:solidFill>
              </a:rPr>
              <a:t>algorithmes</a:t>
            </a:r>
            <a:r>
              <a:rPr b="0" i="0" dirty="0">
                <a:solidFill>
                  <a:srgbClr val="1A1A2E"/>
                </a:solidFill>
              </a:rPr>
              <a:t> </a:t>
            </a:r>
            <a:r>
              <a:rPr b="0" i="0" dirty="0" err="1">
                <a:solidFill>
                  <a:srgbClr val="1A1A2E"/>
                </a:solidFill>
              </a:rPr>
              <a:t>comparés</a:t>
            </a:r>
            <a:endParaRPr b="0" i="0" dirty="0">
              <a:solidFill>
                <a:srgbClr val="1A1A2E"/>
              </a:solidFill>
            </a:endParaRPr>
          </a:p>
          <a:p>
            <a:pPr algn="l"/>
            <a:r>
              <a:rPr b="0" i="0" dirty="0">
                <a:solidFill>
                  <a:srgbClr val="1A1A2E"/>
                </a:solidFill>
              </a:rPr>
              <a:t>II.3  </a:t>
            </a:r>
            <a:r>
              <a:rPr b="0" i="0" dirty="0" err="1">
                <a:solidFill>
                  <a:srgbClr val="1A1A2E"/>
                </a:solidFill>
              </a:rPr>
              <a:t>Évaluation</a:t>
            </a:r>
            <a:r>
              <a:rPr b="0" i="0" dirty="0">
                <a:solidFill>
                  <a:srgbClr val="1A1A2E"/>
                </a:solidFill>
              </a:rPr>
              <a:t> des performances</a:t>
            </a:r>
          </a:p>
          <a:p>
            <a:pPr algn="l"/>
            <a:r>
              <a:rPr b="0" i="0" dirty="0">
                <a:solidFill>
                  <a:srgbClr val="1A1A2E"/>
                </a:solidFill>
              </a:rPr>
              <a:t>II.4  </a:t>
            </a:r>
            <a:r>
              <a:rPr b="0" i="0" dirty="0" err="1">
                <a:solidFill>
                  <a:srgbClr val="1A1A2E"/>
                </a:solidFill>
              </a:rPr>
              <a:t>Modèle</a:t>
            </a:r>
            <a:r>
              <a:rPr b="0" i="0" dirty="0">
                <a:solidFill>
                  <a:srgbClr val="1A1A2E"/>
                </a:solidFill>
              </a:rPr>
              <a:t> champion — XGBoost</a:t>
            </a:r>
          </a:p>
          <a:p>
            <a:pPr algn="l"/>
            <a:r>
              <a:rPr b="0" i="0" dirty="0">
                <a:solidFill>
                  <a:srgbClr val="1A1A2E"/>
                </a:solidFill>
              </a:rPr>
              <a:t>II.5  Importance des variables (SHAP)</a:t>
            </a:r>
          </a:p>
          <a:p>
            <a:pPr algn="l"/>
            <a:r>
              <a:rPr b="0" i="0" dirty="0">
                <a:solidFill>
                  <a:srgbClr val="1A1A2E"/>
                </a:solidFill>
              </a:rPr>
              <a:t>II.6  Application </a:t>
            </a:r>
            <a:r>
              <a:rPr b="0" i="0" dirty="0" err="1">
                <a:solidFill>
                  <a:srgbClr val="1A1A2E"/>
                </a:solidFill>
              </a:rPr>
              <a:t>Streamlit</a:t>
            </a:r>
            <a:r>
              <a:rPr b="0" i="0" dirty="0">
                <a:solidFill>
                  <a:srgbClr val="1A1A2E"/>
                </a:solidFill>
              </a:rPr>
              <a:t> et conclusion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Contexte et Problématique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La mortalité infantile, un défi persistant en Afrique subsaharienne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417320"/>
            <a:ext cx="3749039" cy="484632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3749039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Contexte mondial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011680"/>
            <a:ext cx="34747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dirty="0" err="1">
                <a:solidFill>
                  <a:srgbClr val="1A1A2E"/>
                </a:solidFill>
              </a:rPr>
              <a:t>Objectif</a:t>
            </a:r>
            <a:r>
              <a:rPr lang="en-US" sz="1050" dirty="0" err="1">
                <a:solidFill>
                  <a:srgbClr val="1A1A2E"/>
                </a:solidFill>
              </a:rPr>
              <a:t>s</a:t>
            </a:r>
            <a:r>
              <a:rPr sz="1050" dirty="0">
                <a:solidFill>
                  <a:srgbClr val="1A1A2E"/>
                </a:solidFill>
              </a:rPr>
              <a:t>:</a:t>
            </a:r>
          </a:p>
          <a:p>
            <a:pPr algn="l">
              <a:buChar char="▸"/>
            </a:pPr>
            <a:endParaRPr lang="en-US" sz="1050" b="0" i="0" dirty="0">
              <a:solidFill>
                <a:srgbClr val="1A1A2E"/>
              </a:solidFill>
            </a:endParaRPr>
          </a:p>
          <a:p>
            <a:pPr algn="l">
              <a:buChar char="▸"/>
            </a:pPr>
            <a:r>
              <a:rPr lang="fr-FR" sz="1050" dirty="0">
                <a:solidFill>
                  <a:srgbClr val="1A1A2E"/>
                </a:solidFill>
              </a:rPr>
              <a:t>Comprendre et mesurer les risques associés à</a:t>
            </a:r>
            <a:r>
              <a:rPr lang="en-US" sz="1050" dirty="0">
                <a:solidFill>
                  <a:srgbClr val="1A1A2E"/>
                </a:solidFill>
              </a:rPr>
              <a:t> la </a:t>
            </a:r>
            <a:r>
              <a:rPr lang="en-US" sz="1050" dirty="0" err="1">
                <a:solidFill>
                  <a:srgbClr val="1A1A2E"/>
                </a:solidFill>
              </a:rPr>
              <a:t>mortalit</a:t>
            </a:r>
            <a:r>
              <a:rPr lang="fr-FR" sz="1050" dirty="0">
                <a:solidFill>
                  <a:srgbClr val="1A1A2E"/>
                </a:solidFill>
              </a:rPr>
              <a:t>é</a:t>
            </a:r>
            <a:r>
              <a:rPr lang="en-US" sz="1050" dirty="0">
                <a:solidFill>
                  <a:srgbClr val="1A1A2E"/>
                </a:solidFill>
              </a:rPr>
              <a:t> infantile au Cameroun.</a:t>
            </a:r>
            <a:endParaRPr lang="fr-FR" sz="1050" dirty="0">
              <a:solidFill>
                <a:srgbClr val="1A1A2E"/>
              </a:solidFill>
            </a:endParaRPr>
          </a:p>
          <a:p>
            <a:pPr algn="l">
              <a:buChar char="▸"/>
            </a:pPr>
            <a:r>
              <a:rPr lang="en-US" sz="1050" dirty="0" err="1">
                <a:solidFill>
                  <a:srgbClr val="1A1A2E"/>
                </a:solidFill>
              </a:rPr>
              <a:t>R</a:t>
            </a:r>
            <a:r>
              <a:rPr sz="1050" b="0" i="0" dirty="0" err="1">
                <a:solidFill>
                  <a:srgbClr val="1A1A2E"/>
                </a:solidFill>
              </a:rPr>
              <a:t>éduire</a:t>
            </a:r>
            <a:r>
              <a:rPr sz="1050" b="0" i="0" dirty="0">
                <a:solidFill>
                  <a:srgbClr val="1A1A2E"/>
                </a:solidFill>
              </a:rPr>
              <a:t> la </a:t>
            </a:r>
            <a:r>
              <a:rPr sz="1050" b="0" i="0" dirty="0" err="1">
                <a:solidFill>
                  <a:srgbClr val="1A1A2E"/>
                </a:solidFill>
              </a:rPr>
              <a:t>mortalité</a:t>
            </a:r>
            <a:r>
              <a:rPr sz="1050" b="0" i="0" dirty="0">
                <a:solidFill>
                  <a:srgbClr val="1A1A2E"/>
                </a:solidFill>
              </a:rPr>
              <a:t> infantile à </a:t>
            </a:r>
            <a:r>
              <a:rPr sz="1050" b="0" i="0" dirty="0" err="1">
                <a:solidFill>
                  <a:srgbClr val="1A1A2E"/>
                </a:solidFill>
              </a:rPr>
              <a:t>moins</a:t>
            </a:r>
            <a:r>
              <a:rPr sz="1050" b="0" i="0" dirty="0">
                <a:solidFill>
                  <a:srgbClr val="1A1A2E"/>
                </a:solidFill>
              </a:rPr>
              <a:t> de 25 pour 1 000 naissances </a:t>
            </a:r>
            <a:r>
              <a:rPr sz="1050" b="0" i="0" dirty="0" err="1">
                <a:solidFill>
                  <a:srgbClr val="1A1A2E"/>
                </a:solidFill>
              </a:rPr>
              <a:t>vivantes</a:t>
            </a:r>
            <a:r>
              <a:rPr sz="1050" b="0" i="0" dirty="0">
                <a:solidFill>
                  <a:srgbClr val="1A1A2E"/>
                </a:solidFill>
              </a:rPr>
              <a:t> </a:t>
            </a:r>
            <a:r>
              <a:rPr sz="1050" b="0" i="0" dirty="0" err="1">
                <a:solidFill>
                  <a:srgbClr val="1A1A2E"/>
                </a:solidFill>
              </a:rPr>
              <a:t>d'ici</a:t>
            </a:r>
            <a:r>
              <a:rPr sz="1050" b="0" i="0" dirty="0">
                <a:solidFill>
                  <a:srgbClr val="1A1A2E"/>
                </a:solidFill>
              </a:rPr>
              <a:t> 2030.</a:t>
            </a:r>
          </a:p>
          <a:p>
            <a:pPr algn="l">
              <a:buChar char="▸"/>
            </a:pPr>
            <a:r>
              <a:rPr lang="en-US" sz="1050" b="0" i="0" dirty="0">
                <a:solidFill>
                  <a:srgbClr val="1A1A2E"/>
                </a:solidFill>
              </a:rPr>
              <a:t>D</a:t>
            </a:r>
            <a:r>
              <a:rPr lang="fr-FR" sz="1050" b="0" i="0" dirty="0" err="1">
                <a:solidFill>
                  <a:srgbClr val="1A1A2E"/>
                </a:solidFill>
              </a:rPr>
              <a:t>ét</a:t>
            </a:r>
            <a:r>
              <a:rPr lang="en-US" sz="1050" b="0" i="0" dirty="0" err="1">
                <a:solidFill>
                  <a:srgbClr val="1A1A2E"/>
                </a:solidFill>
              </a:rPr>
              <a:t>ecter</a:t>
            </a:r>
            <a:r>
              <a:rPr lang="en-US" sz="1050" b="0" i="0" dirty="0">
                <a:solidFill>
                  <a:srgbClr val="1A1A2E"/>
                </a:solidFill>
              </a:rPr>
              <a:t> les </a:t>
            </a:r>
            <a:r>
              <a:rPr lang="en-US" sz="1050" b="0" i="0" dirty="0" err="1">
                <a:solidFill>
                  <a:srgbClr val="1A1A2E"/>
                </a:solidFill>
              </a:rPr>
              <a:t>profils</a:t>
            </a:r>
            <a:r>
              <a:rPr lang="en-US" sz="1050" b="0" i="0" dirty="0">
                <a:solidFill>
                  <a:srgbClr val="1A1A2E"/>
                </a:solidFill>
              </a:rPr>
              <a:t> </a:t>
            </a:r>
            <a:r>
              <a:rPr lang="fr-FR" sz="1050" b="0" i="0" dirty="0">
                <a:solidFill>
                  <a:srgbClr val="1A1A2E"/>
                </a:solidFill>
              </a:rPr>
              <a:t>à</a:t>
            </a:r>
            <a:r>
              <a:rPr lang="en-US" sz="1050" b="0" i="0" dirty="0">
                <a:solidFill>
                  <a:srgbClr val="1A1A2E"/>
                </a:solidFill>
              </a:rPr>
              <a:t> fort </a:t>
            </a:r>
            <a:r>
              <a:rPr lang="en-US" sz="1050" b="0" i="0" dirty="0" err="1">
                <a:solidFill>
                  <a:srgbClr val="1A1A2E"/>
                </a:solidFill>
              </a:rPr>
              <a:t>risque</a:t>
            </a:r>
            <a:r>
              <a:rPr lang="en-US" sz="1050" b="0" i="0" dirty="0">
                <a:solidFill>
                  <a:srgbClr val="1A1A2E"/>
                </a:solidFill>
              </a:rPr>
              <a:t> de </a:t>
            </a:r>
            <a:r>
              <a:rPr lang="en-US" sz="1050" b="0" i="0" dirty="0" err="1">
                <a:solidFill>
                  <a:srgbClr val="1A1A2E"/>
                </a:solidFill>
              </a:rPr>
              <a:t>perdre</a:t>
            </a:r>
            <a:r>
              <a:rPr lang="en-US" sz="1050" b="0" i="0" dirty="0">
                <a:solidFill>
                  <a:srgbClr val="1A1A2E"/>
                </a:solidFill>
              </a:rPr>
              <a:t> un enfant pour </a:t>
            </a:r>
            <a:r>
              <a:rPr lang="en-US" sz="1050" b="0" i="0" dirty="0" err="1">
                <a:solidFill>
                  <a:srgbClr val="1A1A2E"/>
                </a:solidFill>
              </a:rPr>
              <a:t>prise</a:t>
            </a:r>
            <a:r>
              <a:rPr lang="en-US" sz="1050" b="0" i="0" dirty="0">
                <a:solidFill>
                  <a:srgbClr val="1A1A2E"/>
                </a:solidFill>
              </a:rPr>
              <a:t> </a:t>
            </a:r>
            <a:r>
              <a:rPr lang="en-US" sz="1050" b="0" i="0" dirty="0" err="1">
                <a:solidFill>
                  <a:srgbClr val="1A1A2E"/>
                </a:solidFill>
              </a:rPr>
              <a:t>en</a:t>
            </a:r>
            <a:r>
              <a:rPr lang="en-US" sz="1050" b="0" i="0" dirty="0">
                <a:solidFill>
                  <a:srgbClr val="1A1A2E"/>
                </a:solidFill>
              </a:rPr>
              <a:t> charge et </a:t>
            </a:r>
            <a:r>
              <a:rPr lang="en-US" sz="1050" b="0" i="0" dirty="0" err="1">
                <a:solidFill>
                  <a:srgbClr val="1A1A2E"/>
                </a:solidFill>
              </a:rPr>
              <a:t>suivi</a:t>
            </a:r>
            <a:r>
              <a:rPr lang="en-US" sz="1050" b="0" i="0" dirty="0">
                <a:solidFill>
                  <a:srgbClr val="1A1A2E"/>
                </a:solidFill>
              </a:rPr>
              <a:t>.</a:t>
            </a:r>
            <a:endParaRPr sz="1050" b="0" i="0" dirty="0">
              <a:solidFill>
                <a:srgbClr val="1A1A2E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70248" y="1417320"/>
            <a:ext cx="3749039" cy="4846320"/>
          </a:xfrm>
          <a:prstGeom prst="roundRect">
            <a:avLst/>
          </a:prstGeom>
          <a:solidFill>
            <a:srgbClr val="FE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70248" y="1417320"/>
            <a:ext cx="3749039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</a:rPr>
              <a:t>Situation au Cameroun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11680"/>
            <a:ext cx="3474720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dirty="0" err="1">
                <a:solidFill>
                  <a:srgbClr val="1A1A2E"/>
                </a:solidFill>
              </a:rPr>
              <a:t>Taux</a:t>
            </a:r>
            <a:r>
              <a:rPr sz="1050" dirty="0">
                <a:solidFill>
                  <a:srgbClr val="1A1A2E"/>
                </a:solidFill>
              </a:rPr>
              <a:t> de </a:t>
            </a:r>
            <a:r>
              <a:rPr sz="1050" dirty="0" err="1">
                <a:solidFill>
                  <a:srgbClr val="1A1A2E"/>
                </a:solidFill>
              </a:rPr>
              <a:t>mortalité</a:t>
            </a:r>
            <a:r>
              <a:rPr sz="1050" dirty="0">
                <a:solidFill>
                  <a:srgbClr val="1A1A2E"/>
                </a:solidFill>
              </a:rPr>
              <a:t> infantile </a:t>
            </a:r>
            <a:r>
              <a:rPr lang="en-US" sz="1050" dirty="0">
                <a:solidFill>
                  <a:srgbClr val="1A1A2E"/>
                </a:solidFill>
              </a:rPr>
              <a:t>28% des femmes </a:t>
            </a:r>
            <a:r>
              <a:rPr lang="en-US" sz="1050" dirty="0" err="1">
                <a:solidFill>
                  <a:srgbClr val="1A1A2E"/>
                </a:solidFill>
              </a:rPr>
              <a:t>ont</a:t>
            </a:r>
            <a:r>
              <a:rPr lang="en-US" sz="1050" dirty="0">
                <a:solidFill>
                  <a:srgbClr val="1A1A2E"/>
                </a:solidFill>
              </a:rPr>
              <a:t> perdu au </a:t>
            </a:r>
            <a:r>
              <a:rPr lang="en-US" sz="1050" dirty="0" err="1">
                <a:solidFill>
                  <a:srgbClr val="1A1A2E"/>
                </a:solidFill>
              </a:rPr>
              <a:t>moins</a:t>
            </a:r>
            <a:r>
              <a:rPr lang="en-US" sz="1050" dirty="0">
                <a:solidFill>
                  <a:srgbClr val="1A1A2E"/>
                </a:solidFill>
              </a:rPr>
              <a:t> un enfant</a:t>
            </a:r>
            <a:r>
              <a:rPr sz="1050" dirty="0">
                <a:solidFill>
                  <a:srgbClr val="1A1A2E"/>
                </a:solidFill>
              </a:rPr>
              <a:t>(EDS 2018).</a:t>
            </a:r>
          </a:p>
          <a:p>
            <a:pPr algn="l">
              <a:buChar char="▸"/>
            </a:pPr>
            <a:r>
              <a:rPr sz="1050" b="0" i="0" dirty="0">
                <a:solidFill>
                  <a:srgbClr val="1A1A2E"/>
                </a:solidFill>
              </a:rPr>
              <a:t>Forte </a:t>
            </a:r>
            <a:r>
              <a:rPr sz="1050" b="0" i="0" dirty="0" err="1">
                <a:solidFill>
                  <a:srgbClr val="1A1A2E"/>
                </a:solidFill>
              </a:rPr>
              <a:t>disparité</a:t>
            </a:r>
            <a:r>
              <a:rPr sz="1050" b="0" i="0" dirty="0">
                <a:solidFill>
                  <a:srgbClr val="1A1A2E"/>
                </a:solidFill>
              </a:rPr>
              <a:t> </a:t>
            </a:r>
            <a:r>
              <a:rPr sz="1050" b="0" i="0" dirty="0" err="1">
                <a:solidFill>
                  <a:srgbClr val="1A1A2E"/>
                </a:solidFill>
              </a:rPr>
              <a:t>régionale</a:t>
            </a:r>
            <a:r>
              <a:rPr sz="1050" b="0" i="0" dirty="0">
                <a:solidFill>
                  <a:srgbClr val="1A1A2E"/>
                </a:solidFill>
              </a:rPr>
              <a:t> et socio-économique.</a:t>
            </a:r>
          </a:p>
          <a:p>
            <a:pPr algn="l">
              <a:buChar char="▸"/>
            </a:pPr>
            <a:r>
              <a:rPr sz="1050" b="0" i="0" dirty="0" err="1">
                <a:solidFill>
                  <a:srgbClr val="1A1A2E"/>
                </a:solidFill>
              </a:rPr>
              <a:t>Accès</a:t>
            </a:r>
            <a:r>
              <a:rPr sz="1050" b="0" i="0" dirty="0">
                <a:solidFill>
                  <a:srgbClr val="1A1A2E"/>
                </a:solidFill>
              </a:rPr>
              <a:t> </a:t>
            </a:r>
            <a:r>
              <a:rPr sz="1050" b="0" i="0" dirty="0" err="1">
                <a:solidFill>
                  <a:srgbClr val="1A1A2E"/>
                </a:solidFill>
              </a:rPr>
              <a:t>limité</a:t>
            </a:r>
            <a:r>
              <a:rPr sz="1050" b="0" i="0" dirty="0">
                <a:solidFill>
                  <a:srgbClr val="1A1A2E"/>
                </a:solidFill>
              </a:rPr>
              <a:t> aux </a:t>
            </a:r>
            <a:r>
              <a:rPr sz="1050" b="0" i="0" dirty="0" err="1">
                <a:solidFill>
                  <a:srgbClr val="1A1A2E"/>
                </a:solidFill>
              </a:rPr>
              <a:t>soins</a:t>
            </a:r>
            <a:r>
              <a:rPr sz="1050" b="0" i="0" dirty="0">
                <a:solidFill>
                  <a:srgbClr val="1A1A2E"/>
                </a:solidFill>
              </a:rPr>
              <a:t> dans les zones rurales et </a:t>
            </a:r>
            <a:r>
              <a:rPr sz="1050" b="0" i="0" dirty="0" err="1">
                <a:solidFill>
                  <a:srgbClr val="1A1A2E"/>
                </a:solidFill>
              </a:rPr>
              <a:t>péri-urbaines</a:t>
            </a:r>
            <a:r>
              <a:rPr sz="1050" b="0" i="0" dirty="0">
                <a:solidFill>
                  <a:srgbClr val="1A1A2E"/>
                </a:solidFill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0456" y="1417320"/>
            <a:ext cx="3749039" cy="484632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0456" y="1417320"/>
            <a:ext cx="3749039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85048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5F8A"/>
                </a:solidFill>
              </a:rPr>
              <a:t>Problématique et objectif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0116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</a:rPr>
              <a:t>Quels sont les facteurs déterminants de la mortalité infantile au Cameroun ?</a:t>
            </a:r>
          </a:p>
          <a:p>
            <a:pPr algn="l">
              <a:buChar char="▸"/>
            </a:pPr>
            <a:r>
              <a:rPr sz="1050" b="0" i="0">
                <a:solidFill>
                  <a:srgbClr val="1A1A2E"/>
                </a:solidFill>
              </a:rPr>
              <a:t>Objectif : identifier et quantifier ces facteurs par approche mixte.</a:t>
            </a:r>
          </a:p>
          <a:p>
            <a:pPr algn="l">
              <a:buChar char="▸"/>
            </a:pPr>
            <a:r>
              <a:rPr sz="1050" b="0" i="0">
                <a:solidFill>
                  <a:srgbClr val="1A1A2E"/>
                </a:solidFill>
              </a:rPr>
              <a:t>Méthodes : régression logistique pondérée + algorithmes de Machine Learning.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Source de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Enquête Démographique et de Santé — Cameroun 2018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5029200" cy="484632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5029200" cy="5029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Présentation de l'EDS Cameroun 2018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46634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>
                <a:solidFill>
                  <a:srgbClr val="1A1A2E"/>
                </a:solidFill>
              </a:rPr>
              <a:t>Enquête</a:t>
            </a:r>
            <a:r>
              <a:rPr dirty="0">
                <a:solidFill>
                  <a:srgbClr val="1A1A2E"/>
                </a:solidFill>
              </a:rPr>
              <a:t> </a:t>
            </a:r>
            <a:r>
              <a:rPr dirty="0" err="1">
                <a:solidFill>
                  <a:srgbClr val="1A1A2E"/>
                </a:solidFill>
              </a:rPr>
              <a:t>nationale</a:t>
            </a:r>
            <a:r>
              <a:rPr dirty="0">
                <a:solidFill>
                  <a:srgbClr val="1A1A2E"/>
                </a:solidFill>
              </a:rPr>
              <a:t> </a:t>
            </a:r>
            <a:r>
              <a:rPr dirty="0" err="1">
                <a:solidFill>
                  <a:srgbClr val="1A1A2E"/>
                </a:solidFill>
              </a:rPr>
              <a:t>représentative</a:t>
            </a:r>
            <a:r>
              <a:rPr dirty="0">
                <a:solidFill>
                  <a:srgbClr val="1A1A2E"/>
                </a:solidFill>
              </a:rPr>
              <a:t> (EDS </a:t>
            </a:r>
            <a:r>
              <a:rPr lang="en-US" dirty="0">
                <a:solidFill>
                  <a:srgbClr val="1A1A2E"/>
                </a:solidFill>
              </a:rPr>
              <a:t>- 2018</a:t>
            </a:r>
            <a:r>
              <a:rPr dirty="0">
                <a:solidFill>
                  <a:srgbClr val="1A1A2E"/>
                </a:solidFill>
              </a:rPr>
              <a:t>)</a:t>
            </a:r>
          </a:p>
          <a:p>
            <a:pPr algn="l">
              <a:buChar char="▸"/>
            </a:pPr>
            <a:r>
              <a:rPr b="0" i="0" dirty="0">
                <a:solidFill>
                  <a:srgbClr val="1A1A2E"/>
                </a:solidFill>
              </a:rPr>
              <a:t>Population : femmes de 15 à 49 </a:t>
            </a:r>
            <a:r>
              <a:rPr b="0" i="0" dirty="0" err="1">
                <a:solidFill>
                  <a:srgbClr val="1A1A2E"/>
                </a:solidFill>
              </a:rPr>
              <a:t>ans</a:t>
            </a:r>
            <a:endParaRPr b="0" i="0" dirty="0">
              <a:solidFill>
                <a:srgbClr val="1A1A2E"/>
              </a:solidFill>
            </a:endParaRPr>
          </a:p>
          <a:p>
            <a:pPr algn="l">
              <a:buChar char="▸"/>
            </a:pPr>
            <a:r>
              <a:rPr b="0" i="0" dirty="0" err="1">
                <a:solidFill>
                  <a:srgbClr val="1A1A2E"/>
                </a:solidFill>
              </a:rPr>
              <a:t>Fichier</a:t>
            </a:r>
            <a:r>
              <a:rPr b="0" i="0" dirty="0">
                <a:solidFill>
                  <a:srgbClr val="1A1A2E"/>
                </a:solidFill>
              </a:rPr>
              <a:t> </a:t>
            </a:r>
            <a:r>
              <a:rPr b="0" i="0" dirty="0" err="1">
                <a:solidFill>
                  <a:srgbClr val="1A1A2E"/>
                </a:solidFill>
              </a:rPr>
              <a:t>utilisé</a:t>
            </a:r>
            <a:r>
              <a:rPr b="0" i="0" dirty="0">
                <a:solidFill>
                  <a:srgbClr val="1A1A2E"/>
                </a:solidFill>
              </a:rPr>
              <a:t> : Dossier </a:t>
            </a:r>
            <a:r>
              <a:rPr b="0" i="0" dirty="0" err="1">
                <a:solidFill>
                  <a:srgbClr val="1A1A2E"/>
                </a:solidFill>
              </a:rPr>
              <a:t>individuel</a:t>
            </a:r>
            <a:r>
              <a:rPr b="0" i="0" dirty="0">
                <a:solidFill>
                  <a:srgbClr val="1A1A2E"/>
                </a:solidFill>
              </a:rPr>
              <a:t> femmes (CMIR71FL.dta)</a:t>
            </a:r>
          </a:p>
          <a:p>
            <a:pPr algn="l">
              <a:buChar char="▸"/>
            </a:pPr>
            <a:r>
              <a:rPr b="0" i="0" dirty="0">
                <a:solidFill>
                  <a:srgbClr val="1A1A2E"/>
                </a:solidFill>
              </a:rPr>
              <a:t>Sondage </a:t>
            </a:r>
            <a:r>
              <a:rPr b="0" i="0" dirty="0" err="1">
                <a:solidFill>
                  <a:srgbClr val="1A1A2E"/>
                </a:solidFill>
              </a:rPr>
              <a:t>stratifié</a:t>
            </a:r>
            <a:r>
              <a:rPr b="0" i="0" dirty="0">
                <a:solidFill>
                  <a:srgbClr val="1A1A2E"/>
                </a:solidFill>
              </a:rPr>
              <a:t> à deux </a:t>
            </a:r>
            <a:r>
              <a:rPr b="0" i="0" dirty="0" err="1">
                <a:solidFill>
                  <a:srgbClr val="1A1A2E"/>
                </a:solidFill>
              </a:rPr>
              <a:t>degrés</a:t>
            </a:r>
            <a:r>
              <a:rPr b="0" i="0" dirty="0">
                <a:solidFill>
                  <a:srgbClr val="1A1A2E"/>
                </a:solidFill>
              </a:rPr>
              <a:t> (</a:t>
            </a:r>
            <a:r>
              <a:rPr b="0" i="0" dirty="0" err="1">
                <a:solidFill>
                  <a:srgbClr val="1A1A2E"/>
                </a:solidFill>
              </a:rPr>
              <a:t>grappes</a:t>
            </a:r>
            <a:r>
              <a:rPr b="0" i="0" dirty="0">
                <a:solidFill>
                  <a:srgbClr val="1A1A2E"/>
                </a:solidFill>
              </a:rPr>
              <a:t> et ménages)</a:t>
            </a:r>
          </a:p>
          <a:p>
            <a:pPr algn="l">
              <a:buChar char="▸"/>
            </a:pPr>
            <a:r>
              <a:rPr b="0" i="0" dirty="0" err="1">
                <a:solidFill>
                  <a:srgbClr val="1A1A2E"/>
                </a:solidFill>
              </a:rPr>
              <a:t>Poids</a:t>
            </a:r>
            <a:r>
              <a:rPr b="0" i="0" dirty="0">
                <a:solidFill>
                  <a:srgbClr val="1A1A2E"/>
                </a:solidFill>
              </a:rPr>
              <a:t> </a:t>
            </a:r>
            <a:r>
              <a:rPr b="0" i="0" dirty="0" err="1">
                <a:solidFill>
                  <a:srgbClr val="1A1A2E"/>
                </a:solidFill>
              </a:rPr>
              <a:t>d'enquête</a:t>
            </a:r>
            <a:r>
              <a:rPr b="0" i="0" dirty="0">
                <a:solidFill>
                  <a:srgbClr val="1A1A2E"/>
                </a:solidFill>
              </a:rPr>
              <a:t> </a:t>
            </a:r>
            <a:r>
              <a:rPr b="0" i="0" dirty="0" err="1">
                <a:solidFill>
                  <a:srgbClr val="1A1A2E"/>
                </a:solidFill>
              </a:rPr>
              <a:t>intégrés</a:t>
            </a:r>
            <a:r>
              <a:rPr b="0" i="0" dirty="0">
                <a:solidFill>
                  <a:srgbClr val="1A1A2E"/>
                </a:solidFill>
              </a:rPr>
              <a:t> (variable V005 / 10⁶)</a:t>
            </a:r>
          </a:p>
          <a:p>
            <a:pPr algn="l">
              <a:buChar char="▸"/>
            </a:pPr>
            <a:r>
              <a:rPr b="0" i="0" dirty="0">
                <a:solidFill>
                  <a:srgbClr val="1A1A2E"/>
                </a:solidFill>
              </a:rPr>
              <a:t>Plus de 1</a:t>
            </a:r>
            <a:r>
              <a:rPr lang="en-US" b="0" i="0" dirty="0">
                <a:solidFill>
                  <a:srgbClr val="1A1A2E"/>
                </a:solidFill>
              </a:rPr>
              <a:t>000 variables</a:t>
            </a:r>
            <a:r>
              <a:rPr b="0" i="0" dirty="0">
                <a:solidFill>
                  <a:srgbClr val="1A1A2E"/>
                </a:solidFill>
              </a:rPr>
              <a:t> </a:t>
            </a:r>
            <a:r>
              <a:rPr b="0" i="0" dirty="0" err="1">
                <a:solidFill>
                  <a:srgbClr val="1A1A2E"/>
                </a:solidFill>
              </a:rPr>
              <a:t>collectées</a:t>
            </a:r>
            <a:endParaRPr b="0" i="0" dirty="0">
              <a:solidFill>
                <a:srgbClr val="1A1A2E"/>
              </a:solidFill>
            </a:endParaRPr>
          </a:p>
          <a:p>
            <a:pPr algn="l">
              <a:buChar char="▸"/>
            </a:pPr>
            <a:r>
              <a:rPr b="0" i="0" dirty="0">
                <a:solidFill>
                  <a:srgbClr val="1A1A2E"/>
                </a:solidFill>
              </a:rPr>
              <a:t>Données </a:t>
            </a:r>
            <a:r>
              <a:rPr b="0" i="0" dirty="0" err="1">
                <a:solidFill>
                  <a:srgbClr val="1A1A2E"/>
                </a:solidFill>
              </a:rPr>
              <a:t>disponibles</a:t>
            </a:r>
            <a:r>
              <a:rPr b="0" i="0" dirty="0">
                <a:solidFill>
                  <a:srgbClr val="1A1A2E"/>
                </a:solidFill>
              </a:rPr>
              <a:t> </a:t>
            </a:r>
            <a:r>
              <a:rPr b="0" i="0" dirty="0" err="1">
                <a:solidFill>
                  <a:srgbClr val="1A1A2E"/>
                </a:solidFill>
              </a:rPr>
              <a:t>auprès</a:t>
            </a:r>
            <a:r>
              <a:rPr b="0" i="0" dirty="0">
                <a:solidFill>
                  <a:srgbClr val="1A1A2E"/>
                </a:solidFill>
              </a:rPr>
              <a:t> du </a:t>
            </a:r>
            <a:r>
              <a:rPr b="0" i="0" dirty="0" err="1">
                <a:solidFill>
                  <a:srgbClr val="1A1A2E"/>
                </a:solidFill>
              </a:rPr>
              <a:t>programme</a:t>
            </a:r>
            <a:r>
              <a:rPr b="0" i="0" dirty="0">
                <a:solidFill>
                  <a:srgbClr val="1A1A2E"/>
                </a:solidFill>
              </a:rPr>
              <a:t> DHS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463040"/>
            <a:ext cx="6035040" cy="1078992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89320" y="1572768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C045"/>
                </a:solidFill>
              </a:rPr>
              <a:t>14 677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1627632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Femmes dans l'analyse finale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2670048"/>
            <a:ext cx="6035040" cy="1078992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89320" y="2779776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C045"/>
                </a:solidFill>
              </a:rPr>
              <a:t>10 494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834640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Femmes avec au moins un enfant né vivant
(sous-échantillon de régression)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3877056"/>
            <a:ext cx="6035040" cy="1078992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89320" y="3986784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E8C045"/>
                </a:solidFill>
              </a:rPr>
              <a:t>~</a:t>
            </a:r>
            <a:r>
              <a:rPr lang="en-US" sz="2800" b="1" i="0" dirty="0">
                <a:solidFill>
                  <a:srgbClr val="E8C045"/>
                </a:solidFill>
              </a:rPr>
              <a:t>28</a:t>
            </a:r>
            <a:r>
              <a:rPr sz="2800" b="1" i="0" dirty="0">
                <a:solidFill>
                  <a:srgbClr val="E8C045"/>
                </a:solidFill>
              </a:rPr>
              <a:t>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041648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Prévalence de la mortalité infantile
(au moins un enfant décédé)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5084064"/>
            <a:ext cx="6035040" cy="1078992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89320" y="5193792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E8C045"/>
                </a:solidFill>
              </a:rPr>
              <a:t>15</a:t>
            </a:r>
            <a:r>
              <a:rPr sz="2800" b="1" i="0" dirty="0">
                <a:solidFill>
                  <a:srgbClr val="E8C045"/>
                </a:solidFill>
              </a:rPr>
              <a:t> 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5248656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Variables prédictives retenues
(sociodémographiques, reproductives, soins)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118872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968496"/>
            <a:ext cx="12188952" cy="54864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1" i="0">
                <a:solidFill>
                  <a:srgbClr val="2C5F8A"/>
                </a:solidFill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8803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C045"/>
                </a:solidFill>
              </a:rPr>
              <a:t>PARTIE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310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Analyse Statistique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069080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Exploration des données  •  Analyse bivariée  •  Régression logistique pondérée  •  Résultats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Préparation et Nettoyage des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Construction de la variable cible et traitement des données manquantes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508760"/>
            <a:ext cx="2743200" cy="1874519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045"/>
                </a:solidFill>
              </a:rPr>
              <a:t>1. Chargement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2514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dirty="0" err="1">
                <a:solidFill>
                  <a:srgbClr val="FFFFFF"/>
                </a:solidFill>
              </a:rPr>
              <a:t>Fichier</a:t>
            </a:r>
            <a:r>
              <a:rPr sz="1000" dirty="0">
                <a:solidFill>
                  <a:srgbClr val="FFFFFF"/>
                </a:solidFill>
              </a:rPr>
              <a:t> Stata CMIR71FL.dta</a:t>
            </a:r>
          </a:p>
          <a:p>
            <a:pPr algn="l"/>
            <a:r>
              <a:rPr sz="1000" b="0" i="0" dirty="0" err="1">
                <a:solidFill>
                  <a:srgbClr val="FFFFFF"/>
                </a:solidFill>
              </a:rPr>
              <a:t>Sélection</a:t>
            </a:r>
            <a:r>
              <a:rPr sz="1000" b="0" i="0" dirty="0">
                <a:solidFill>
                  <a:srgbClr val="FFFFFF"/>
                </a:solidFill>
              </a:rPr>
              <a:t> de </a:t>
            </a:r>
            <a:r>
              <a:rPr lang="en-US" sz="1000" b="0" i="0" dirty="0">
                <a:solidFill>
                  <a:srgbClr val="FFFFFF"/>
                </a:solidFill>
              </a:rPr>
              <a:t>16</a:t>
            </a:r>
            <a:r>
              <a:rPr sz="1000" b="0" i="0" dirty="0">
                <a:solidFill>
                  <a:srgbClr val="FFFFFF"/>
                </a:solidFill>
              </a:rPr>
              <a:t> variables</a:t>
            </a:r>
          </a:p>
          <a:p>
            <a:pPr algn="l"/>
            <a:r>
              <a:rPr sz="1000" b="0" i="0" dirty="0">
                <a:solidFill>
                  <a:srgbClr val="FFFFFF"/>
                </a:solidFill>
              </a:rPr>
              <a:t>1 000+ variables </a:t>
            </a:r>
            <a:r>
              <a:rPr sz="1000" b="0" i="0" dirty="0" err="1">
                <a:solidFill>
                  <a:srgbClr val="FFFFFF"/>
                </a:solidFill>
              </a:rPr>
              <a:t>disponibles</a:t>
            </a:r>
            <a:endParaRPr sz="1000" b="0" i="0" dirty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0896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C757D"/>
                </a:solidFill>
              </a:rPr>
              <a:t>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4408" y="1508760"/>
            <a:ext cx="2743200" cy="1874519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01568" y="160020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045"/>
                </a:solidFill>
              </a:rPr>
              <a:t>2. Nettoyage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201168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Codes EDS (9, 99, 998, 999)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traités comme valeurs manquantes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Imputation médiane /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C757D"/>
                </a:solidFill>
              </a:rPr>
              <a:t>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508760"/>
            <a:ext cx="2743200" cy="1874519"/>
          </a:xfrm>
          <a:prstGeom prst="round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45936" y="160020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045"/>
                </a:solidFill>
              </a:rPr>
              <a:t>3. Cible 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01168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Y = 1 si V206 + V207 &gt; 0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(au moins un enfant décédé)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Nulligestes → Y =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C757D"/>
                </a:solidFill>
              </a:rPr>
              <a:t>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53144" y="1508760"/>
            <a:ext cx="2743200" cy="1874519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90304" y="160020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045"/>
                </a:solidFill>
              </a:rPr>
              <a:t>4. Datasets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0304" y="201168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df clean : toutes les femmes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df stat : 10 494 mères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df ml  : 14 677 femmes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611880"/>
            <a:ext cx="11430000" cy="251460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65760" y="3611880"/>
            <a:ext cx="11430000" cy="36576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6393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Variables Prédictives Retenues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0965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5F8A"/>
                </a:solidFill>
              </a:rPr>
              <a:t>Sociodémographiques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462272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Âge, Niveau d'éducation, Région, Milieu de résidence, Richesse, Statut matrimonial, Religion, Emploi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0965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5F8A"/>
                </a:solidFill>
              </a:rPr>
              <a:t>Reproductives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462272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Nombre d'enfants nés vivants, Âge à la 1ère naissance, Naissances récentes (5 ans), Grossesses interrompues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40965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5F8A"/>
                </a:solidFill>
              </a:rPr>
              <a:t>Accès aux soins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462272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Assurance maladie, Consultation dans les 12 mois, Obstacles aux soins, Électricité au domicile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Statistiques Descriptives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Profil sociodémographique et reproductif des femmes de l'échantillon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</a:t>
            </a:r>
          </a:p>
        </p:txBody>
      </p:sp>
      <p:pic>
        <p:nvPicPr>
          <p:cNvPr id="8" name="Picture 7" descr="prevalence_bivari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7132320" cy="5120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80960" y="1417320"/>
            <a:ext cx="4160520" cy="512064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818120" y="1572768"/>
            <a:ext cx="38862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18120" y="1572768"/>
            <a:ext cx="54864" cy="65836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79" y="16276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5F8A"/>
                </a:solidFill>
              </a:rPr>
              <a:t>30,2 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166420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 err="1">
                <a:solidFill>
                  <a:srgbClr val="1A1A2E"/>
                </a:solidFill>
              </a:rPr>
              <a:t>Âge</a:t>
            </a:r>
            <a:r>
              <a:rPr sz="950" b="0" i="0" dirty="0">
                <a:solidFill>
                  <a:srgbClr val="1A1A2E"/>
                </a:solidFill>
              </a:rPr>
              <a:t> moyen des femmes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2395728"/>
            <a:ext cx="38862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18120" y="2395728"/>
            <a:ext cx="54864" cy="6583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24505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</a:rPr>
              <a:t>34,1 %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248716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 err="1">
                <a:solidFill>
                  <a:srgbClr val="1A1A2E"/>
                </a:solidFill>
              </a:rPr>
              <a:t>Prévalence</a:t>
            </a:r>
            <a:r>
              <a:rPr sz="950" b="0" i="0" dirty="0">
                <a:solidFill>
                  <a:srgbClr val="1A1A2E"/>
                </a:solidFill>
              </a:rPr>
              <a:t> </a:t>
            </a:r>
            <a:r>
              <a:rPr sz="950" b="0" i="0" dirty="0" err="1">
                <a:solidFill>
                  <a:srgbClr val="1A1A2E"/>
                </a:solidFill>
              </a:rPr>
              <a:t>mortalité</a:t>
            </a:r>
            <a:r>
              <a:rPr sz="950" b="0" i="0" dirty="0">
                <a:solidFill>
                  <a:srgbClr val="1A1A2E"/>
                </a:solidFill>
              </a:rPr>
              <a:t> infantile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3218688"/>
            <a:ext cx="38862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18120" y="3218688"/>
            <a:ext cx="54864" cy="6583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79" y="32735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3,2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331012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Nombre moyen d'enfants nés vivants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4041648"/>
            <a:ext cx="38862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818120" y="4041648"/>
            <a:ext cx="54864" cy="6583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79" y="40965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21,4 ans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413308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Âge médian à la 1ère naissance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4864608"/>
            <a:ext cx="38862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818120" y="4864608"/>
            <a:ext cx="54864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79" y="49194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47 %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495604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Niveau secondaire (le plus fréquent)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5687568"/>
            <a:ext cx="38862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818120" y="5687568"/>
            <a:ext cx="54864" cy="658368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55279" y="57424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757D"/>
                </a:solidFill>
              </a:rPr>
              <a:t>55 %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577900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Milieu rural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Analyse Bivariée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Tests du Khi-deux et t-tests — Association avec la mortalité infantile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2926080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" y="1435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Variable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417320"/>
            <a:ext cx="1371600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01568" y="143560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417320"/>
            <a:ext cx="1371600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18888" y="143560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p-valeur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1280160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36208" y="1435608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Significativité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783080"/>
            <a:ext cx="292608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" y="1837944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Niveau d'éducation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1783080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01568" y="1837944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1783080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18888" y="1837944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783080"/>
            <a:ext cx="128016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36208" y="1837944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093976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9768" y="2148840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Richesse du ménage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2093976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01568" y="2148840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2093976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18888" y="2148840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2093976"/>
            <a:ext cx="1280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36208" y="2148840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404872"/>
            <a:ext cx="292608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9768" y="2459736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Région de résidence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37560" y="2404872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01568" y="2459736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2404872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18888" y="2459736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2404872"/>
            <a:ext cx="128016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36208" y="2459736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2715768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9768" y="277063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Âge à la 1ère naissance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37560" y="2715768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401568" y="2770632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0" y="2715768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818888" y="2770632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2715768"/>
            <a:ext cx="1280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36208" y="2770632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026664"/>
            <a:ext cx="292608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9768" y="308152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1A2E"/>
                </a:solidFill>
              </a:rPr>
              <a:t>Nombre </a:t>
            </a:r>
            <a:r>
              <a:rPr sz="1000" b="0" i="0" dirty="0" err="1">
                <a:solidFill>
                  <a:srgbClr val="1A1A2E"/>
                </a:solidFill>
              </a:rPr>
              <a:t>d'enfants</a:t>
            </a:r>
            <a:endParaRPr sz="1000" b="0" i="0" dirty="0">
              <a:solidFill>
                <a:srgbClr val="1A1A2E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337560" y="3026664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401568" y="3081528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t-test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80" y="3026664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818888" y="3081528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3026664"/>
            <a:ext cx="128016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36208" y="3081528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3337560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29768" y="3392424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Milieu de résidence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37560" y="3337560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01568" y="3392424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54880" y="3337560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818888" y="3392424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72200" y="3337560"/>
            <a:ext cx="1280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236208" y="3392424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3648456"/>
            <a:ext cx="292608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29768" y="3703320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Statut matrimonial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37560" y="3648456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401568" y="3703320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754880" y="3648456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818888" y="3703320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72200" y="3648456"/>
            <a:ext cx="128016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236208" y="3703320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3959352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29768" y="4014216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Emploi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337560" y="3959352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401568" y="4014216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754880" y="3959352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818888" y="4014216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72200" y="3959352"/>
            <a:ext cx="1280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236208" y="4014216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5760" y="4270248"/>
            <a:ext cx="292608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29768" y="432511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Assurance maladie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337560" y="4270248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401568" y="4325112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754880" y="4270248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818888" y="4325112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72200" y="4270248"/>
            <a:ext cx="128016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236208" y="4325112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4581144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29768" y="463600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Grossesses interrompues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337560" y="4581144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401568" y="4636008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754880" y="4581144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818888" y="4636008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72200" y="4581144"/>
            <a:ext cx="1280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236208" y="4636008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5760" y="4892040"/>
            <a:ext cx="292608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29768" y="4946904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Naissances récentes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337560" y="4892040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401568" y="4946904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754880" y="4892040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818888" y="4946904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72200" y="4892040"/>
            <a:ext cx="128016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236208" y="4946904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65760" y="5202936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29768" y="5257800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Religion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337560" y="5202936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401568" y="5257800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754880" y="5202936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4818888" y="5257800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0,002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72200" y="5202936"/>
            <a:ext cx="1280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6236208" y="5257800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39C12"/>
                </a:solidFill>
              </a:rPr>
              <a:t>**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65760" y="5513832"/>
            <a:ext cx="292608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29768" y="5568696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Consultation soins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337560" y="5513832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3401568" y="5568696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754880" y="5513832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4818888" y="5568696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172200" y="5513832"/>
            <a:ext cx="128016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236208" y="5568696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65760" y="5824728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429768" y="587959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Électricité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337560" y="5824728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3401568" y="5879592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754880" y="5824728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4818888" y="5879592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72200" y="5824728"/>
            <a:ext cx="1280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6236208" y="5879592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65760" y="629107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C757D"/>
                </a:solidFill>
              </a:rPr>
              <a:t>*** p &lt; 0,001   ** p &lt; 0,01   Toutes les 14 variables sont significativement associées à la mortalité infantile.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726679" y="1417320"/>
            <a:ext cx="4160520" cy="512064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7726679" y="1417320"/>
            <a:ext cx="41605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7909560" y="15727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Principaux résultats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909560" y="201168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7AE60"/>
                </a:solidFill>
              </a:rPr>
              <a:t>14 / 14 variables significatives (p &lt; 0,05)</a:t>
            </a:r>
          </a:p>
          <a:p>
            <a:pPr algn="l">
              <a:buChar char="▸"/>
            </a:pPr>
            <a:r>
              <a:rPr sz="1050" b="0" i="0">
                <a:solidFill>
                  <a:srgbClr val="1A1A2E"/>
                </a:solidFill>
              </a:rPr>
              <a:t>Variables les plus fortement associées :
  → Éducation, parité, âge 1ère naissance</a:t>
            </a:r>
          </a:p>
          <a:p>
            <a:pPr algn="l">
              <a:buChar char="▸"/>
            </a:pPr>
            <a:r>
              <a:rPr sz="1050" b="0" i="0">
                <a:solidFill>
                  <a:srgbClr val="1A1A2E"/>
                </a:solidFill>
              </a:rPr>
              <a:t>Richesse et région : reflet des inégalités socio-économiques</a:t>
            </a:r>
          </a:p>
          <a:p>
            <a:pPr algn="l">
              <a:buChar char="▸"/>
            </a:pPr>
            <a:r>
              <a:rPr sz="1050" b="0" i="0">
                <a:solidFill>
                  <a:srgbClr val="1A1A2E"/>
                </a:solidFill>
              </a:rPr>
              <a:t>Accès aux soins : fort effet protecteur</a:t>
            </a:r>
          </a:p>
          <a:p>
            <a:pPr algn="l">
              <a:buChar char="▸"/>
            </a:pPr>
            <a:r>
              <a:rPr sz="1050" b="0" i="0">
                <a:solidFill>
                  <a:srgbClr val="1A1A2E"/>
                </a:solidFill>
              </a:rPr>
              <a:t>Fondement pour la régression multivariée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Régression Logistique Pondérée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Modélisation statistique tenant compte du plan de sondage complexe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463040"/>
            <a:ext cx="3794760" cy="196596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045"/>
                </a:solidFill>
              </a:rPr>
              <a:t>Modèle 1
Sociodémographique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21408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Âge, éducation, région, milieu,
richesse, statut matrimonial, religion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87952" y="201168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8C045"/>
                </a:solidFill>
              </a:rPr>
              <a:t>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463040"/>
            <a:ext cx="3794760" cy="196596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07408" y="15544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045"/>
                </a:solidFill>
              </a:rPr>
              <a:t>Modèle 2
Sociodémo. + Reproductif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121408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Modèle 1 +
Parité, âge 1ère naissance,
naissances récentes, grossesses interrompues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01168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8C045"/>
                </a:solidFill>
              </a:rPr>
              <a:t>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0456" y="1463040"/>
            <a:ext cx="3794760" cy="1965960"/>
          </a:xfrm>
          <a:prstGeom prst="round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57616" y="15544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045"/>
                </a:solidFill>
              </a:rPr>
              <a:t>Modèle 3 (complet)
Full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121408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Modèle 2 +
Assurance, consultation, emploi,
électricité, obstacles aux soins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611880"/>
            <a:ext cx="11430000" cy="260604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65760" y="3611880"/>
            <a:ext cx="11430000" cy="36576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6393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Paramètres Méthodologiques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5F8A"/>
                </a:solidFill>
              </a:rPr>
              <a:t>Pondération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62272"/>
            <a:ext cx="2697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A1A2E"/>
                </a:solidFill>
              </a:rPr>
              <a:t>Poids normalisés : w = V005/10⁶
divisé par la moyenne des poids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Écart-type robuste (HC1)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Hypothèse : MCAR sur les poids manquants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11480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5F8A"/>
                </a:solidFill>
              </a:rPr>
              <a:t>Qualité du modèle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462272"/>
            <a:ext cx="2697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A1A2E"/>
                </a:solidFill>
              </a:rPr>
              <a:t>AUC sur données test (25 %)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Pseudo-R² de McFadden et Nagelkerke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Test de Hosmer-Lemeshow (calibration)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411480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5F8A"/>
                </a:solidFill>
              </a:rPr>
              <a:t>Diagnostic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4462272"/>
            <a:ext cx="2697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A1A2E"/>
                </a:solidFill>
              </a:rPr>
              <a:t>VIF pour toutes les variables
(seuil : VIF &gt; 10 = problématique)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Aucune multicolinéarité problématique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Séparation parfaite évitée (sous-groupe mères)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19" y="411480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5F8A"/>
                </a:solidFill>
              </a:rPr>
              <a:t>Catégories de référence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19" y="4462272"/>
            <a:ext cx="2697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A1A2E"/>
                </a:solidFill>
              </a:rPr>
              <a:t>Éducation : Supérieur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Résidence : Urbain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Richesse : Très riche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Âge 1ère naissance : 25 ans et plus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Résultats — Facteurs de Risque et Protecteurs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AEC6E0"/>
                </a:solidFill>
              </a:rPr>
              <a:t>Odds ratios </a:t>
            </a:r>
            <a:r>
              <a:rPr sz="1200" b="0" i="1" dirty="0" err="1">
                <a:solidFill>
                  <a:srgbClr val="AEC6E0"/>
                </a:solidFill>
              </a:rPr>
              <a:t>ajustés</a:t>
            </a:r>
            <a:r>
              <a:rPr sz="1200" b="0" i="1" dirty="0">
                <a:solidFill>
                  <a:srgbClr val="AEC6E0"/>
                </a:solidFill>
              </a:rPr>
              <a:t> — </a:t>
            </a:r>
            <a:r>
              <a:rPr sz="1200" b="0" i="1" dirty="0" err="1">
                <a:solidFill>
                  <a:srgbClr val="AEC6E0"/>
                </a:solidFill>
              </a:rPr>
              <a:t>Modèle</a:t>
            </a:r>
            <a:r>
              <a:rPr sz="1200" b="0" i="1" dirty="0">
                <a:solidFill>
                  <a:srgbClr val="AEC6E0"/>
                </a:solidFill>
              </a:rPr>
              <a:t> 3 </a:t>
            </a:r>
            <a:r>
              <a:rPr sz="1200" b="0" i="1" dirty="0" err="1">
                <a:solidFill>
                  <a:srgbClr val="AEC6E0"/>
                </a:solidFill>
              </a:rPr>
              <a:t>complet</a:t>
            </a:r>
            <a:r>
              <a:rPr sz="1200" b="0" i="1" dirty="0">
                <a:solidFill>
                  <a:srgbClr val="AEC6E0"/>
                </a:solidFill>
              </a:rPr>
              <a:t> — n = 10 494 femmes avec enfants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</a:t>
            </a:r>
          </a:p>
        </p:txBody>
      </p:sp>
      <p:pic>
        <p:nvPicPr>
          <p:cNvPr id="8" name="Picture 7" descr="forest_plot_st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44752"/>
            <a:ext cx="5349240" cy="5120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43600" y="1444752"/>
            <a:ext cx="5943600" cy="5010912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43600" y="1444752"/>
            <a:ext cx="5943600" cy="384048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48132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Odds Ratios Ajustés — Résultats Clés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938528"/>
            <a:ext cx="5943600" cy="420624"/>
          </a:xfrm>
          <a:prstGeom prst="rect">
            <a:avLst/>
          </a:prstGeom>
          <a:solidFill>
            <a:srgbClr val="D0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0760" y="2011680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</a:rPr>
              <a:t>Facteurs de RISQUE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2359152"/>
            <a:ext cx="5943600" cy="420624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80760" y="245059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 err="1">
                <a:solidFill>
                  <a:srgbClr val="1A1A2E"/>
                </a:solidFill>
              </a:rPr>
              <a:t>Âge</a:t>
            </a:r>
            <a:r>
              <a:rPr sz="950" b="0" i="0" dirty="0">
                <a:solidFill>
                  <a:srgbClr val="1A1A2E"/>
                </a:solidFill>
              </a:rPr>
              <a:t> 1ère naissance &lt;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450592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E74C3C"/>
                </a:solidFill>
              </a:rPr>
              <a:t>5,05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245059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C757D"/>
                </a:solidFill>
              </a:rPr>
              <a:t>(4,11 – 6,21)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2779776"/>
            <a:ext cx="59436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80760" y="2871216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Aucun niveau d'éducation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871216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</a:rPr>
              <a:t>2,98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287121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C757D"/>
                </a:solidFill>
              </a:rPr>
              <a:t>(2,04 – 4,34)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3200400"/>
            <a:ext cx="5943600" cy="420624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80760" y="3291840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Âge 1ère naissance 18-19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29184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</a:rPr>
              <a:t>2,64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329184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C757D"/>
                </a:solidFill>
              </a:rPr>
              <a:t>(2,13 – 3,28)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621024"/>
            <a:ext cx="59436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80760" y="3712464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Éducation primaire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712464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C12"/>
                </a:solidFill>
              </a:rPr>
              <a:t>2,30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71246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C757D"/>
                </a:solidFill>
              </a:rPr>
              <a:t>(1,61 – 3,29)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4041648"/>
            <a:ext cx="5943600" cy="420624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80760" y="413308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Éducation secondaire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4133088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C12"/>
                </a:solidFill>
              </a:rPr>
              <a:t>1,49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413308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C757D"/>
                </a:solidFill>
              </a:rPr>
              <a:t>(1,05 – 2,11)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4462272"/>
            <a:ext cx="5943600" cy="420624"/>
          </a:xfrm>
          <a:prstGeom prst="rect">
            <a:avLst/>
          </a:prstGeom>
          <a:solidFill>
            <a:srgbClr val="D0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80760" y="4535424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Facteurs PROTECTEURS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4882896"/>
            <a:ext cx="5943600" cy="420624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80760" y="4974336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Jamais en union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974336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0,69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497433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C757D"/>
                </a:solidFill>
              </a:rPr>
              <a:t>(0,55 – 0,85)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5303520"/>
            <a:ext cx="59436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80760" y="5394960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Emploi actif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539496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0,81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9800" y="539496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C757D"/>
                </a:solidFill>
              </a:rPr>
              <a:t>(0,72 – 0,92)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5724144"/>
            <a:ext cx="5943600" cy="420624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080760" y="5815584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Consultation soins (12 m)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5815584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0,77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29800" y="581558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C757D"/>
                </a:solidFill>
              </a:rPr>
              <a:t>(0,68 – 0,86)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0" y="6144768"/>
            <a:ext cx="5943600" cy="329184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43600" y="809244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E8C045"/>
                </a:solidFill>
              </a:rPr>
              <a:t>AUC du </a:t>
            </a:r>
            <a:r>
              <a:rPr sz="1000" b="1" i="0" dirty="0" err="1">
                <a:solidFill>
                  <a:srgbClr val="E8C045"/>
                </a:solidFill>
              </a:rPr>
              <a:t>modèle</a:t>
            </a:r>
            <a:r>
              <a:rPr sz="1000" b="1" i="0" dirty="0">
                <a:solidFill>
                  <a:srgbClr val="E8C045"/>
                </a:solidFill>
              </a:rPr>
              <a:t> final : 0,87   |   Pseudo-R² Nagelkerke : 0,23   |   </a:t>
            </a:r>
            <a:r>
              <a:rPr sz="1000" b="1" i="0" dirty="0" err="1">
                <a:solidFill>
                  <a:srgbClr val="E8C045"/>
                </a:solidFill>
              </a:rPr>
              <a:t>Seuil</a:t>
            </a:r>
            <a:r>
              <a:rPr sz="1000" b="1" i="0" dirty="0">
                <a:solidFill>
                  <a:srgbClr val="E8C045"/>
                </a:solidFill>
              </a:rPr>
              <a:t> : p &lt; 0,05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Performance du Modèle Statistique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Courbe ROC et indicateurs de qualité du modèle logistique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</a:t>
            </a:r>
          </a:p>
        </p:txBody>
      </p:sp>
      <p:pic>
        <p:nvPicPr>
          <p:cNvPr id="8" name="Picture 7" descr="roc_curve_st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5486400" cy="5120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72200" y="1417320"/>
            <a:ext cx="5669280" cy="512064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669280" cy="4114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4447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Indicateurs de Qualité du Modèle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993392"/>
            <a:ext cx="5394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993392"/>
            <a:ext cx="54864" cy="60350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04825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0299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5F8A"/>
                </a:solidFill>
              </a:rPr>
              <a:t>0,87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208483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Discrimination excellente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706624"/>
            <a:ext cx="5394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2706624"/>
            <a:ext cx="54864" cy="60350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2761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Pseudo-R² McFadden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7432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5C"/>
                </a:solidFill>
              </a:rPr>
              <a:t>0,14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2798064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Contribution relative modérée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419856"/>
            <a:ext cx="5394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3419856"/>
            <a:ext cx="54864" cy="60350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34747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Pseudo-R² Nagelkerke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4564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5F8A"/>
                </a:solidFill>
              </a:rPr>
              <a:t>0,23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3511296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Variance expliquée estimée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133088"/>
            <a:ext cx="5394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4133088"/>
            <a:ext cx="54864" cy="60350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41879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Log-vraisemblance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4169664"/>
            <a:ext cx="1828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27AE60"/>
                </a:solidFill>
              </a:rPr>
              <a:t>Model 3 </a:t>
            </a:r>
            <a:r>
              <a:rPr sz="1300" b="1" i="0" dirty="0" err="1">
                <a:solidFill>
                  <a:srgbClr val="27AE60"/>
                </a:solidFill>
              </a:rPr>
              <a:t>meilleur</a:t>
            </a:r>
            <a:r>
              <a:rPr sz="1300" b="1" i="0" dirty="0">
                <a:solidFill>
                  <a:srgbClr val="27AE60"/>
                </a:solidFill>
              </a:rPr>
              <a:t>
(AIC le plus </a:t>
            </a:r>
            <a:r>
              <a:rPr sz="1300" b="1" i="0" dirty="0" err="1">
                <a:solidFill>
                  <a:srgbClr val="27AE60"/>
                </a:solidFill>
              </a:rPr>
              <a:t>faible</a:t>
            </a:r>
            <a:r>
              <a:rPr sz="1300" b="1" i="0" dirty="0">
                <a:solidFill>
                  <a:srgbClr val="27AE60"/>
                </a:solidFill>
              </a:rPr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422452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Comparaison modèles emboités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846320"/>
            <a:ext cx="5394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9360" y="4846320"/>
            <a:ext cx="54864" cy="60350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46520" y="490118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VIF max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48828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</a:rPr>
              <a:t>&lt;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4937760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Pas de multicolinéarité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5559552"/>
            <a:ext cx="5394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309360" y="5559552"/>
            <a:ext cx="54864" cy="603504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46520" y="561441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Effectif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55961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C757D"/>
                </a:solidFill>
              </a:rPr>
              <a:t>10 494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21240" y="565099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Mères (au moins 1 naissance vivante)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118872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968496"/>
            <a:ext cx="12188952" cy="54864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1" i="0">
                <a:solidFill>
                  <a:srgbClr val="2C5F8A"/>
                </a:solidFill>
              </a:rPr>
              <a:t>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8803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C045"/>
                </a:solidFill>
              </a:rPr>
              <a:t>PARTIE 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310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069080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Pipeline ML  •  Cinq algorithmes  •  Comparaison des performances  •  SHAP  •  Application Streamlit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Pipeline de Prétraitement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 err="1">
                <a:solidFill>
                  <a:srgbClr val="AEC6E0"/>
                </a:solidFill>
              </a:rPr>
              <a:t>Traitement</a:t>
            </a:r>
            <a:r>
              <a:rPr sz="1200" b="0" i="1" dirty="0">
                <a:solidFill>
                  <a:srgbClr val="AEC6E0"/>
                </a:solidFill>
              </a:rPr>
              <a:t> </a:t>
            </a:r>
            <a:r>
              <a:rPr sz="1200" b="0" i="1" dirty="0" err="1">
                <a:solidFill>
                  <a:srgbClr val="AEC6E0"/>
                </a:solidFill>
              </a:rPr>
              <a:t>différencié</a:t>
            </a:r>
            <a:r>
              <a:rPr sz="1200" b="0" i="1" dirty="0">
                <a:solidFill>
                  <a:srgbClr val="AEC6E0"/>
                </a:solidFill>
              </a:rPr>
              <a:t> </a:t>
            </a:r>
            <a:r>
              <a:rPr sz="1200" b="0" i="1" dirty="0" err="1">
                <a:solidFill>
                  <a:srgbClr val="AEC6E0"/>
                </a:solidFill>
              </a:rPr>
              <a:t>selon</a:t>
            </a:r>
            <a:r>
              <a:rPr sz="1200" b="0" i="1" dirty="0">
                <a:solidFill>
                  <a:srgbClr val="AEC6E0"/>
                </a:solidFill>
              </a:rPr>
              <a:t> la nature des variables </a:t>
            </a:r>
            <a:r>
              <a:rPr lang="en-US" sz="1200" b="0" i="1" dirty="0">
                <a:solidFill>
                  <a:srgbClr val="AEC6E0"/>
                </a:solidFill>
              </a:rPr>
              <a:t>-</a:t>
            </a:r>
            <a:r>
              <a:rPr sz="1200" b="0" i="1" dirty="0">
                <a:solidFill>
                  <a:srgbClr val="AEC6E0"/>
                </a:solidFill>
              </a:rPr>
              <a:t> Seed </a:t>
            </a:r>
            <a:r>
              <a:rPr sz="1200" b="0" i="1" dirty="0" err="1">
                <a:solidFill>
                  <a:srgbClr val="AEC6E0"/>
                </a:solidFill>
              </a:rPr>
              <a:t>fixé</a:t>
            </a:r>
            <a:r>
              <a:rPr sz="1200" b="0" i="1" dirty="0">
                <a:solidFill>
                  <a:srgbClr val="AEC6E0"/>
                </a:solidFill>
              </a:rPr>
              <a:t> à 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463040"/>
            <a:ext cx="3749039" cy="32918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045"/>
                </a:solidFill>
              </a:rPr>
              <a:t>Variables Numériques
(6 variables)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2140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Âge, Nombre d'enfants, Âge 1ère naissance,
Naissances récentes, Grossesses interrompues,
Nombre de membres du ménage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493008"/>
            <a:ext cx="3566160" cy="54864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 dirty="0">
                <a:solidFill>
                  <a:srgbClr val="AEC6E0"/>
                </a:solidFill>
              </a:rPr>
              <a:t>Imputation → </a:t>
            </a:r>
            <a:r>
              <a:rPr sz="950" b="0" i="1" dirty="0" err="1">
                <a:solidFill>
                  <a:srgbClr val="AEC6E0"/>
                </a:solidFill>
              </a:rPr>
              <a:t>Médiane</a:t>
            </a:r>
            <a:r>
              <a:rPr sz="950" b="0" i="1" dirty="0">
                <a:solidFill>
                  <a:srgbClr val="AEC6E0"/>
                </a:solidFill>
              </a:rPr>
              <a:t>
Mise à </a:t>
            </a:r>
            <a:r>
              <a:rPr sz="950" b="0" i="1" dirty="0" err="1">
                <a:solidFill>
                  <a:srgbClr val="AEC6E0"/>
                </a:solidFill>
              </a:rPr>
              <a:t>l'échelle</a:t>
            </a:r>
            <a:r>
              <a:rPr sz="950" b="0" i="1" dirty="0">
                <a:solidFill>
                  <a:srgbClr val="AEC6E0"/>
                </a:solidFill>
              </a:rPr>
              <a:t> → </a:t>
            </a:r>
            <a:r>
              <a:rPr sz="950" b="0" i="1" dirty="0" err="1">
                <a:solidFill>
                  <a:srgbClr val="AEC6E0"/>
                </a:solidFill>
              </a:rPr>
              <a:t>StandardScaler</a:t>
            </a:r>
            <a:endParaRPr sz="950" b="0" i="1" dirty="0">
              <a:solidFill>
                <a:srgbClr val="AEC6E0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70248" y="1463040"/>
            <a:ext cx="3749039" cy="329184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07408" y="157276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045"/>
                </a:solidFill>
              </a:rPr>
              <a:t>Variables Ordinales
(14 variables)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12140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Éducation, Richesse, Région, Religion,
Milieu, Statut matrimonial, Emploi,
Assurance, Obstacles aux soins…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1688" y="3493008"/>
            <a:ext cx="3566160" cy="54864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07408" y="361188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EC6E0"/>
                </a:solidFill>
              </a:rPr>
              <a:t>Imputation → Mode
(catégorie la plus fréquente)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0456" y="1463040"/>
            <a:ext cx="3749039" cy="329184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57616" y="157276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045"/>
                </a:solidFill>
              </a:rPr>
              <a:t>Variables Catégorielles
(2 variables)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12140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Électricité, Consultation dans les 12 mois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11896" y="3493008"/>
            <a:ext cx="3566160" cy="54864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57616" y="361188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 dirty="0">
                <a:solidFill>
                  <a:srgbClr val="AEC6E0"/>
                </a:solidFill>
              </a:rPr>
              <a:t>Imputation → Mode
</a:t>
            </a:r>
            <a:r>
              <a:rPr sz="950" b="0" i="1" dirty="0" err="1">
                <a:solidFill>
                  <a:srgbClr val="AEC6E0"/>
                </a:solidFill>
              </a:rPr>
              <a:t>Encodage</a:t>
            </a:r>
            <a:r>
              <a:rPr sz="950" b="0" i="1" dirty="0">
                <a:solidFill>
                  <a:srgbClr val="AEC6E0"/>
                </a:solidFill>
              </a:rPr>
              <a:t> → </a:t>
            </a:r>
            <a:r>
              <a:rPr sz="950" b="0" i="1" dirty="0" err="1">
                <a:solidFill>
                  <a:srgbClr val="AEC6E0"/>
                </a:solidFill>
              </a:rPr>
              <a:t>OneHotEncoder</a:t>
            </a:r>
            <a:r>
              <a:rPr sz="950" b="0" i="1" dirty="0">
                <a:solidFill>
                  <a:srgbClr val="AEC6E0"/>
                </a:solidFill>
              </a:rPr>
              <a:t>
handle unknown = ignore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983480"/>
            <a:ext cx="11430000" cy="150876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65760" y="4983480"/>
            <a:ext cx="11430000" cy="36576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0109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Stratégie de Validation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468112"/>
            <a:ext cx="2148840" cy="804672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9496" y="5504688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75 % Entraînement
(11 007 obs.)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15768" y="5468112"/>
            <a:ext cx="2148840" cy="804672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25496" y="5504688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25 % Test
(3 670 obs.)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01768" y="5468112"/>
            <a:ext cx="2148840" cy="80467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11496" y="5504688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5 plis stratifiés
(Validation croisée)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87768" y="5468112"/>
            <a:ext cx="2148840" cy="804672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97496" y="5504688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Classe déséquilibrée
class weight = balanced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73768" y="5468112"/>
            <a:ext cx="2148840" cy="804672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83496" y="5504688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Seuil optimal
maximisant le F1-Score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Cinq Algorithmes de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Comparaison d'approches linéaires et d'ensemble pour la prédiction du risque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463040"/>
            <a:ext cx="2240280" cy="502920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463040"/>
            <a:ext cx="2240280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7276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C5F8A"/>
                </a:solidFill>
              </a:rPr>
              <a:t>Régression
Logistique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20" y="1536192"/>
            <a:ext cx="502920" cy="5029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74520" y="1554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240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5C"/>
                </a:solidFill>
              </a:rPr>
              <a:t>Hyperparamètres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254203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C = 0,1 | L2
max iter = 500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" y="3429000"/>
            <a:ext cx="2011680" cy="2743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" y="3520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C757D"/>
                </a:solidFill>
              </a:rPr>
              <a:t>Référence linéaire
Interprétable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315968"/>
            <a:ext cx="2240280" cy="192024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4370832"/>
            <a:ext cx="2103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Déséquilibre
Y=0 : 75 %  |  Y=1 : 25 %
class weight = balanced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88336" y="1463040"/>
            <a:ext cx="2240280" cy="502920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688336" y="1463040"/>
            <a:ext cx="224028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25496" y="157276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7AE60"/>
                </a:solidFill>
              </a:rPr>
              <a:t>Random
Forest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42816" y="1536192"/>
            <a:ext cx="50292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42816" y="1554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98064" y="2240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5C"/>
                </a:solidFill>
              </a:rPr>
              <a:t>Hyperparamètres 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98064" y="254203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200 arbres
max depth = 10
min samples = 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98064" y="3429000"/>
            <a:ext cx="2011680" cy="2743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98064" y="3520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C757D"/>
                </a:solidFill>
              </a:rPr>
              <a:t>Ensemble bagging
Variance réduite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88336" y="4315968"/>
            <a:ext cx="2240280" cy="1920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79776" y="4370832"/>
            <a:ext cx="2103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Déséquilibre
Y=0 : 75 %  |  Y=1 : 25 %
class weight = balanced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56631" y="1463040"/>
            <a:ext cx="2240280" cy="502920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56631" y="1463040"/>
            <a:ext cx="224028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93791" y="157276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39C12"/>
                </a:solidFill>
              </a:rPr>
              <a:t>Gradient
Boosting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11111" y="1536192"/>
            <a:ext cx="502920" cy="5029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11111" y="1554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59" y="2240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5C"/>
                </a:solidFill>
              </a:rPr>
              <a:t>Hyperparamètres 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59" y="254203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200 estimateurs
lr = 0,05
subsample = 0,8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66359" y="3429000"/>
            <a:ext cx="2011680" cy="2743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66359" y="3520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C757D"/>
                </a:solidFill>
              </a:rPr>
              <a:t>Boosting séquentiel
Sklearn natif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56631" y="4315968"/>
            <a:ext cx="2240280" cy="1920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48071" y="4370832"/>
            <a:ext cx="2103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Déséquilibre
Y=0 : 75 %  |  Y=1 : 25 %
class weight = balanced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24927" y="1463040"/>
            <a:ext cx="2240280" cy="502920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424927" y="1463040"/>
            <a:ext cx="224028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62087" y="157276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74C3C"/>
                </a:solidFill>
              </a:rPr>
              <a:t>XGBoost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79407" y="1536192"/>
            <a:ext cx="502920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979407" y="1554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34655" y="2240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5C"/>
                </a:solidFill>
              </a:rPr>
              <a:t>Hyperparamètres 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34655" y="254203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300 estimateurs
max depth = 5
lr = 0,05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34655" y="3429000"/>
            <a:ext cx="2011680" cy="2743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534655" y="3520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C757D"/>
                </a:solidFill>
              </a:rPr>
              <a:t>Optimisé GPU/CPU
Meilleur modèle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24927" y="4315968"/>
            <a:ext cx="2240280" cy="19202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516367" y="4370832"/>
            <a:ext cx="2103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Déséquilibre
Y=0 : 75 %  |  Y=1 : 25 %
class weight = balanced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793224" y="1463040"/>
            <a:ext cx="2240280" cy="502920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793224" y="1463040"/>
            <a:ext cx="2240280" cy="548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930384" y="157276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A5C"/>
                </a:solidFill>
              </a:rPr>
              <a:t>LightGBM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347704" y="1536192"/>
            <a:ext cx="502920" cy="50292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1347704" y="1554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02952" y="2240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5C"/>
                </a:solidFill>
              </a:rPr>
              <a:t>Hyperparamètres 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02952" y="254203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300 estimateurs
croissance feuilles
lr = 0,05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902952" y="3429000"/>
            <a:ext cx="2011680" cy="2743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902952" y="3520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C757D"/>
                </a:solidFill>
              </a:rPr>
              <a:t>Très rapide
Grandes données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793224" y="4315968"/>
            <a:ext cx="2240280" cy="1920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884664" y="4370832"/>
            <a:ext cx="2103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Déséquilibre
Y=0 : 75 %  |  Y=1 : 25 %
class weight = balanced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Comparaison des Performances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 err="1">
                <a:solidFill>
                  <a:srgbClr val="AEC6E0"/>
                </a:solidFill>
              </a:rPr>
              <a:t>Évaluation</a:t>
            </a:r>
            <a:r>
              <a:rPr sz="1200" b="0" i="1" dirty="0">
                <a:solidFill>
                  <a:srgbClr val="AEC6E0"/>
                </a:solidFill>
              </a:rPr>
              <a:t> sur </a:t>
            </a:r>
            <a:r>
              <a:rPr sz="1200" b="0" i="1" dirty="0" err="1">
                <a:solidFill>
                  <a:srgbClr val="AEC6E0"/>
                </a:solidFill>
              </a:rPr>
              <a:t>l'ensemble</a:t>
            </a:r>
            <a:r>
              <a:rPr sz="1200" b="0" i="1" dirty="0">
                <a:solidFill>
                  <a:srgbClr val="AEC6E0"/>
                </a:solidFill>
              </a:rPr>
              <a:t> de test (25 %) </a:t>
            </a:r>
            <a:r>
              <a:rPr lang="en-US" sz="1200" b="0" i="1" dirty="0">
                <a:solidFill>
                  <a:srgbClr val="AEC6E0"/>
                </a:solidFill>
              </a:rPr>
              <a:t>-</a:t>
            </a:r>
            <a:r>
              <a:rPr sz="1200" b="0" i="1" dirty="0">
                <a:solidFill>
                  <a:srgbClr val="AEC6E0"/>
                </a:solidFill>
              </a:rPr>
              <a:t> 3 670 observations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II</a:t>
            </a:r>
          </a:p>
        </p:txBody>
      </p:sp>
      <p:pic>
        <p:nvPicPr>
          <p:cNvPr id="8" name="Picture 7" descr="roc_comparison_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5303520" cy="5120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89320" y="1417320"/>
            <a:ext cx="5852160" cy="512064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89320" y="1417320"/>
            <a:ext cx="5852160" cy="384048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72200" y="144475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Métriques sur l'Ensemble de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901952"/>
            <a:ext cx="164592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1920240"/>
            <a:ext cx="1572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Modèle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901952"/>
            <a:ext cx="82296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18120" y="1920240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AUC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1080" y="1901952"/>
            <a:ext cx="73152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0" y="1920240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0" y="1901952"/>
            <a:ext cx="77724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64040" y="1920240"/>
            <a:ext cx="704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Rappel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59568" y="1901952"/>
            <a:ext cx="91440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05288" y="1920240"/>
            <a:ext cx="841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Précision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2249424"/>
            <a:ext cx="1645920" cy="65836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0" y="2414016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Régression Log.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2249424"/>
            <a:ext cx="822960" cy="65836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18120" y="2414016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</a:rPr>
              <a:t>0,874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2249424"/>
            <a:ext cx="731520" cy="65836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0" y="2414016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</a:rPr>
              <a:t>0,602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18320" y="2249424"/>
            <a:ext cx="777240" cy="65836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64040" y="2414016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</a:rPr>
              <a:t>0,738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59568" y="2249424"/>
            <a:ext cx="914400" cy="65836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05288" y="2414016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</a:rPr>
              <a:t>0,508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2926080"/>
            <a:ext cx="164592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26480" y="3090672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Random Forest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2926080"/>
            <a:ext cx="82296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18120" y="3090672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</a:rPr>
              <a:t>0,874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2926080"/>
            <a:ext cx="73152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0" y="3090672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</a:rPr>
              <a:t>0,609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18320" y="2926080"/>
            <a:ext cx="77724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64040" y="3090672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</a:rPr>
              <a:t>0,711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59568" y="2926080"/>
            <a:ext cx="91440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305288" y="3090672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</a:rPr>
              <a:t>0,532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3602736"/>
            <a:ext cx="1645920" cy="65836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26480" y="3767328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Gradient Boosting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3602736"/>
            <a:ext cx="822960" cy="65836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818120" y="3767328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</a:rPr>
              <a:t>0,887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41080" y="3602736"/>
            <a:ext cx="731520" cy="65836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686800" y="3767328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</a:rPr>
              <a:t>0,635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18320" y="3602736"/>
            <a:ext cx="777240" cy="65836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464040" y="3767328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</a:rPr>
              <a:t>0,695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259568" y="3602736"/>
            <a:ext cx="914400" cy="65836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305288" y="3767328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</a:rPr>
              <a:t>0,584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80760" y="4279392"/>
            <a:ext cx="1645920" cy="658368"/>
          </a:xfrm>
          <a:prstGeom prst="rect">
            <a:avLst/>
          </a:prstGeom>
          <a:solidFill>
            <a:srgbClr val="D4EDDA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26480" y="444398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XGBoost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0" y="4279392"/>
            <a:ext cx="822960" cy="658368"/>
          </a:xfrm>
          <a:prstGeom prst="rect">
            <a:avLst/>
          </a:prstGeom>
          <a:solidFill>
            <a:srgbClr val="D4EDDA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818120" y="4443984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74C3C"/>
                </a:solidFill>
              </a:rPr>
              <a:t>0,889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41080" y="4279392"/>
            <a:ext cx="731520" cy="658368"/>
          </a:xfrm>
          <a:prstGeom prst="rect">
            <a:avLst/>
          </a:prstGeom>
          <a:solidFill>
            <a:srgbClr val="D4EDDA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686800" y="4443984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74C3C"/>
                </a:solidFill>
              </a:rPr>
              <a:t>0,642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18320" y="4279392"/>
            <a:ext cx="777240" cy="658368"/>
          </a:xfrm>
          <a:prstGeom prst="rect">
            <a:avLst/>
          </a:prstGeom>
          <a:solidFill>
            <a:srgbClr val="D4EDDA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464040" y="4443984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74C3C"/>
                </a:solidFill>
              </a:rPr>
              <a:t>0,720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259568" y="4279392"/>
            <a:ext cx="914400" cy="658368"/>
          </a:xfrm>
          <a:prstGeom prst="rect">
            <a:avLst/>
          </a:prstGeom>
          <a:solidFill>
            <a:srgbClr val="D4EDDA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305288" y="4443984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74C3C"/>
                </a:solidFill>
              </a:rPr>
              <a:t>0,580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19688" y="44622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7AE60"/>
                </a:solidFill>
              </a:rPr>
              <a:t>★ MEILLEUR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80760" y="4956048"/>
            <a:ext cx="1645920" cy="65836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126480" y="5120640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LightGBM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72400" y="4956048"/>
            <a:ext cx="822960" cy="65836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818120" y="5120640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</a:rPr>
              <a:t>0,888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641080" y="4956048"/>
            <a:ext cx="731520" cy="65836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686800" y="5120640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</a:rPr>
              <a:t>0,637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418320" y="4956048"/>
            <a:ext cx="777240" cy="65836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464040" y="5120640"/>
            <a:ext cx="7040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</a:rPr>
              <a:t>0,748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259568" y="4956048"/>
            <a:ext cx="914400" cy="65836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305288" y="5120640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</a:rPr>
              <a:t>0,554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</a:rPr>
              <a:t>Modèle</a:t>
            </a:r>
            <a:r>
              <a:rPr sz="2200" b="1" i="0" dirty="0">
                <a:solidFill>
                  <a:srgbClr val="FFFFFF"/>
                </a:solidFill>
              </a:rPr>
              <a:t> Champion </a:t>
            </a:r>
            <a:r>
              <a:rPr lang="en-US" sz="2200" b="1" i="0" dirty="0">
                <a:solidFill>
                  <a:srgbClr val="FFFFFF"/>
                </a:solidFill>
              </a:rPr>
              <a:t>-</a:t>
            </a:r>
            <a:r>
              <a:rPr sz="2200" b="1" i="0" dirty="0">
                <a:solidFill>
                  <a:srgbClr val="FFFFFF"/>
                </a:solidFill>
              </a:rPr>
              <a:t> XGBoost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Importance des variables et interprétabilité via SHAP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II</a:t>
            </a:r>
          </a:p>
        </p:txBody>
      </p:sp>
      <p:pic>
        <p:nvPicPr>
          <p:cNvPr id="8" name="Picture 7" descr="shap_importance_XGBo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5669280" cy="5120640"/>
          </a:xfrm>
          <a:prstGeom prst="rect">
            <a:avLst/>
          </a:prstGeom>
        </p:spPr>
      </p:pic>
      <p:pic>
        <p:nvPicPr>
          <p:cNvPr id="9" name="Picture 8" descr="feature_importance_XGBo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17320"/>
            <a:ext cx="2743200" cy="2468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4133087"/>
            <a:ext cx="1325880" cy="8229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81928" y="416966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4407408"/>
            <a:ext cx="1234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C045"/>
                </a:solidFill>
              </a:rPr>
              <a:t>0,889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44383" y="4133087"/>
            <a:ext cx="1325880" cy="82296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08391" y="416966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1" y="4407408"/>
            <a:ext cx="1234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C045"/>
                </a:solidFill>
              </a:rPr>
              <a:t>0,642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0848" y="4133087"/>
            <a:ext cx="1325880" cy="82296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34856" y="416966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Rappel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4856" y="4407408"/>
            <a:ext cx="1234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C045"/>
                </a:solidFill>
              </a:rPr>
              <a:t>0,720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97312" y="4133087"/>
            <a:ext cx="1325880" cy="8229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61320" y="416966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Précision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61320" y="4407408"/>
            <a:ext cx="1234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C045"/>
                </a:solidFill>
              </a:rPr>
              <a:t>0,580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5102352"/>
            <a:ext cx="5577840" cy="141732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17920" y="5102352"/>
            <a:ext cx="5577840" cy="347472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512978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Top Variables Prédictives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53212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Nombre d'enfants nés vivants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21240" y="5550408"/>
            <a:ext cx="1737360" cy="146304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921240" y="5550408"/>
            <a:ext cx="1605320" cy="14630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722608" y="55321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74C3C"/>
                </a:solidFill>
              </a:rPr>
              <a:t>23,1 %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7150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Âge de la femme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21240" y="5733288"/>
            <a:ext cx="1737360" cy="146304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921240" y="5733288"/>
            <a:ext cx="291876" cy="14630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722608" y="57150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39C12"/>
                </a:solidFill>
              </a:rPr>
              <a:t>4,2 %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589788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Niveau d'éducation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21240" y="5916168"/>
            <a:ext cx="1737360" cy="146304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921240" y="5916168"/>
            <a:ext cx="284927" cy="14630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722608" y="589788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2C5F8A"/>
                </a:solidFill>
              </a:rPr>
              <a:t>4,1 %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608076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Naissances récentes (5 ans)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21240" y="6099048"/>
            <a:ext cx="1737360" cy="146304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921240" y="6099048"/>
            <a:ext cx="194584" cy="14630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722608" y="60807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A3A5C"/>
                </a:solidFill>
              </a:rPr>
              <a:t>2,8 %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626364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Âge à la 1ère naissance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21240" y="6281928"/>
            <a:ext cx="1737360" cy="146304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921240" y="6281928"/>
            <a:ext cx="187634" cy="14630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722608" y="62636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27AE60"/>
                </a:solidFill>
              </a:rPr>
              <a:t>2,7 %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</a:rPr>
              <a:t>Application de </a:t>
            </a:r>
            <a:r>
              <a:rPr sz="2200" b="1" i="0" dirty="0" err="1">
                <a:solidFill>
                  <a:srgbClr val="FFFFFF"/>
                </a:solidFill>
              </a:rPr>
              <a:t>Prédiction</a:t>
            </a:r>
            <a:r>
              <a:rPr sz="2200" b="1" i="0" dirty="0">
                <a:solidFill>
                  <a:srgbClr val="FFFFFF"/>
                </a:solidFill>
              </a:rPr>
              <a:t> </a:t>
            </a:r>
            <a:r>
              <a:rPr lang="en-US" sz="2200" b="1" i="0" dirty="0">
                <a:solidFill>
                  <a:srgbClr val="FFFFFF"/>
                </a:solidFill>
              </a:rPr>
              <a:t>-</a:t>
            </a:r>
            <a:r>
              <a:rPr sz="2200" b="1" i="0" dirty="0">
                <a:solidFill>
                  <a:srgbClr val="FFFFFF"/>
                </a:solidFill>
              </a:rPr>
              <a:t> </a:t>
            </a:r>
            <a:r>
              <a:rPr sz="2200" b="1" i="0" dirty="0" err="1">
                <a:solidFill>
                  <a:srgbClr val="FFFFFF"/>
                </a:solidFill>
              </a:rPr>
              <a:t>Streamlit</a:t>
            </a:r>
            <a:endParaRPr sz="22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Interface interactive d'estimation du risque de mortalité infantile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502920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2834640" cy="475488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C045"/>
                </a:solidFill>
              </a:rPr>
              <a:t>Saisie des
Informations Patient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359152"/>
            <a:ext cx="2606040" cy="1051560"/>
          </a:xfrm>
          <a:prstGeom prst="roundRect">
            <a:avLst/>
          </a:prstGeom>
          <a:solidFill>
            <a:srgbClr val="2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43230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C045"/>
                </a:solidFill>
              </a:rPr>
              <a:t>Profil Sociodémographique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98064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Âge, éducation, région, richesse, religion, emploi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21024"/>
            <a:ext cx="2606040" cy="1051560"/>
          </a:xfrm>
          <a:prstGeom prst="roundRect">
            <a:avLst/>
          </a:prstGeom>
          <a:solidFill>
            <a:srgbClr val="2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694176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C045"/>
                </a:solidFill>
              </a:rPr>
              <a:t>Historique Reproductif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59936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Nombre d'enfants, âge 1ère naissance, naissances récentes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882896"/>
            <a:ext cx="2606040" cy="1051560"/>
          </a:xfrm>
          <a:prstGeom prst="roundRect">
            <a:avLst/>
          </a:prstGeom>
          <a:solidFill>
            <a:srgbClr val="2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95604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C045"/>
                </a:solidFill>
              </a:rPr>
              <a:t>Accès aux Soins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321808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Assurance maladie, consultations, obstacles aux soins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8978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► Estimer le Risque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888736"/>
            <a:ext cx="2651760" cy="2743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58978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► Estimer le Risque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1600200"/>
            <a:ext cx="3794760" cy="4754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11880" y="16642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C5F8A"/>
                </a:solidFill>
              </a:rPr>
              <a:t>Méthode Statistique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23360" y="2148840"/>
            <a:ext cx="2788920" cy="777240"/>
          </a:xfrm>
          <a:prstGeom prst="roundRect">
            <a:avLst/>
          </a:prstGeom>
          <a:solidFill>
            <a:srgbClr val="FE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23360" y="2304288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C12"/>
                </a:solidFill>
              </a:rPr>
              <a:t>Probabilité : 43,2 %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306324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39C12"/>
                </a:solidFill>
              </a:rPr>
              <a:t>RISQUE MODÉRÉ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639312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Consultations médicales
régulières recommandées.
Suivi de grossesse à renforcer.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1600200"/>
            <a:ext cx="4069080" cy="4754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89520" y="1664208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A3A5C"/>
                </a:solidFill>
              </a:rPr>
              <a:t>Machine Learning (XGBoost)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2148840"/>
            <a:ext cx="3017520" cy="777240"/>
          </a:xfrm>
          <a:prstGeom prst="round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01000" y="230428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</a:rPr>
              <a:t>Probabilité : 58,7 %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30632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74C3C"/>
                </a:solidFill>
              </a:rPr>
              <a:t>RISQUE ÉLEVÉ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3639312"/>
            <a:ext cx="37490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Suivi médical urgent requis.
Éducation à la santé maternelle.
Planification familiale conseillée.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5715000"/>
            <a:ext cx="8046720" cy="50292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11880" y="5779008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C757D"/>
                </a:solidFill>
              </a:rPr>
              <a:t>Concordance entre méthodes : écart de 15,5 pts — concorde sur la direction du risque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</a:rPr>
              <a:t>Synthèse</a:t>
            </a:r>
            <a:r>
              <a:rPr sz="2200" b="1" i="0" dirty="0">
                <a:solidFill>
                  <a:srgbClr val="FFFFFF"/>
                </a:solidFill>
              </a:rPr>
              <a:t> </a:t>
            </a:r>
            <a:r>
              <a:rPr lang="en-US" sz="2200" b="1" i="0" dirty="0">
                <a:solidFill>
                  <a:srgbClr val="FFFFFF"/>
                </a:solidFill>
              </a:rPr>
              <a:t>-</a:t>
            </a:r>
            <a:r>
              <a:rPr sz="2200" b="1" i="0" dirty="0">
                <a:solidFill>
                  <a:srgbClr val="FFFFFF"/>
                </a:solidFill>
              </a:rPr>
              <a:t> Convergence des Deux </a:t>
            </a:r>
            <a:r>
              <a:rPr sz="2200" b="1" i="0" dirty="0" err="1">
                <a:solidFill>
                  <a:srgbClr val="FFFFFF"/>
                </a:solidFill>
              </a:rPr>
              <a:t>Approches</a:t>
            </a:r>
            <a:endParaRPr sz="22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Résultats robustes et cohérents entre la statistique et le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11430000" cy="201168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11430000" cy="384048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Facteurs de Risque Identifiés par les Deux Approches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26517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2029968"/>
            <a:ext cx="2450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74C3C"/>
                </a:solidFill>
              </a:rPr>
              <a:t>Âge précoce à la 1ère naissance
(&lt; 18 ans)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06040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3A5C"/>
                </a:solidFill>
              </a:rPr>
              <a:t>OR = 5,05 ***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880360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Importance : 2,7 %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965960"/>
            <a:ext cx="26517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93008" y="2029968"/>
            <a:ext cx="2450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Faible niveau d'éducation
(aucun ou primaire)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2606040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3A5C"/>
                </a:solidFill>
              </a:rPr>
              <a:t>OR = 2,98 ***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880360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Importance : 4,1 %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965960"/>
            <a:ext cx="26517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7648" y="2029968"/>
            <a:ext cx="2450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C5F8A"/>
                </a:solidFill>
              </a:rPr>
              <a:t>Parité élevée
(nombre d'enfants)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606040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3A5C"/>
                </a:solidFill>
              </a:rPr>
              <a:t>Modèle 3 sig.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880360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Importance : 23,1 %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965960"/>
            <a:ext cx="26517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62288" y="2029968"/>
            <a:ext cx="2450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7AE60"/>
                </a:solidFill>
              </a:rPr>
              <a:t>Accès limité aux soins
(consultation, assurance)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2606040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3A5C"/>
                </a:solidFill>
              </a:rPr>
              <a:t>OR = 0,77 ***
(effet protecteur)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2880360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Importance élevée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611880"/>
            <a:ext cx="5394960" cy="256032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3611880"/>
            <a:ext cx="5394960" cy="36576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36393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Performance Comparative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114800"/>
            <a:ext cx="512064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" y="420624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Régression logistique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420624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C5F8A"/>
                </a:solidFill>
              </a:rPr>
              <a:t>AUC = 0,87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709160"/>
            <a:ext cx="512064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" y="480060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XGBoost (meilleur ML)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80060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AUC = 0,889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303520"/>
            <a:ext cx="512064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1792" y="539496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Gain ML vs Statistique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539496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C12"/>
                </a:solidFill>
              </a:rPr>
              <a:t>+ 0,019 AUC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89320" y="3611880"/>
            <a:ext cx="5852160" cy="256032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5989320" y="3611880"/>
            <a:ext cx="5852160" cy="36576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72200" y="363931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Recommandations de Santé Publique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4768" y="4096512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</a:rPr>
              <a:t>Investir dans l'éducation des filles (réduction du risque de 50 à 70 %)</a:t>
            </a:r>
          </a:p>
          <a:p>
            <a:pPr algn="l">
              <a:buChar char="▸"/>
            </a:pPr>
            <a:r>
              <a:rPr sz="1000" b="0" i="0">
                <a:solidFill>
                  <a:srgbClr val="1A1A2E"/>
                </a:solidFill>
              </a:rPr>
              <a:t>Renforcer l'accès aux consultations prénatales, surtout en zone rurale</a:t>
            </a:r>
          </a:p>
          <a:p>
            <a:pPr algn="l">
              <a:buChar char="▸"/>
            </a:pPr>
            <a:r>
              <a:rPr sz="1000" b="0" i="0">
                <a:solidFill>
                  <a:srgbClr val="1A1A2E"/>
                </a:solidFill>
              </a:rPr>
              <a:t>Promouvoir la planification familiale et retarder la première grossesse</a:t>
            </a:r>
          </a:p>
          <a:p>
            <a:pPr algn="l">
              <a:buChar char="▸"/>
            </a:pPr>
            <a:r>
              <a:rPr sz="1000" b="0" i="0">
                <a:solidFill>
                  <a:srgbClr val="1A1A2E"/>
                </a:solidFill>
              </a:rPr>
              <a:t>Cibler les régions et ménages défavorisés (approche différenciée)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1625</TotalTime>
  <Words>2316</Words>
  <Application>Microsoft Office PowerPoint</Application>
  <PresentationFormat>Personnalisé</PresentationFormat>
  <Paragraphs>457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Yannick FONO</cp:lastModifiedBy>
  <cp:revision>3</cp:revision>
  <dcterms:created xsi:type="dcterms:W3CDTF">2013-01-27T09:14:16Z</dcterms:created>
  <dcterms:modified xsi:type="dcterms:W3CDTF">2026-06-07T00:00:13Z</dcterms:modified>
  <cp:category/>
</cp:coreProperties>
</file>