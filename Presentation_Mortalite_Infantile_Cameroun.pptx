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83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109728" cy="228600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365760"/>
            <a:ext cx="54864" cy="2286000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57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Analyse des Facteurs Associés à 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C045"/>
                </a:solidFill>
              </a:rPr>
              <a:t>Mortalité Infantile au Cameroun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EC6E0"/>
                </a:solidFill>
              </a:rPr>
              <a:t>Approche par Régression Logistique Pondérée et Machine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944368"/>
            <a:ext cx="10332720" cy="27432"/>
          </a:xfrm>
          <a:prstGeom prst="rect">
            <a:avLst/>
          </a:prstGeom>
          <a:solidFill>
            <a:srgbClr val="4A8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Présenté 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C045"/>
                </a:solidFill>
              </a:rPr>
              <a:t>M. Yannick FONO BINDJEME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Étudiant en Statistiques et Informatique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416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498DB"/>
                </a:solidFill>
              </a:rPr>
              <a:t>Institut Saint Jean Ingénieur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127248"/>
            <a:ext cx="4937760" cy="3108960"/>
          </a:xfrm>
          <a:prstGeom prst="round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EC6E0"/>
                </a:solidFill>
              </a:rPr>
              <a:t>Sous la supervision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8444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 i="0">
                <a:solidFill>
                  <a:srgbClr val="E8C045"/>
                </a:solidFill>
              </a:rPr>
              <a:t>Pr Nguefack-Tsague Georges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Professeur de Biostatistiques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6144768"/>
            <a:ext cx="10332720" cy="347472"/>
          </a:xfrm>
          <a:prstGeom prst="rect">
            <a:avLst/>
          </a:prstGeom>
          <a:solidFill>
            <a:srgbClr val="1F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6181344"/>
            <a:ext cx="10058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EC6E0"/>
                </a:solidFill>
              </a:rPr>
              <a:t>Données : Enquête Démographique et de Santé (EDS) Cameroun 2018   —  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Structure en deux grandes parties : Statistiques et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53035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Statistiques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I.1  Contexte et problématique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I.2  Source de données — EDS Cameroun 2018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I.3  Préparation et nettoyage des données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I.4  Analyse descriptive et bivariée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I.5  Régression logistique pondérée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I.6  Résultats et odds ratios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63040"/>
            <a:ext cx="54864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486400" cy="53035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19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48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II.1  Pipeline de prétraitement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II.2  Six algorithmes comparés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II.3  Courbes d'apprentissage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II.4  Comparaison des performances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II.5  Modèle champion — XGBoost &amp; SHAP</a:t>
            </a:r>
          </a:p>
          <a:p>
            <a:pPr algn="l">
              <a:buChar char="●"/>
            </a:pPr>
            <a:r>
              <a:rPr sz="1150" b="0" i="0">
                <a:solidFill>
                  <a:srgbClr val="1A1A2E"/>
                </a:solidFill>
              </a:rPr>
              <a:t>II.6  Application Streamlit et conclusion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Contexte et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La mortalité infantile, un défi persistant en Afrique subsaharienne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417320"/>
            <a:ext cx="3749039" cy="4846320"/>
          </a:xfrm>
          <a:prstGeom prst="roundRect">
            <a:avLst/>
          </a:prstGeom>
          <a:solidFill>
            <a:srgbClr val="E6F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374903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Contexte mondial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Objectif de Développement Durable 3.2 :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réduire la mortalité infantile à moins de 25 pour 1 000 naissances vivantes d'ici 2030.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L'Afrique subsaharienne concentre plus de 50 % des décès d'enfants de moins de 5 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0248" y="1417320"/>
            <a:ext cx="3749039" cy="4846320"/>
          </a:xfrm>
          <a:prstGeom prst="roundRect">
            <a:avLst/>
          </a:prstGeom>
          <a:solidFill>
            <a:srgbClr val="FEF6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74903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</a:rPr>
              <a:t>Situation au Cameroun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Taux de mortalité infantile : environ 50 pour 1 000 NV (EDS 2018).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Forte disparité régionale et socio-économique.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Accès limité aux soins dans les zones rurales et péri-urbaines.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417320"/>
            <a:ext cx="3749039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0456" y="1417320"/>
            <a:ext cx="3749039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5F8A"/>
                </a:solidFill>
              </a:rPr>
              <a:t>Problématique et objectif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0116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1A1A2E"/>
                </a:solidFill>
              </a:rPr>
              <a:t>Quels sont les facteurs déterminants de la mortalité infantile au Cameroun ?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Objectif : identifier et quantifier ces facteurs par approche mixte.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Méthodes : régression logistique pondérée + algorithmes de Machine Learning.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 de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Enquête Démographique et de Santé — Cameroun 2018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029200" cy="4846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02920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Présentation de l'EDS Cameroun 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A1A2E"/>
                </a:solidFill>
              </a:rPr>
              <a:t>Enquête nationale représentative (EDS Phase 7)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Population : femmes de 15 à 49 ans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Fichier utilisé : Dossier individuel femmes (CMIR71FL.dta)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Sondage stratifié à deux degrés (grappes et ménages)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Poids d'enquête intégrés (variable V005 / 10⁶)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Plus de 1 000 variables collectées</a:t>
            </a:r>
          </a:p>
          <a:p>
            <a:pPr algn="l">
              <a:buChar char="▸"/>
            </a:pPr>
            <a:r>
              <a:rPr sz="1100" b="0" i="0">
                <a:solidFill>
                  <a:srgbClr val="1A1A2E"/>
                </a:solidFill>
              </a:rPr>
              <a:t>Données disponibles auprès du programme DHS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463040"/>
            <a:ext cx="6035040" cy="107899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89320" y="1572768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14 677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27632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dans l'analyse finale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670048"/>
            <a:ext cx="6035040" cy="107899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779776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10 494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834640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Femmes avec au moins un enfant né vivant
(sous-échantillon de régression)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877056"/>
            <a:ext cx="6035040" cy="107899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3986784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~34 %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041648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Prévalence de la mortalité infantile
(au moins un enfant décédé)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5084064"/>
            <a:ext cx="6035040" cy="107899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9320" y="5193792"/>
            <a:ext cx="1828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C045"/>
                </a:solidFill>
              </a:rPr>
              <a:t>20 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5248656"/>
            <a:ext cx="3657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Variables prédictives retenues
(sociodémographiques, reproductives, soins)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Analyse Statistique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Exploration des données  •  Analyse bivariée  •  Régression logistique pondérée  •  Résultats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Préparation et Nettoyage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Construction de la variable cible et traitement des données manquantes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08760"/>
            <a:ext cx="2743200" cy="1874519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1. Chargement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Fichier Stata CMIR71FL.dta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Sélection de 22 variables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1 000+ variables disponibles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4408" y="1508760"/>
            <a:ext cx="2743200" cy="1874519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01568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2. Nettoyage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Codes EDS (9, 99, 998, 999)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traités comme valeurs manquantes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Imputation médiane /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508760"/>
            <a:ext cx="2743200" cy="1874519"/>
          </a:xfrm>
          <a:prstGeom prst="round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5936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3. Cible 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5936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Y = 1 si V206 + V207 &gt; 0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(au moins un enfant décédé)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Nulligestes → Y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C757D"/>
                </a:solidFill>
              </a:rPr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53144" y="1508760"/>
            <a:ext cx="2743200" cy="1874519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90304" y="1600200"/>
            <a:ext cx="2514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C045"/>
                </a:solidFill>
              </a:rPr>
              <a:t>4.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201168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df clean : toutes les femmes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stat : 10 494 mères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df ml  : 14 677 femmes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611880"/>
            <a:ext cx="11430000" cy="25146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Variables Prédictives Retenues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Sociodémographiques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Âge, Niveau d'éducation, Région, Milieu de résidence, Richesse, Statut matrimonial, Religion, Emploi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Reproductives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d'enfants nés vivants, Âge à la 1ère naissance, Naissances récentes (5 ans), Grossesses interrompues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965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Accès aux soins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4462272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Assurance maladie, Consultation dans les 12 mois, Obstacles aux soins, Électricité au domicile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Statistiques Descriptives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Profil sociodémographique et reproductif des femmes de l'échantillon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prevalence_bivari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1323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15727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18120" y="1572768"/>
            <a:ext cx="54864" cy="65836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6276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5F8A"/>
                </a:solidFill>
              </a:rPr>
              <a:t>30,2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6642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moyen des femmes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39572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18120" y="2395728"/>
            <a:ext cx="54864" cy="65836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79" y="245059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34,1 %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48716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Prévalence mortalité infantile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321868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818120" y="3218688"/>
            <a:ext cx="54864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79" y="327355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</a:rPr>
              <a:t>3,2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331012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Nombre moyen d'enfants nés vivants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404164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18120" y="4041648"/>
            <a:ext cx="54864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79" y="40965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</a:rPr>
              <a:t>21,4 ans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13308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médian à la 1ère naissance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86460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18120" y="4864608"/>
            <a:ext cx="54864" cy="65836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79" y="491947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47 %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495604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Niveau secondaire (le plus fréquent)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5687568"/>
            <a:ext cx="3886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818120" y="5687568"/>
            <a:ext cx="54864" cy="658368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79" y="574243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757D"/>
                </a:solidFill>
              </a:rPr>
              <a:t>55 %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779008"/>
            <a:ext cx="2148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Milieu rural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Analyse Bivariée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Tests du Khi-deux et t-tests — Association avec la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92608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435608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0156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417320"/>
            <a:ext cx="137160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143560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p-valeur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417320"/>
            <a:ext cx="12801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36208" y="143560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Significativité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8308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" y="183794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0156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178308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18888" y="183794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8308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6208" y="183794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09397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" y="214884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Richesse du ménage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756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0156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09397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8888" y="214884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09397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36208" y="214884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40487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8" y="245973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Région de résidence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40156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40487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18888" y="245973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240487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36208" y="245973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71576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" y="277063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3756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0156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0" y="271576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18888" y="277063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271576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36208" y="277063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3026664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29768" y="308152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Nombre d'enfants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3756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0156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t-test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3026664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18888" y="30815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3026664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36208" y="308152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3337560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29768" y="339242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Milieu de résidence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40156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54880" y="3337560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18888" y="33924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3337560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39242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3648456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9768" y="370332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Statut matrimonial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33756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40156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3648456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818888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648456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36208" y="370332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" y="3959352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29768" y="401421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Emploi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33756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40156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54880" y="395935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818888" y="40142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72200" y="3959352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236208" y="401421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270248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9768" y="432511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Assurance maladie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33756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40156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4270248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818888" y="432511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4270248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236208" y="432511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4581144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8" y="4636008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Grossesses interrompues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33756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40156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0" y="458114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818888" y="463600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458114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236208" y="463600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4892040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29768" y="4946904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Naissances récentes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756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40156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754880" y="4892040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818888" y="494690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72200" y="4892040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236208" y="4946904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65760" y="5202936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29768" y="5257800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Religion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33756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40156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5202936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818888" y="525780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5202936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236208" y="525780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</a:rPr>
              <a:t>**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5760" y="5513832"/>
            <a:ext cx="292608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29768" y="5568696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Consultation soins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340156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54880" y="5513832"/>
            <a:ext cx="137160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818888" y="556869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72200" y="5513832"/>
            <a:ext cx="1280160" cy="310896"/>
          </a:xfrm>
          <a:prstGeom prst="rect">
            <a:avLst/>
          </a:prstGeom>
          <a:solidFill>
            <a:srgbClr val="EAF2FB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236208" y="556869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5824728"/>
            <a:ext cx="2926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29768" y="5879592"/>
            <a:ext cx="2834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Électricité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3756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340156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Khi-deux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54880" y="5824728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818888" y="5879592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&lt; 0,001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172200" y="5824728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236208" y="58795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7AE60"/>
                </a:solidFill>
              </a:rPr>
              <a:t>***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65760" y="62910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C757D"/>
                </a:solidFill>
              </a:rPr>
              <a:t>*** p &lt; 0,001   ** p &lt; 0,01   Toutes les 14 variables sont significativement associées à la mortalité infantile.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26679" y="1417320"/>
            <a:ext cx="416052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726679" y="1417320"/>
            <a:ext cx="41605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909560" y="15727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Principaux résultats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909560" y="20116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7AE60"/>
                </a:solidFill>
              </a:rPr>
              <a:t>14 / 14 variables significatives (p &lt; 0,05)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Variables les plus fortement associées :
  → Éducation, parité, âge 1ère naissance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Richesse et région : reflet des inégalités socio-économiques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Accès aux soins : fort effet protecteur</a:t>
            </a:r>
          </a:p>
          <a:p>
            <a:pPr algn="l">
              <a:buChar char="▸"/>
            </a:pPr>
            <a:r>
              <a:rPr sz="1050" b="0" i="0">
                <a:solidFill>
                  <a:srgbClr val="1A1A2E"/>
                </a:solidFill>
              </a:rPr>
              <a:t>Fondement pour la régression multivariée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Régression Logistique Pondérée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Modèle complet intégrant l'ensemble des blocs de variables — n = 10 494 mères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94760" cy="1965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1 : Sociodémographique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niveau d'éducation, région, milieu de résidence,
quintile de richesse, statut matrimonial, religion, emploi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C045"/>
                </a:solidFill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463040"/>
            <a:ext cx="3794760" cy="1965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2 : Reproductif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Nombre d'enfants nés vivants, âge à la 1ère naissance,
naissances récentes (5 ans), grossesses interrompues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0116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C045"/>
                </a:solidFill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63040"/>
            <a:ext cx="3794760" cy="1965960"/>
          </a:xfrm>
          <a:prstGeom prst="round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6" y="15544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Bloc 3 : Accès aux soins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121408"/>
            <a:ext cx="3566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Assurance maladie, consultation établissement de soins,
visite agent de santé, électricité, obstacles aux soins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611880"/>
            <a:ext cx="11430000" cy="26060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5760" y="3611880"/>
            <a:ext cx="1143000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6393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Paramètres Méthodologiques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Pondération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Poids normalisés : w = V005/10⁶
divisé par la moyenne des poids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Écart-type robuste (HC1)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Hypothèse : MCAR sur les poids manquants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Qualité du modèle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AUC sur données test (25 %)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Pseudo-R² de McFadden et Nagelkerke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Test de Hosmer-Lemeshow (calibration)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Diagnostic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VIF pour toutes les variables
(seuil : VIF &gt; 10 = problématique)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Aucune multicolinéarité problématique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Séparation parfaite évitée (sous-groupe mères)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411480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C5F8A"/>
                </a:solidFill>
              </a:rPr>
              <a:t>Catégories de référence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46227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Éducation : Supérieur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Résidence : Urbain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Richesse : Très riche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Âge 1ère naissance : 25 ans et plus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Résultats — Facteurs de Risque et Protecteurs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Odds ratios ajustés — Modèle 3 complet — n = 10 494 femmes avec enfants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forest_plot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44752"/>
            <a:ext cx="534924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43600" y="1444752"/>
            <a:ext cx="594360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0" y="1444752"/>
            <a:ext cx="594360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813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Odds Ratios Ajustés — Résultats Clés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38528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</a:rPr>
              <a:t>Facteurs de RISQUE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2359152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45059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1ère naissance &lt;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45059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5,05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45059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(4,11 – 6,21)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779776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287121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Aucun niveau d'éducation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87121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2,98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8712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(2,04 – 4,34)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200400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329184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Âge 1ère naissance 18-19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9184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74C3C"/>
                </a:solidFill>
              </a:rPr>
              <a:t>2,64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2918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(2,13 – 3,28)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21024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37124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primaire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1246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2,30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71246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(1,61 – 3,29)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041648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0760" y="413308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Éducation secondaire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13308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1,49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413308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(1,05 – 2,11)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462272"/>
            <a:ext cx="5943600" cy="420624"/>
          </a:xfrm>
          <a:prstGeom prst="rect">
            <a:avLst/>
          </a:prstGeom>
          <a:solidFill>
            <a:srgbClr val="D0D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60" y="45354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</a:rPr>
              <a:t>Facteurs PROTECTEURS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882896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497433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Jamais en union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97433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0,69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497433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(0,55 – 0,85)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303520"/>
            <a:ext cx="5943600" cy="42062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539496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Emploi actif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539496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0,81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29800" y="5394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(0,72 – 0,92)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724144"/>
            <a:ext cx="5943600" cy="420624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60" y="581558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Consultation soins (12 m)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581558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0,77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58155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(0,68 – 0,86)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5943600"/>
            <a:ext cx="5943600" cy="5943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26480" y="59893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C045"/>
                </a:solidFill>
              </a:rPr>
              <a:t>AUC du modèle final : 0,87   |   Pseudo-R² Nagelkerke : 0,23   |   Seuil : p &lt; 0,05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Performance du Modèle Statistique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Courbe ROC et indicateurs de qualité du modèle logistique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</a:t>
            </a:r>
          </a:p>
        </p:txBody>
      </p:sp>
      <p:pic>
        <p:nvPicPr>
          <p:cNvPr id="8" name="Picture 7" descr="roc_curve_st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48640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72200" y="1417320"/>
            <a:ext cx="566928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669280" cy="411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444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Indicateurs de Qualité du Modèle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9339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993392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299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21240" y="208483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Discrimination excellente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706624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706624"/>
            <a:ext cx="54864" cy="6035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McFadden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743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A5C"/>
                </a:solidFill>
              </a:rPr>
              <a:t>0,14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798064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Contribution relative modérée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419856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3419856"/>
            <a:ext cx="54864" cy="6035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Pseudo-R² Nagelkerke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456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C5F8A"/>
                </a:solidFill>
              </a:rPr>
              <a:t>0,23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511296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Variance expliquée estimée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133088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133088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187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Log-vraisemblance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169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Model 3 meilleur
(AIC le plus faible)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2245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Comparaison modèles emboités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846320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4846320"/>
            <a:ext cx="54864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46520" y="49011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VIF max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48828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7AE60"/>
                </a:solidFill>
              </a:rPr>
              <a:t>&lt;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937760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Pas de multicolinéarité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559552"/>
            <a:ext cx="53949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5559552"/>
            <a:ext cx="54864" cy="603504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56144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A5C"/>
                </a:solidFill>
              </a:rPr>
              <a:t>Effectif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55961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757D"/>
                </a:solidFill>
              </a:rPr>
              <a:t>10 494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5650992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Mères (au moins 1 naissance vivante)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1887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68496"/>
            <a:ext cx="12188952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2C5F8A"/>
                </a:solidFill>
              </a:rPr>
              <a:t>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8803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8C045"/>
                </a:solidFill>
              </a:rPr>
              <a:t>PARTIE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310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069080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Pipeline ML  •  Six algorithmes  •  Courbes d'apprentissage  •  Comparaison  •  SHAP  •  Application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de Prétraitement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Traitement différencié selon la nature des variables — Seed fixé à 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463040"/>
            <a:ext cx="3749039" cy="329184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Numériques
(6 variables)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Âge, Nombre d'enfants, Âge 1ère naissance,
Naissances récentes, Grossesses interrompues,
Nombre de membres du ménage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Médiane
Mise à l'échelle → StandardScaler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463040"/>
            <a:ext cx="3749039" cy="329184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7408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Ordinales
(14 variables)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Éducation, Richesse, Région, Religion,
Milieu, Statut matrimonial, Emploi,
Assurance, Obstacles aux soins…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8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Mode
(catégorie la plus fréquente)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0456" y="1463040"/>
            <a:ext cx="3749039" cy="32918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7616" y="157276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C045"/>
                </a:solidFill>
              </a:rPr>
              <a:t>Variables Catégorielles
(2 variables)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121408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Électricité, Consultation dans les 12 mois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11896" y="3493008"/>
            <a:ext cx="3566160" cy="54864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57616" y="361188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EC6E0"/>
                </a:solidFill>
              </a:rPr>
              <a:t>Imputation → Mode
Encodage → OneHotEncoder
handle unknown = ignore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983480"/>
            <a:ext cx="11430000" cy="150876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65760" y="4983480"/>
            <a:ext cx="1143000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01091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Stratégie de Validation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468112"/>
            <a:ext cx="2148840" cy="8046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75 % Entraînement
(11 007 obs.)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40" y="5468112"/>
            <a:ext cx="2148840" cy="804672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44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25 % Test
(3 670 obs.)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0640" y="5468112"/>
            <a:ext cx="2148840" cy="804672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30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5 plis stratifiés
(Validation croisée)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5468112"/>
            <a:ext cx="2148840" cy="804672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16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Classe déséquilibrée
class weight = balanced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5468112"/>
            <a:ext cx="2148840" cy="80467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02368" y="5504688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Seuil optimal
maximisant le F1-Score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Six Algorithmes de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Comparaison d'approches linéaires, d'ensemble et de gradient boosting avancé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1463040"/>
            <a:ext cx="1874519" cy="5486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C5F8A"/>
                </a:solidFill>
              </a:rPr>
              <a:t>Régression
Logistique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6191" y="1536192"/>
            <a:ext cx="475488" cy="475488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6191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C = 0,1 | L2
max iter = 500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Référence linéaire
Interprétable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4251960"/>
            <a:ext cx="1874519" cy="193852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1752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21992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21992" y="1463040"/>
            <a:ext cx="1874519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20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7AE60"/>
                </a:solidFill>
              </a:rPr>
              <a:t>Random
Forest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9583" y="1536192"/>
            <a:ext cx="475488" cy="475488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9583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200 arbres
max depth = 10
min samples =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31720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31720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Ensemble bagging
Variance réduite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21992" y="4251960"/>
            <a:ext cx="1874519" cy="19385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295144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15384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15384" y="1463040"/>
            <a:ext cx="1874519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25112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39C12"/>
                </a:solidFill>
              </a:rPr>
              <a:t>Gradient
Boosting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22975" y="1536192"/>
            <a:ext cx="475488" cy="475488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22975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25112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200 estimateurs
lr = 0,05
subsample = 0,8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5112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25112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Boosting séquentiel
Sklearn natif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5384" y="4251960"/>
            <a:ext cx="1874519" cy="19385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88536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08776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08776" y="1463040"/>
            <a:ext cx="1874519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18504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74C3C"/>
                </a:solidFill>
              </a:rPr>
              <a:t>XGBoost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16367" y="1536192"/>
            <a:ext cx="475488" cy="47548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16367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estimateurs
max depth = 5
lr = 0,05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18504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18504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Optimisé CPU/GPU
Meilleur modèle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08776" y="4251960"/>
            <a:ext cx="1874519" cy="193852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81928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02168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02168" y="1463040"/>
            <a:ext cx="1874519" cy="5486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11896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A5C"/>
                </a:solidFill>
              </a:rPr>
              <a:t>LightGBM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59" y="1536192"/>
            <a:ext cx="475488" cy="47548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09759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1896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1896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estimateurs
croissance feuilles
lr = 0,05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1896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11896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Très rapide
Grandes données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02168" y="4251960"/>
            <a:ext cx="1874519" cy="193852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75320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195560" y="1463040"/>
            <a:ext cx="1874519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0195560" y="1463040"/>
            <a:ext cx="1874519" cy="54864"/>
          </a:xfrm>
          <a:prstGeom prst="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305288" y="1572768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C007"/>
                </a:solidFill>
              </a:rPr>
              <a:t>CatBoost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1503151" y="1536192"/>
            <a:ext cx="475488" cy="475488"/>
          </a:xfrm>
          <a:prstGeom prst="round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503151" y="1554480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05288" y="2240280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3A5C"/>
                </a:solidFill>
              </a:rPr>
              <a:t>Hyperparamètres 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05288" y="2514600"/>
            <a:ext cx="169163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300 iterations
depth = 6
auto_class_weights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05288" y="3383280"/>
            <a:ext cx="1691639" cy="2743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05288" y="3456432"/>
            <a:ext cx="16916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</a:rPr>
              <a:t>Gère nativement
le déséquilibre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195560" y="4251960"/>
            <a:ext cx="1874519" cy="1938528"/>
          </a:xfrm>
          <a:prstGeom prst="rect">
            <a:avLst/>
          </a:prstGeom>
          <a:solidFill>
            <a:srgbClr val="FFC0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268712" y="4315968"/>
            <a:ext cx="1764791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Déséquilibre
Y=0 : 75 %  |  Y=1 : 25 %
class weight = balanced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Courbes d'Apprentissage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AUC entraînement vs validation croisée (5-fold) en fonction de la taille de l'échantillon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learning_curves_all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8229600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23960" y="1417320"/>
            <a:ext cx="324612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23960" y="1417320"/>
            <a:ext cx="324612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06840" y="144475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Lecture des courbes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92024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2E"/>
                </a:solidFill>
              </a:rPr>
              <a:t>Courbe bleue : score sur données d'entraînement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Courbe rouge : score sur validation croisée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Un faible écart final indique une bonne généralisation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Convergence des deux courbes = pas de surapprentissage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Tous les modèles convergent &gt; 0,80 AUC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XGBoost : gap &lt; 0,05 — excellent équilibre biais / variance</a:t>
            </a:r>
          </a:p>
          <a:p>
            <a:pPr algn="l">
              <a:buChar char="▸"/>
            </a:pPr>
            <a:r>
              <a:rPr sz="950" b="0" i="0">
                <a:solidFill>
                  <a:srgbClr val="1A1A2E"/>
                </a:solidFill>
              </a:rPr>
              <a:t>Le modèle bénéficie de données supplémentaires (courbe val. croissante)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Comparaison des Performances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Évaluation sur l'ensemble de test (25 %) — 3 670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roc_comparison_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530352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417320"/>
            <a:ext cx="5852160" cy="512064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417320"/>
            <a:ext cx="5852160" cy="384048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44475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Métriques sur l'Ensemble de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53328" y="1901952"/>
            <a:ext cx="160020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9904" y="192024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Modèle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99248" y="1901952"/>
            <a:ext cx="777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35824" y="19202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AUC 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22208" y="1901952"/>
            <a:ext cx="82296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192024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AUC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90888" y="1901952"/>
            <a:ext cx="73152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27464" y="192024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128" y="1901952"/>
            <a:ext cx="7772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04704" y="19202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2249424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9904" y="237744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Régression Log.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2249424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35824" y="23774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22208" y="2249424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58784" y="237744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90888" y="2249424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427464" y="237744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68128" y="2249424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04704" y="237744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0,738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3328" y="2816352"/>
            <a:ext cx="1600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9904" y="2944368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9248" y="2816352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35824" y="2944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22208" y="2816352"/>
            <a:ext cx="822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58784" y="2944368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0,874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90888" y="2816352"/>
            <a:ext cx="7315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27464" y="2944368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0,609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68128" y="2816352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04704" y="2944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53328" y="3383280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89904" y="3511296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99248" y="3383280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35824" y="3511296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22208" y="3383280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58784" y="3511296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90888" y="3383280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427464" y="3511296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68128" y="3383280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204704" y="3511296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0,695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53328" y="3950208"/>
            <a:ext cx="160020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089904" y="4078224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XGBoost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99248" y="3950208"/>
            <a:ext cx="77724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35824" y="4078224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0,885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22208" y="3950208"/>
            <a:ext cx="82296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558784" y="4078224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0,889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90888" y="3950208"/>
            <a:ext cx="73152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27464" y="4078224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74C3C"/>
                </a:solidFill>
              </a:rPr>
              <a:t>0,643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168128" y="3950208"/>
            <a:ext cx="777240" cy="566928"/>
          </a:xfrm>
          <a:prstGeom prst="rect">
            <a:avLst/>
          </a:prstGeom>
          <a:solidFill>
            <a:srgbClr val="D4EDDA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04704" y="4078224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74C3C"/>
                </a:solidFill>
              </a:rPr>
              <a:t>0,720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81944" y="4114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</a:rPr>
              <a:t>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53328" y="4517136"/>
            <a:ext cx="160020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89904" y="4645152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LightGBM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99248" y="4517136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35824" y="4645152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522208" y="4517136"/>
            <a:ext cx="82296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558784" y="4645152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90888" y="4517136"/>
            <a:ext cx="73152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427464" y="4645152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68128" y="4517136"/>
            <a:ext cx="777240" cy="566928"/>
          </a:xfrm>
          <a:prstGeom prst="rect">
            <a:avLst/>
          </a:prstGeom>
          <a:solidFill>
            <a:srgbClr val="EAF2FB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204704" y="4645152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53328" y="5084064"/>
            <a:ext cx="160020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089904" y="5212080"/>
            <a:ext cx="15361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CatBoost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99248" y="5084064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35824" y="521208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22208" y="5084064"/>
            <a:ext cx="82296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58784" y="5212080"/>
            <a:ext cx="7589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0,887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90888" y="5084064"/>
            <a:ext cx="73152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27464" y="5212080"/>
            <a:ext cx="667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0,631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68128" y="5084064"/>
            <a:ext cx="777240" cy="566928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204704" y="5212080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0,720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Champion —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Importance des variables et interprétabilité via SHAP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pic>
        <p:nvPicPr>
          <p:cNvPr id="8" name="Picture 7" descr="shap_importance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5669280" cy="5120640"/>
          </a:xfrm>
          <a:prstGeom prst="rect">
            <a:avLst/>
          </a:prstGeom>
        </p:spPr>
      </p:pic>
      <p:pic>
        <p:nvPicPr>
          <p:cNvPr id="9" name="Picture 8" descr="feature_importance_XG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2743200" cy="2468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17920" y="4133087"/>
            <a:ext cx="1325880" cy="8229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0,889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4383" y="4133087"/>
            <a:ext cx="1325880" cy="8229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1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1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0,642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4133087"/>
            <a:ext cx="1325880" cy="8229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4856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0,720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312" y="4133087"/>
            <a:ext cx="1325880" cy="8229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61320" y="416966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Précision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4407408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8C045"/>
                </a:solidFill>
              </a:rPr>
              <a:t>0,580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102352"/>
            <a:ext cx="5577840" cy="1417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5102352"/>
            <a:ext cx="5577840" cy="347472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5129784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Top Variables Prédictives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5321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Nombre d'enfants nés vivants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555040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921240" y="5550408"/>
            <a:ext cx="1605320" cy="14630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22608" y="55321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74C3C"/>
                </a:solidFill>
              </a:rPr>
              <a:t>23,1 %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7150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de la femme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573328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921240" y="5733288"/>
            <a:ext cx="291876" cy="14630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722608" y="571500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39C12"/>
                </a:solidFill>
              </a:rPr>
              <a:t>4,2 %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89788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Niveau d'éducation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21240" y="591616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21240" y="5916168"/>
            <a:ext cx="284927" cy="146304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722608" y="589788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C5F8A"/>
                </a:solidFill>
              </a:rPr>
              <a:t>4,1 %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60807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Naissances récentes (5 ans)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21240" y="609904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21240" y="6099048"/>
            <a:ext cx="194584" cy="146304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722608" y="6080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1A3A5C"/>
                </a:solidFill>
              </a:rPr>
              <a:t>2,8 %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626364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Âge à la 1ère naissance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6281928"/>
            <a:ext cx="1737360" cy="146304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921240" y="6281928"/>
            <a:ext cx="187634" cy="1463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626364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27AE60"/>
                </a:solidFill>
              </a:rPr>
              <a:t>2,7 %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Application de Prédiction — Streamlit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Interface interactive d'estimation du risque de mortalité infantile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17352" y="201168"/>
            <a:ext cx="1170432" cy="27432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17352" y="21945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PARTIE II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11430000" cy="502920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2834640" cy="475488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C045"/>
                </a:solidFill>
              </a:rPr>
              <a:t>Saisie des
Informations Patient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59152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432304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Profil Sociodémographique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98064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Âge, éducation, région, richesse, religion, emploi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621024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94176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Historique Reproductif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59936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Nombre d'enfants, âge 1ère naissance, naissances récentes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82896"/>
            <a:ext cx="2606040" cy="1051560"/>
          </a:xfrm>
          <a:prstGeom prst="roundRect">
            <a:avLst/>
          </a:prstGeom>
          <a:solidFill>
            <a:srgbClr val="2A5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C045"/>
                </a:solidFill>
              </a:rPr>
              <a:t>Accès aux Soins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21808"/>
            <a:ext cx="2423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Assurance maladie, consultations, obstacles aux soins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888736"/>
            <a:ext cx="2651760" cy="27432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5897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► Estimer le Risque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1600200"/>
            <a:ext cx="8046720" cy="4754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0" y="16642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A3A5C"/>
                </a:solidFill>
              </a:rPr>
              <a:t>Machine Learning — XGBoost (AUC = 0,889)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2148840"/>
            <a:ext cx="6858000" cy="201168"/>
          </a:xfrm>
          <a:prstGeom prst="round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0" y="2148840"/>
            <a:ext cx="3977639" cy="20116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79" y="201168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</a:rPr>
              <a:t>58,7 %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2487168"/>
            <a:ext cx="5120640" cy="868680"/>
          </a:xfrm>
          <a:prstGeom prst="roundRect">
            <a:avLst/>
          </a:prstGeom>
          <a:solidFill>
            <a:srgbClr val="FDE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0" y="26334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74C3C"/>
                </a:solidFill>
              </a:rPr>
              <a:t>Probabilité : 58,7 %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3493008"/>
            <a:ext cx="6400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74C3C"/>
                </a:solidFill>
              </a:rPr>
              <a:t>RISQUE ÉLEVÉ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16052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</a:rPr>
              <a:t>Suivi médical urgent requis  ·  Éducation à la santé maternelle  ·  Planification familiale conseillée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4754880"/>
            <a:ext cx="182880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4515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0,889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4754880"/>
            <a:ext cx="1828800" cy="5943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74827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0,643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4754880"/>
            <a:ext cx="1828800" cy="5943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51392" y="4791456"/>
            <a:ext cx="1691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Rappel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1392" y="499262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C045"/>
                </a:solidFill>
              </a:rPr>
              <a:t>0,720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5715000"/>
            <a:ext cx="8046720" cy="502920"/>
          </a:xfrm>
          <a:prstGeom prst="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11880" y="577900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6C757D"/>
                </a:solidFill>
              </a:rPr>
              <a:t>Résultats confirmés par les valeurs SHAP — interprétabilité garantie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E8C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Synthèse — Convergence des Deux Approches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EC6E0"/>
                </a:solidFill>
              </a:rPr>
              <a:t>Résultats robustes et cohérents entre la statistique et le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30000" cy="201168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1430000" cy="384048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10515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Facteurs de Risque Identifiés par les Deux Approches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74C3C"/>
                </a:solidFill>
              </a:rPr>
              <a:t>Âge précoce à la 1ère naissance
(&lt; 18 ans)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5,05 ***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2,7 %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9300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39C12"/>
                </a:solidFill>
              </a:rPr>
              <a:t>Faible niveau d'éducation
(aucun ou primaire)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2,98 ***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4,1 %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C5F8A"/>
                </a:solidFill>
              </a:rPr>
              <a:t>Parité élevée
(nombre d'enfants)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Modèle 3 sig.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: 23,1 %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1965960"/>
            <a:ext cx="26517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62288" y="2029968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7AE60"/>
                </a:solidFill>
              </a:rPr>
              <a:t>Accès limité aux soins
(consultation, assurance)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60604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3A5C"/>
                </a:solidFill>
              </a:rPr>
              <a:t>OR = 0,77 ***
(effet protecteur)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880360"/>
            <a:ext cx="2450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C757D"/>
                </a:solidFill>
              </a:rPr>
              <a:t>Importance élevée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611880"/>
            <a:ext cx="5394960" cy="2560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3611880"/>
            <a:ext cx="5394960" cy="36576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6393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Performance Comparative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11480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420624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Logist. Régression (baseline)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2062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5F8A"/>
                </a:solidFill>
              </a:rPr>
              <a:t>AUC = 0,874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70916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8006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Gradient Boosting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80060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AUC = 0,887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5120640" cy="512064"/>
          </a:xfrm>
          <a:prstGeom prst="rect">
            <a:avLst/>
          </a:prstGeom>
          <a:solidFill>
            <a:srgbClr val="FFFFFF"/>
          </a:solidFill>
          <a:ln w="508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" y="539496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XGBoost / LightGBM (meilleurs)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3949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</a:rPr>
              <a:t>AUC = 0,889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3611880"/>
            <a:ext cx="5852160" cy="2560320"/>
          </a:xfrm>
          <a:prstGeom prst="roundRect">
            <a:avLst/>
          </a:prstGeom>
          <a:solidFill>
            <a:srgbClr val="EA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989320" y="3611880"/>
            <a:ext cx="585216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72200" y="3639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Recommandations de Santé Publique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4096512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2E"/>
                </a:solidFill>
              </a:rPr>
              <a:t>Investir dans l'éducation des filles (réduction du risque de 50 à 70 %)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Renforcer l'accès aux consultations prénatales, surtout en zone rurale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Promouvoir la planification familiale et retarder la première grossesse</a:t>
            </a:r>
          </a:p>
          <a:p>
            <a:pPr algn="l">
              <a:buChar char="▸"/>
            </a:pPr>
            <a:r>
              <a:rPr sz="1000" b="0" i="0">
                <a:solidFill>
                  <a:srgbClr val="1A1A2E"/>
                </a:solidFill>
              </a:rPr>
              <a:t>Cibler les régions et ménages défavorisés (approche différenciée)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M. Yannick FONO BINDJEME  |  Institut Saint Jean Ingénieur  |  EDS Cameroun 2018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E8C045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2440</Words>
  <Application>Microsoft Office PowerPoint</Application>
  <PresentationFormat>Personnalisé</PresentationFormat>
  <Paragraphs>482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Yannick FONO</cp:lastModifiedBy>
  <cp:revision>2</cp:revision>
  <dcterms:created xsi:type="dcterms:W3CDTF">2013-01-27T09:14:16Z</dcterms:created>
  <dcterms:modified xsi:type="dcterms:W3CDTF">2026-06-24T11:54:01Z</dcterms:modified>
  <cp:category/>
</cp:coreProperties>
</file>