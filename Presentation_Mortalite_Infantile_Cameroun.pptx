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292608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2834640"/>
            <a:ext cx="12188952" cy="54864"/>
          </a:xfrm>
          <a:prstGeom prst="rect">
            <a:avLst/>
          </a:prstGeom>
          <a:solidFill>
            <a:srgbClr val="E8C0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760" y="365760"/>
            <a:ext cx="109728" cy="2286000"/>
          </a:xfrm>
          <a:prstGeom prst="rect">
            <a:avLst/>
          </a:prstGeom>
          <a:solidFill>
            <a:srgbClr val="E8C0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365760"/>
            <a:ext cx="54864" cy="2286000"/>
          </a:xfrm>
          <a:prstGeom prst="rect">
            <a:avLst/>
          </a:prstGeom>
          <a:solidFill>
            <a:srgbClr val="4A8F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365760"/>
            <a:ext cx="107899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</a:rPr>
              <a:t>Analyse des Facteurs Associés à la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1005840"/>
            <a:ext cx="107899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E8C045"/>
                </a:solidFill>
              </a:rPr>
              <a:t>Mortalité Infantile au Cameroun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1783080"/>
            <a:ext cx="10789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AEC6E0"/>
                </a:solidFill>
              </a:rPr>
              <a:t>Approche par Régression Logistique Pondérée et Machine Learning</a:t>
            </a:r>
          </a:p>
        </p:txBody>
      </p:sp>
      <p:sp>
        <p:nvSpPr>
          <p:cNvPr id="10" name="Rectangle 9"/>
          <p:cNvSpPr/>
          <p:nvPr/>
        </p:nvSpPr>
        <p:spPr>
          <a:xfrm>
            <a:off x="914400" y="2944368"/>
            <a:ext cx="10332720" cy="27432"/>
          </a:xfrm>
          <a:prstGeom prst="rect">
            <a:avLst/>
          </a:prstGeom>
          <a:solidFill>
            <a:srgbClr val="4A8F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914400" y="3127248"/>
            <a:ext cx="4937760" cy="3108960"/>
          </a:xfrm>
          <a:prstGeom prst="roundRect">
            <a:avLst/>
          </a:prstGeom>
          <a:solidFill>
            <a:srgbClr val="1F4B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43000" y="329184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AEC6E0"/>
                </a:solidFill>
              </a:rPr>
              <a:t>Présenté par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3584448"/>
            <a:ext cx="4572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E8C045"/>
                </a:solidFill>
              </a:rPr>
              <a:t>M. Yannick FONO BINDJEME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406908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</a:rPr>
              <a:t>Étudiant en Statistiques et Informatique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43000" y="4416552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3498DB"/>
                </a:solidFill>
              </a:rPr>
              <a:t>Institut Saint Jean Ingénieur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0" y="3127248"/>
            <a:ext cx="4937760" cy="3108960"/>
          </a:xfrm>
          <a:prstGeom prst="roundRect">
            <a:avLst/>
          </a:prstGeom>
          <a:solidFill>
            <a:srgbClr val="1F4B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29400" y="329184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AEC6E0"/>
                </a:solidFill>
              </a:rPr>
              <a:t>Sous la supervision de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29400" y="3584448"/>
            <a:ext cx="4572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50" b="1" i="0">
                <a:solidFill>
                  <a:srgbClr val="E8C045"/>
                </a:solidFill>
              </a:rPr>
              <a:t>Pr Nguefack-Tsague Georges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29400" y="406908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</a:rPr>
              <a:t>Professeur de Biostatistiques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14400" y="6144768"/>
            <a:ext cx="10332720" cy="347472"/>
          </a:xfrm>
          <a:prstGeom prst="rect">
            <a:avLst/>
          </a:prstGeom>
          <a:solidFill>
            <a:srgbClr val="1F4B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51560" y="6181344"/>
            <a:ext cx="100584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1">
                <a:solidFill>
                  <a:srgbClr val="AEC6E0"/>
                </a:solidFill>
              </a:rPr>
              <a:t>Données : Enquête Démographique et de Santé (EDS) Cameroun 2018   —   Juin 2026</a:t>
            </a:r>
          </a:p>
        </p:txBody>
      </p:sp>
    </p:spTree>
  </p:cSld>
  <p:clrMapOvr>
    <a:masterClrMapping/>
  </p:clrMapOvr>
  <p:timing>
    <p:tnLst>
      <p:par>
        <p:cTn id="1" dur="indefinite" restart="whenNotActive" nodeType="tmRoot">
          <p:childTnLst>
            <p:par>
              <p:cTn id="2" fill="hold">
                <p:stCondLst>
                  <p:cond delay="200"/>
                </p:stCondLst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set>
                          <p:cBhvr>
                            <p:cTn id="4" dur="1" fill="hold"/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5" dur="800"/>
                            <p:tgtEl>
                              <p:spTgt spid="7"/>
                            </p:tgtEl>
                          </p:cBhvr>
                        </p:animEffect>
                      </p:childTnLst>
                    </p:cTn>
                  </p:par>
                </p:childTnLst>
              </p:cTn>
            </p:par>
            <p:par>
              <p:cTn id="6" fill="hold">
                <p:stCondLst>
                  <p:cond delay="500"/>
                </p:stCondLst>
                <p:childTnLst>
                  <p:par>
                    <p:cTn id="7" fill="hold">
                      <p:stCondLst>
                        <p:cond delay="0"/>
                      </p:stCondLst>
                      <p:childTnLst>
                        <p:set>
                          <p:cBhvr>
                            <p:cTn id="8" dur="1" fill="hold"/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9" dur="800"/>
                            <p:tgtEl>
                              <p:spTgt spid="8"/>
                            </p:tgtEl>
                          </p:cBhvr>
                        </p:animEffect>
                      </p:childTnLst>
                    </p:cTn>
                  </p:par>
                </p:childTnLst>
              </p:cTn>
            </p:par>
            <p:par>
              <p:cTn id="10" fill="hold">
                <p:stCondLst>
                  <p:cond delay="800"/>
                </p:stCondLst>
                <p:childTnLst>
                  <p:par>
                    <p:cTn id="11" fill="hold">
                      <p:stCondLst>
                        <p:cond delay="0"/>
                      </p:stCondLst>
                      <p:childTnLst>
                        <p:set>
                          <p:cBhvr>
                            <p:cTn id="12" dur="1" fill="hold"/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13" dur="800"/>
                            <p:tgtEl>
                              <p:spTgt spid="9"/>
                            </p:tgtEl>
                          </p:cBhvr>
                        </p:animEffect>
                      </p:childTnLst>
                    </p:cTn>
                  </p:par>
                </p:childTnLst>
              </p:cTn>
            </p:par>
          </p:childTnLst>
        </p:cTn>
      </p:par>
    </p:tnLst>
    <p:bldLst/>
  </p:timing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188720"/>
          </a:xfrm>
          <a:prstGeom prst="rect">
            <a:avLst/>
          </a:prstGeom>
          <a:solidFill>
            <a:srgbClr val="1A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88720"/>
            <a:ext cx="12188952" cy="45720"/>
          </a:xfrm>
          <a:prstGeom prst="rect">
            <a:avLst/>
          </a:prstGeom>
          <a:solidFill>
            <a:srgbClr val="E8C0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0515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</a:rPr>
              <a:t>Plan de la Présentation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731520"/>
            <a:ext cx="10058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AEC6E0"/>
                </a:solidFill>
              </a:rPr>
              <a:t>Structure en deux grandes parties : Statistiques et Machine Learning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1463040"/>
            <a:ext cx="5486400" cy="4846320"/>
          </a:xfrm>
          <a:prstGeom prst="roundRect">
            <a:avLst/>
          </a:prstGeom>
          <a:solidFill>
            <a:srgbClr val="EAF2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365760" y="1463040"/>
            <a:ext cx="5486400" cy="530352"/>
          </a:xfrm>
          <a:prstGeom prst="roundRect">
            <a:avLst/>
          </a:prstGeom>
          <a:solidFill>
            <a:srgbClr val="2C5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1490472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E8C045"/>
                </a:solidFill>
              </a:rPr>
              <a:t>PARTIE 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719072"/>
            <a:ext cx="5120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Statistiques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148840"/>
            <a:ext cx="512064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>
                <a:solidFill>
                  <a:srgbClr val="1A1A2E"/>
                </a:solidFill>
              </a:rPr>
              <a:t>I.1  Contexte et problématique</a:t>
            </a:r>
          </a:p>
          <a:p>
            <a:pPr algn="l">
              <a:buChar char="●"/>
            </a:pPr>
            <a:r>
              <a:rPr sz="1150" b="0" i="0">
                <a:solidFill>
                  <a:srgbClr val="1A1A2E"/>
                </a:solidFill>
              </a:rPr>
              <a:t>I.2  Source de données — EDS Cameroun 2018</a:t>
            </a:r>
          </a:p>
          <a:p>
            <a:pPr algn="l">
              <a:buChar char="●"/>
            </a:pPr>
            <a:r>
              <a:rPr sz="1150" b="0" i="0">
                <a:solidFill>
                  <a:srgbClr val="1A1A2E"/>
                </a:solidFill>
              </a:rPr>
              <a:t>I.3  Préparation et nettoyage des données</a:t>
            </a:r>
          </a:p>
          <a:p>
            <a:pPr algn="l">
              <a:buChar char="●"/>
            </a:pPr>
            <a:r>
              <a:rPr sz="1150" b="0" i="0">
                <a:solidFill>
                  <a:srgbClr val="1A1A2E"/>
                </a:solidFill>
              </a:rPr>
              <a:t>I.4  Analyse descriptive et bivariée</a:t>
            </a:r>
          </a:p>
          <a:p>
            <a:pPr algn="l">
              <a:buChar char="●"/>
            </a:pPr>
            <a:r>
              <a:rPr sz="1150" b="0" i="0">
                <a:solidFill>
                  <a:srgbClr val="1A1A2E"/>
                </a:solidFill>
              </a:rPr>
              <a:t>I.5  Régression logistique pondérée</a:t>
            </a:r>
          </a:p>
          <a:p>
            <a:pPr algn="l">
              <a:buChar char="●"/>
            </a:pPr>
            <a:r>
              <a:rPr sz="1150" b="0" i="0">
                <a:solidFill>
                  <a:srgbClr val="1A1A2E"/>
                </a:solidFill>
              </a:rPr>
              <a:t>I.6  Résultats et odds ratios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309360" y="1463040"/>
            <a:ext cx="5486400" cy="4846320"/>
          </a:xfrm>
          <a:prstGeom prst="roundRect">
            <a:avLst/>
          </a:prstGeom>
          <a:solidFill>
            <a:srgbClr val="EAF2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309360" y="1463040"/>
            <a:ext cx="5486400" cy="530352"/>
          </a:xfrm>
          <a:prstGeom prst="roundRect">
            <a:avLst/>
          </a:prstGeom>
          <a:solidFill>
            <a:srgbClr val="1A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92240" y="1490472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E8C045"/>
                </a:solidFill>
              </a:rPr>
              <a:t>PARTIE II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1719072"/>
            <a:ext cx="5120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Machine Learning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92240" y="2148840"/>
            <a:ext cx="512064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>
                <a:solidFill>
                  <a:srgbClr val="1A1A2E"/>
                </a:solidFill>
              </a:rPr>
              <a:t>II.1  Pipeline de prétraitement</a:t>
            </a:r>
          </a:p>
          <a:p>
            <a:pPr algn="l">
              <a:buChar char="●"/>
            </a:pPr>
            <a:r>
              <a:rPr sz="1150" b="0" i="0">
                <a:solidFill>
                  <a:srgbClr val="1A1A2E"/>
                </a:solidFill>
              </a:rPr>
              <a:t>II.2  Cinq algorithmes comparés</a:t>
            </a:r>
          </a:p>
          <a:p>
            <a:pPr algn="l">
              <a:buChar char="●"/>
            </a:pPr>
            <a:r>
              <a:rPr sz="1150" b="0" i="0">
                <a:solidFill>
                  <a:srgbClr val="1A1A2E"/>
                </a:solidFill>
              </a:rPr>
              <a:t>II.3  Évaluation des performances</a:t>
            </a:r>
          </a:p>
          <a:p>
            <a:pPr algn="l">
              <a:buChar char="●"/>
            </a:pPr>
            <a:r>
              <a:rPr sz="1150" b="0" i="0">
                <a:solidFill>
                  <a:srgbClr val="1A1A2E"/>
                </a:solidFill>
              </a:rPr>
              <a:t>II.4  Modèle champion — XGBoost</a:t>
            </a:r>
          </a:p>
          <a:p>
            <a:pPr algn="l">
              <a:buChar char="●"/>
            </a:pPr>
            <a:r>
              <a:rPr sz="1150" b="0" i="0">
                <a:solidFill>
                  <a:srgbClr val="1A1A2E"/>
                </a:solidFill>
              </a:rPr>
              <a:t>II.5  Importance des variables (SHAP)</a:t>
            </a:r>
          </a:p>
          <a:p>
            <a:pPr algn="l">
              <a:buChar char="●"/>
            </a:pPr>
            <a:r>
              <a:rPr sz="1150" b="0" i="0">
                <a:solidFill>
                  <a:srgbClr val="1A1A2E"/>
                </a:solidFill>
              </a:rPr>
              <a:t>II.6  Application Streamlit et conclusion</a:t>
            </a:r>
          </a:p>
        </p:txBody>
      </p:sp>
      <p:sp>
        <p:nvSpPr>
          <p:cNvPr id="16" name="Rectangle 15"/>
          <p:cNvSpPr/>
          <p:nvPr/>
        </p:nvSpPr>
        <p:spPr>
          <a:xfrm>
            <a:off x="0" y="6583680"/>
            <a:ext cx="12188952" cy="274320"/>
          </a:xfrm>
          <a:prstGeom prst="rect">
            <a:avLst/>
          </a:prstGeom>
          <a:solidFill>
            <a:srgbClr val="1A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74320" y="6601968"/>
            <a:ext cx="105156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FFFFFF"/>
                </a:solidFill>
              </a:rPr>
              <a:t>M. Yannick FONO BINDJEME  |  Institut Saint Jean Ingénieur  |  EDS Cameroun 2018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881360" y="6601968"/>
            <a:ext cx="10972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1" i="0">
                <a:solidFill>
                  <a:srgbClr val="E8C045"/>
                </a:solidFill>
              </a:rPr>
              <a:t>2 / 18</a:t>
            </a:r>
          </a:p>
        </p:txBody>
      </p:sp>
    </p:spTree>
  </p:cSld>
  <p:clrMapOvr>
    <a:masterClrMapping/>
  </p:clrMapOvr>
  <p:timing>
    <p:tnLst>
      <p:par>
        <p:cTn id="1" dur="indefinite" restart="whenNotActive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/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6" dur="5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200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9" dur="1" fill="hold"/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0" dur="55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Click" delay="0">
                  <p:tn/>
                </p:cond>
              </p:prevCondLst>
              <p:nextCondLst>
                <p:cond evt="onNextClick" delay="0">
                  <p:tn/>
                </p:cond>
              </p:nextCondLst>
            </p:seq>
          </p:childTnLst>
        </p:cTn>
      </p:par>
    </p:tnLst>
    <p:bldLst/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188720"/>
          </a:xfrm>
          <a:prstGeom prst="rect">
            <a:avLst/>
          </a:prstGeom>
          <a:solidFill>
            <a:srgbClr val="1A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88720"/>
            <a:ext cx="12188952" cy="45720"/>
          </a:xfrm>
          <a:prstGeom prst="rect">
            <a:avLst/>
          </a:prstGeom>
          <a:solidFill>
            <a:srgbClr val="E8C0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0515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</a:rPr>
              <a:t>Contexte et Problématique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731520"/>
            <a:ext cx="10058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AEC6E0"/>
                </a:solidFill>
              </a:rPr>
              <a:t>La mortalité infantile, un défi persistant en Afrique subsaharienne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20040" y="1417320"/>
            <a:ext cx="3749039" cy="4846320"/>
          </a:xfrm>
          <a:prstGeom prst="roundRect">
            <a:avLst/>
          </a:prstGeom>
          <a:solidFill>
            <a:srgbClr val="E6F9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20040" y="1417320"/>
            <a:ext cx="3749039" cy="54864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84632" y="1554480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7AE60"/>
                </a:solidFill>
              </a:rPr>
              <a:t>Contexte mondial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84632" y="2011680"/>
            <a:ext cx="34747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>
                <a:solidFill>
                  <a:srgbClr val="1A1A2E"/>
                </a:solidFill>
              </a:rPr>
              <a:t>Objectif de Développement Durable 3.2 :</a:t>
            </a:r>
          </a:p>
          <a:p>
            <a:pPr algn="l">
              <a:buChar char="▸"/>
            </a:pPr>
            <a:r>
              <a:rPr sz="1050" b="0" i="0">
                <a:solidFill>
                  <a:srgbClr val="1A1A2E"/>
                </a:solidFill>
              </a:rPr>
              <a:t>réduire la mortalité infantile à moins de 25 pour 1 000 naissances vivantes d'ici 2030.</a:t>
            </a:r>
          </a:p>
          <a:p>
            <a:pPr algn="l">
              <a:buChar char="▸"/>
            </a:pPr>
            <a:r>
              <a:rPr sz="1050" b="0" i="0">
                <a:solidFill>
                  <a:srgbClr val="1A1A2E"/>
                </a:solidFill>
              </a:rPr>
              <a:t>L'Afrique subsaharienne concentre plus de 50 % des décès d'enfants de moins de 5 ans.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70248" y="1417320"/>
            <a:ext cx="3749039" cy="4846320"/>
          </a:xfrm>
          <a:prstGeom prst="roundRect">
            <a:avLst/>
          </a:prstGeom>
          <a:solidFill>
            <a:srgbClr val="FEF6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270248" y="1417320"/>
            <a:ext cx="3749039" cy="54864"/>
          </a:xfrm>
          <a:prstGeom prst="rect">
            <a:avLst/>
          </a:prstGeom>
          <a:solidFill>
            <a:srgbClr val="F39C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34840" y="1554480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39C12"/>
                </a:solidFill>
              </a:rPr>
              <a:t>Situation au Cameroun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34840" y="2011680"/>
            <a:ext cx="34747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>
                <a:solidFill>
                  <a:srgbClr val="1A1A2E"/>
                </a:solidFill>
              </a:rPr>
              <a:t>Taux de mortalité infantile : environ 50 pour 1 000 NV (EDS 2018).</a:t>
            </a:r>
          </a:p>
          <a:p>
            <a:pPr algn="l">
              <a:buChar char="▸"/>
            </a:pPr>
            <a:r>
              <a:rPr sz="1050" b="0" i="0">
                <a:solidFill>
                  <a:srgbClr val="1A1A2E"/>
                </a:solidFill>
              </a:rPr>
              <a:t>Forte disparité régionale et socio-économique.</a:t>
            </a:r>
          </a:p>
          <a:p>
            <a:pPr algn="l">
              <a:buChar char="▸"/>
            </a:pPr>
            <a:r>
              <a:rPr sz="1050" b="0" i="0">
                <a:solidFill>
                  <a:srgbClr val="1A1A2E"/>
                </a:solidFill>
              </a:rPr>
              <a:t>Accès limité aux soins dans les zones rurales et péri-urbaines.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220456" y="1417320"/>
            <a:ext cx="3749039" cy="4846320"/>
          </a:xfrm>
          <a:prstGeom prst="roundRect">
            <a:avLst/>
          </a:prstGeom>
          <a:solidFill>
            <a:srgbClr val="EAF2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220456" y="1417320"/>
            <a:ext cx="3749039" cy="54864"/>
          </a:xfrm>
          <a:prstGeom prst="rect">
            <a:avLst/>
          </a:prstGeom>
          <a:solidFill>
            <a:srgbClr val="2C5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385048" y="1554480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C5F8A"/>
                </a:solidFill>
              </a:rPr>
              <a:t>Problématique et objectif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85048" y="2011680"/>
            <a:ext cx="34747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>
                <a:solidFill>
                  <a:srgbClr val="1A1A2E"/>
                </a:solidFill>
              </a:rPr>
              <a:t>Quels sont les facteurs déterminants de la mortalité infantile au Cameroun ?</a:t>
            </a:r>
          </a:p>
          <a:p>
            <a:pPr algn="l">
              <a:buChar char="▸"/>
            </a:pPr>
            <a:r>
              <a:rPr sz="1050" b="0" i="0">
                <a:solidFill>
                  <a:srgbClr val="1A1A2E"/>
                </a:solidFill>
              </a:rPr>
              <a:t>Objectif : identifier et quantifier ces facteurs par approche mixte.</a:t>
            </a:r>
          </a:p>
          <a:p>
            <a:pPr algn="l">
              <a:buChar char="▸"/>
            </a:pPr>
            <a:r>
              <a:rPr sz="1050" b="0" i="0">
                <a:solidFill>
                  <a:srgbClr val="1A1A2E"/>
                </a:solidFill>
              </a:rPr>
              <a:t>Méthodes : régression logistique pondérée + algorithmes de Machine Learning.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0" y="6583680"/>
            <a:ext cx="12188952" cy="274320"/>
          </a:xfrm>
          <a:prstGeom prst="rect">
            <a:avLst/>
          </a:prstGeom>
          <a:solidFill>
            <a:srgbClr val="1A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74320" y="6601968"/>
            <a:ext cx="105156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FFFFFF"/>
                </a:solidFill>
              </a:rPr>
              <a:t>M. Yannick FONO BINDJEME  |  Institut Saint Jean Ingénieur  |  EDS Cameroun 2018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881360" y="6601968"/>
            <a:ext cx="10972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1" i="0">
                <a:solidFill>
                  <a:srgbClr val="E8C045"/>
                </a:solidFill>
              </a:rPr>
              <a:t>3 / 18</a:t>
            </a:r>
          </a:p>
        </p:txBody>
      </p:sp>
    </p:spTree>
  </p:cSld>
  <p:clrMapOvr>
    <a:masterClrMapping/>
  </p:clrMapOvr>
  <p:timing>
    <p:tnLst>
      <p:par>
        <p:cTn id="1" dur="indefinite" restart="whenNotActive" nodeType="tmRoot">
          <p:childTnLst>
            <p:par>
              <p:cTn id="2" fill="hold">
                <p:stCondLst>
                  <p:cond delay="300"/>
                </p:stCondLst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set>
                          <p:cBhvr>
                            <p:cTn id="4" dur="1" fill="hold"/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5" dur="550"/>
                            <p:tgtEl>
                              <p:spTgt spid="6"/>
                            </p:tgtEl>
                          </p:cBhvr>
                        </p:animEffect>
                      </p:childTnLst>
                    </p:cTn>
                  </p:par>
                </p:childTnLst>
              </p:cTn>
            </p:par>
            <p:par>
              <p:cTn id="6" fill="hold">
                <p:stCondLst>
                  <p:cond delay="480"/>
                </p:stCondLst>
                <p:childTnLst>
                  <p:par>
                    <p:cTn id="7" fill="hold">
                      <p:stCondLst>
                        <p:cond delay="0"/>
                      </p:stCondLst>
                      <p:childTnLst>
                        <p:set>
                          <p:cBhvr>
                            <p:cTn id="8" dur="1" fill="hold"/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9" dur="550"/>
                            <p:tgtEl>
                              <p:spTgt spid="9"/>
                            </p:tgtEl>
                          </p:cBhvr>
                        </p:animEffect>
                      </p:childTnLst>
                    </p:cTn>
                  </p:par>
                </p:childTnLst>
              </p:cTn>
            </p:par>
            <p:par>
              <p:cTn id="10" fill="hold">
                <p:stCondLst>
                  <p:cond delay="660"/>
                </p:stCondLst>
                <p:childTnLst>
                  <p:par>
                    <p:cTn id="11" fill="hold">
                      <p:stCondLst>
                        <p:cond delay="0"/>
                      </p:stCondLst>
                      <p:childTnLst>
                        <p:set>
                          <p:cBhvr>
                            <p:cTn id="12" dur="1" fill="hold"/>
                            <p:tgtEl>
                              <p:spTgt spid="10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13" dur="550"/>
                            <p:tgtEl>
                              <p:spTgt spid="10"/>
                            </p:tgtEl>
                          </p:cBhvr>
                        </p:animEffect>
                      </p:childTnLst>
                    </p:cTn>
                  </p:par>
                </p:childTnLst>
              </p:cTn>
            </p:par>
            <p:par>
              <p:cTn id="14" fill="hold">
                <p:stCondLst>
                  <p:cond delay="840"/>
                </p:stCondLst>
                <p:childTnLst>
                  <p:par>
                    <p:cTn id="15" fill="hold">
                      <p:stCondLst>
                        <p:cond delay="0"/>
                      </p:stCondLst>
                      <p:childTnLst>
                        <p:set>
                          <p:cBhvr>
                            <p:cTn id="16" dur="1" fill="hold"/>
                            <p:tgtEl>
                              <p:spTgt spid="13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17" dur="550"/>
                            <p:tgtEl>
                              <p:spTgt spid="13"/>
                            </p:tgtEl>
                          </p:cBhvr>
                        </p:animEffect>
                      </p:childTnLst>
                    </p:cTn>
                  </p:par>
                </p:childTnLst>
              </p:cTn>
            </p:par>
            <p:par>
              <p:cTn id="18" fill="hold">
                <p:stCondLst>
                  <p:cond delay="1020"/>
                </p:stCondLst>
                <p:childTnLst>
                  <p:par>
                    <p:cTn id="19" fill="hold">
                      <p:stCondLst>
                        <p:cond delay="0"/>
                      </p:stCondLst>
                      <p:childTnLst>
                        <p:set>
                          <p:cBhvr>
                            <p:cTn id="20" dur="1" fill="hold"/>
                            <p:tgtEl>
                              <p:spTgt spid="14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21" dur="550"/>
                            <p:tgtEl>
                              <p:spTgt spid="14"/>
                            </p:tgtEl>
                          </p:cBhvr>
                        </p:animEffect>
                      </p:childTnLst>
                    </p:cTn>
                  </p:par>
                </p:childTnLst>
              </p:cTn>
            </p:par>
            <p:par>
              <p:cTn id="22" fill="hold">
                <p:stCondLst>
                  <p:cond delay="1200"/>
                </p:stCondLst>
                <p:childTnLst>
                  <p:par>
                    <p:cTn id="23" fill="hold">
                      <p:stCondLst>
                        <p:cond delay="0"/>
                      </p:stCondLst>
                      <p:childTnLst>
                        <p:set>
                          <p:cBhvr>
                            <p:cTn id="24" dur="1" fill="hold"/>
                            <p:tgtEl>
                              <p:spTgt spid="1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25" dur="550"/>
                            <p:tgtEl>
                              <p:spTgt spid="17"/>
                            </p:tgtEl>
                          </p:cBhvr>
                        </p:animEffect>
                      </p:childTnLst>
                    </p:cTn>
                  </p:par>
                </p:childTnLst>
              </p:cTn>
            </p:par>
          </p:childTnLst>
        </p:cTn>
      </p:par>
    </p:tnLst>
    <p:bldLst/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188720"/>
          </a:xfrm>
          <a:prstGeom prst="rect">
            <a:avLst/>
          </a:prstGeom>
          <a:solidFill>
            <a:srgbClr val="1A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88720"/>
            <a:ext cx="12188952" cy="45720"/>
          </a:xfrm>
          <a:prstGeom prst="rect">
            <a:avLst/>
          </a:prstGeom>
          <a:solidFill>
            <a:srgbClr val="E8C0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0515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</a:rPr>
              <a:t>Source de Données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731520"/>
            <a:ext cx="10058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AEC6E0"/>
                </a:solidFill>
              </a:rPr>
              <a:t>Enquête Démographique et de Santé — Cameroun 2018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1463040"/>
            <a:ext cx="5029200" cy="4846320"/>
          </a:xfrm>
          <a:prstGeom prst="roundRect">
            <a:avLst/>
          </a:prstGeom>
          <a:solidFill>
            <a:srgbClr val="EAF2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365760" y="1463040"/>
            <a:ext cx="5029200" cy="502920"/>
          </a:xfrm>
          <a:prstGeom prst="roundRect">
            <a:avLst/>
          </a:prstGeom>
          <a:solidFill>
            <a:srgbClr val="2C5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1508760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FFFFFF"/>
                </a:solidFill>
              </a:rPr>
              <a:t>Présentation de l'EDS Cameroun 2018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2103120"/>
            <a:ext cx="466344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solidFill>
                  <a:srgbClr val="1A1A2E"/>
                </a:solidFill>
              </a:rPr>
              <a:t>Enquête nationale représentative (EDS Phase 7)</a:t>
            </a:r>
          </a:p>
          <a:p>
            <a:pPr algn="l">
              <a:buChar char="▸"/>
            </a:pPr>
            <a:r>
              <a:rPr sz="1100" b="0" i="0">
                <a:solidFill>
                  <a:srgbClr val="1A1A2E"/>
                </a:solidFill>
              </a:rPr>
              <a:t>Population : femmes de 15 à 49 ans</a:t>
            </a:r>
          </a:p>
          <a:p>
            <a:pPr algn="l">
              <a:buChar char="▸"/>
            </a:pPr>
            <a:r>
              <a:rPr sz="1100" b="0" i="0">
                <a:solidFill>
                  <a:srgbClr val="1A1A2E"/>
                </a:solidFill>
              </a:rPr>
              <a:t>Fichier utilisé : Dossier individuel femmes (CMIR71FL.dta)</a:t>
            </a:r>
          </a:p>
          <a:p>
            <a:pPr algn="l">
              <a:buChar char="▸"/>
            </a:pPr>
            <a:r>
              <a:rPr sz="1100" b="0" i="0">
                <a:solidFill>
                  <a:srgbClr val="1A1A2E"/>
                </a:solidFill>
              </a:rPr>
              <a:t>Sondage stratifié à deux degrés (grappes et ménages)</a:t>
            </a:r>
          </a:p>
          <a:p>
            <a:pPr algn="l">
              <a:buChar char="▸"/>
            </a:pPr>
            <a:r>
              <a:rPr sz="1100" b="0" i="0">
                <a:solidFill>
                  <a:srgbClr val="1A1A2E"/>
                </a:solidFill>
              </a:rPr>
              <a:t>Poids d'enquête intégrés (variable V005 / 10⁶)</a:t>
            </a:r>
          </a:p>
          <a:p>
            <a:pPr algn="l">
              <a:buChar char="▸"/>
            </a:pPr>
            <a:r>
              <a:rPr sz="1100" b="0" i="0">
                <a:solidFill>
                  <a:srgbClr val="1A1A2E"/>
                </a:solidFill>
              </a:rPr>
              <a:t>Plus de 1 000 variables collectées</a:t>
            </a:r>
          </a:p>
          <a:p>
            <a:pPr algn="l">
              <a:buChar char="▸"/>
            </a:pPr>
            <a:r>
              <a:rPr sz="1100" b="0" i="0">
                <a:solidFill>
                  <a:srgbClr val="1A1A2E"/>
                </a:solidFill>
              </a:rPr>
              <a:t>Données disponibles auprès du programme DHS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760720" y="1463040"/>
            <a:ext cx="6035040" cy="1078992"/>
          </a:xfrm>
          <a:prstGeom prst="roundRect">
            <a:avLst/>
          </a:prstGeom>
          <a:solidFill>
            <a:srgbClr val="2C5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89320" y="1572768"/>
            <a:ext cx="182880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E8C045"/>
                </a:solidFill>
              </a:rPr>
              <a:t>14 677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909560" y="1627632"/>
            <a:ext cx="365760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</a:rPr>
              <a:t>Femmes dans l'analyse finale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760720" y="2670048"/>
            <a:ext cx="6035040" cy="1078992"/>
          </a:xfrm>
          <a:prstGeom prst="roundRect">
            <a:avLst/>
          </a:prstGeom>
          <a:solidFill>
            <a:srgbClr val="1A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989320" y="2779776"/>
            <a:ext cx="182880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E8C045"/>
                </a:solidFill>
              </a:rPr>
              <a:t>10 494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909560" y="2834640"/>
            <a:ext cx="365760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</a:rPr>
              <a:t>Femmes avec au moins un enfant né vivant
(sous-échantillon de régression)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760720" y="3877056"/>
            <a:ext cx="6035040" cy="1078992"/>
          </a:xfrm>
          <a:prstGeom prst="round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989320" y="3986784"/>
            <a:ext cx="182880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E8C045"/>
                </a:solidFill>
              </a:rPr>
              <a:t>~34 %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909560" y="4041648"/>
            <a:ext cx="365760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</a:rPr>
              <a:t>Prévalence de la mortalité infantile
(au moins un enfant décédé)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760720" y="5084064"/>
            <a:ext cx="6035040" cy="1078992"/>
          </a:xfrm>
          <a:prstGeom prst="round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89320" y="5193792"/>
            <a:ext cx="182880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E8C045"/>
                </a:solidFill>
              </a:rPr>
              <a:t>20 +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909560" y="5248656"/>
            <a:ext cx="365760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</a:rPr>
              <a:t>Variables prédictives retenues
(sociodémographiques, reproductives, soins)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0" y="6583680"/>
            <a:ext cx="12188952" cy="274320"/>
          </a:xfrm>
          <a:prstGeom prst="rect">
            <a:avLst/>
          </a:prstGeom>
          <a:solidFill>
            <a:srgbClr val="1A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74320" y="6601968"/>
            <a:ext cx="105156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FFFFFF"/>
                </a:solidFill>
              </a:rPr>
              <a:t>M. Yannick FONO BINDJEME  |  Institut Saint Jean Ingénieur  |  EDS Cameroun 2018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881360" y="6601968"/>
            <a:ext cx="10972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1" i="0">
                <a:solidFill>
                  <a:srgbClr val="E8C045"/>
                </a:solidFill>
              </a:rPr>
              <a:t>4 / 18</a:t>
            </a:r>
          </a:p>
        </p:txBody>
      </p:sp>
    </p:spTree>
  </p:cSld>
  <p:clrMapOvr>
    <a:masterClrMapping/>
  </p:clrMapOvr>
  <p:timing>
    <p:tnLst>
      <p:par>
        <p:cTn id="1" dur="indefinite" restart="whenNotActive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/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6" dur="5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Click" delay="0">
                  <p:tn/>
                </p:cond>
              </p:prevCondLst>
              <p:nextCondLst>
                <p:cond evt="onNextClick" delay="0">
                  <p:tn/>
                </p:cond>
              </p:nextCondLst>
            </p:seq>
          </p:childTnLst>
        </p:cTn>
      </p:par>
    </p:tnLst>
    <p:bldLst/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3A5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834640"/>
            <a:ext cx="12188952" cy="1188720"/>
          </a:xfrm>
          <a:prstGeom prst="rect">
            <a:avLst/>
          </a:prstGeom>
          <a:solidFill>
            <a:srgbClr val="2C5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2834640"/>
            <a:ext cx="12188952" cy="54864"/>
          </a:xfrm>
          <a:prstGeom prst="rect">
            <a:avLst/>
          </a:prstGeom>
          <a:solidFill>
            <a:srgbClr val="E8C0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3968496"/>
            <a:ext cx="12188952" cy="54864"/>
          </a:xfrm>
          <a:prstGeom prst="rect">
            <a:avLst/>
          </a:prstGeom>
          <a:solidFill>
            <a:srgbClr val="E8C0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457200"/>
            <a:ext cx="22860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0" b="1" i="0">
                <a:solidFill>
                  <a:srgbClr val="2C5F8A"/>
                </a:solidFill>
              </a:rPr>
              <a:t>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0" y="2880360"/>
            <a:ext cx="8229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E8C045"/>
                </a:solidFill>
              </a:rPr>
              <a:t>PARTIE 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43200" y="3310128"/>
            <a:ext cx="82296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 i="0">
                <a:solidFill>
                  <a:srgbClr val="FFFFFF"/>
                </a:solidFill>
              </a:rPr>
              <a:t>Analyse Statistique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43200" y="4069080"/>
            <a:ext cx="89611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AEC6E0"/>
                </a:solidFill>
              </a:rPr>
              <a:t>Exploration des données  •  Analyse bivariée  •  Régression logistique pondérée  •  Résultats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583680"/>
            <a:ext cx="12188952" cy="274320"/>
          </a:xfrm>
          <a:prstGeom prst="rect">
            <a:avLst/>
          </a:prstGeom>
          <a:solidFill>
            <a:srgbClr val="1A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74320" y="6601968"/>
            <a:ext cx="105156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FFFFFF"/>
                </a:solidFill>
              </a:rPr>
              <a:t>M. Yannick FONO BINDJEME  |  Institut Saint Jean Ingénieur  |  EDS Cameroun 2018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881360" y="6601968"/>
            <a:ext cx="10972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1" i="0">
                <a:solidFill>
                  <a:srgbClr val="E8C045"/>
                </a:solidFill>
              </a:rPr>
              <a:t>5 / 18</a:t>
            </a:r>
          </a:p>
        </p:txBody>
      </p:sp>
    </p:spTree>
  </p:cSld>
  <p:clrMapOvr>
    <a:masterClrMapping/>
  </p:clrMapOvr>
  <p:timing>
    <p:tnLst>
      <p:par>
        <p:cTn id="1" dur="indefinite" restart="whenNotActive" nodeType="tmRoot">
          <p:childTnLst>
            <p:par>
              <p:cTn id="2" fill="hold">
                <p:stCondLst>
                  <p:cond delay="200"/>
                </p:stCondLst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set>
                          <p:cBhvr>
                            <p:cTn id="4" dur="1" fill="hold"/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5" dur="550"/>
                            <p:tgtEl>
                              <p:spTgt spid="7"/>
                            </p:tgtEl>
                          </p:cBhvr>
                        </p:animEffect>
                      </p:childTnLst>
                    </p:cTn>
                  </p:par>
                </p:childTnLst>
              </p:cTn>
            </p:par>
            <p:par>
              <p:cTn id="6" fill="hold">
                <p:stCondLst>
                  <p:cond delay="600"/>
                </p:stCondLst>
                <p:childTnLst>
                  <p:par>
                    <p:cTn id="7" fill="hold">
                      <p:stCondLst>
                        <p:cond delay="0"/>
                      </p:stCondLst>
                      <p:childTnLst>
                        <p:set>
                          <p:cBhvr>
                            <p:cTn id="8" dur="1" fill="hold"/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9" dur="550"/>
                            <p:tgtEl>
                              <p:spTgt spid="8"/>
                            </p:tgtEl>
                          </p:cBhvr>
                        </p:animEffect>
                      </p:childTnLst>
                    </p:cTn>
                  </p:par>
                </p:childTnLst>
              </p:cTn>
            </p:par>
          </p:childTnLst>
        </p:cTn>
      </p:par>
    </p:tnLst>
    <p:bldLst/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188720"/>
          </a:xfrm>
          <a:prstGeom prst="rect">
            <a:avLst/>
          </a:prstGeom>
          <a:solidFill>
            <a:srgbClr val="1A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88720"/>
            <a:ext cx="12188952" cy="45720"/>
          </a:xfrm>
          <a:prstGeom prst="rect">
            <a:avLst/>
          </a:prstGeom>
          <a:solidFill>
            <a:srgbClr val="E8C0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0515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</a:rPr>
              <a:t>Préparation et Nettoyage des Données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731520"/>
            <a:ext cx="10058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AEC6E0"/>
                </a:solidFill>
              </a:rPr>
              <a:t>Construction de la variable cible et traitement des données manquantes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817352" y="201168"/>
            <a:ext cx="1170432" cy="274320"/>
          </a:xfrm>
          <a:prstGeom prst="roundRect">
            <a:avLst/>
          </a:prstGeom>
          <a:solidFill>
            <a:srgbClr val="2C5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817352" y="219456"/>
            <a:ext cx="117043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</a:rPr>
              <a:t>PARTIE I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20040" y="1508760"/>
            <a:ext cx="2743200" cy="1874519"/>
          </a:xfrm>
          <a:prstGeom prst="roundRect">
            <a:avLst/>
          </a:prstGeom>
          <a:solidFill>
            <a:srgbClr val="2C5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1600200"/>
            <a:ext cx="2514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E8C045"/>
                </a:solidFill>
              </a:rPr>
              <a:t>1. Chargement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011680"/>
            <a:ext cx="25146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solidFill>
                  <a:srgbClr val="FFFFFF"/>
                </a:solidFill>
              </a:rPr>
              <a:t>Fichier Stata CMIR71FL.dta</a:t>
            </a:r>
          </a:p>
          <a:p>
            <a:pPr algn="l"/>
            <a:r>
              <a:rPr sz="1000" b="0" i="0">
                <a:solidFill>
                  <a:srgbClr val="FFFFFF"/>
                </a:solidFill>
              </a:rPr>
              <a:t>Sélection de 22 variables</a:t>
            </a:r>
          </a:p>
          <a:p>
            <a:pPr algn="l"/>
            <a:r>
              <a:rPr sz="1000" b="0" i="0">
                <a:solidFill>
                  <a:srgbClr val="FFFFFF"/>
                </a:solidFill>
              </a:rPr>
              <a:t>1 000+ variables disponibles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08960" y="2103120"/>
            <a:ext cx="274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6C757D"/>
                </a:solidFill>
              </a:rPr>
              <a:t>►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264408" y="1508760"/>
            <a:ext cx="2743200" cy="1874519"/>
          </a:xfrm>
          <a:prstGeom prst="roundRect">
            <a:avLst/>
          </a:prstGeom>
          <a:solidFill>
            <a:srgbClr val="1A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401568" y="1600200"/>
            <a:ext cx="2514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E8C045"/>
                </a:solidFill>
              </a:rPr>
              <a:t>2. Nettoyage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01568" y="2011680"/>
            <a:ext cx="25146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solidFill>
                  <a:srgbClr val="FFFFFF"/>
                </a:solidFill>
              </a:rPr>
              <a:t>Codes EDS (9, 99, 998, 999)</a:t>
            </a:r>
          </a:p>
          <a:p>
            <a:pPr algn="l"/>
            <a:r>
              <a:rPr sz="1000" b="0" i="0">
                <a:solidFill>
                  <a:srgbClr val="FFFFFF"/>
                </a:solidFill>
              </a:rPr>
              <a:t>traités comme valeurs manquantes</a:t>
            </a:r>
          </a:p>
          <a:p>
            <a:pPr algn="l"/>
            <a:r>
              <a:rPr sz="1000" b="0" i="0">
                <a:solidFill>
                  <a:srgbClr val="FFFFFF"/>
                </a:solidFill>
              </a:rPr>
              <a:t>Imputation médiane / mode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53328" y="2103120"/>
            <a:ext cx="274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6C757D"/>
                </a:solidFill>
              </a:rPr>
              <a:t>►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08776" y="1508760"/>
            <a:ext cx="2743200" cy="1874519"/>
          </a:xfrm>
          <a:prstGeom prst="roundRect">
            <a:avLst/>
          </a:prstGeom>
          <a:solidFill>
            <a:srgbClr val="7B2D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45936" y="1600200"/>
            <a:ext cx="2514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E8C045"/>
                </a:solidFill>
              </a:rPr>
              <a:t>3. Cible 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45936" y="2011680"/>
            <a:ext cx="25146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solidFill>
                  <a:srgbClr val="FFFFFF"/>
                </a:solidFill>
              </a:rPr>
              <a:t>Y = 1 si V206 + V207 &gt; 0</a:t>
            </a:r>
          </a:p>
          <a:p>
            <a:pPr algn="l"/>
            <a:r>
              <a:rPr sz="1000" b="0" i="0">
                <a:solidFill>
                  <a:srgbClr val="FFFFFF"/>
                </a:solidFill>
              </a:rPr>
              <a:t>(au moins un enfant décédé)</a:t>
            </a:r>
          </a:p>
          <a:p>
            <a:pPr algn="l"/>
            <a:r>
              <a:rPr sz="1000" b="0" i="0">
                <a:solidFill>
                  <a:srgbClr val="FFFFFF"/>
                </a:solidFill>
              </a:rPr>
              <a:t>Nulligestes → Y = 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997696" y="2103120"/>
            <a:ext cx="274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6C757D"/>
                </a:solidFill>
              </a:rPr>
              <a:t>►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153144" y="1508760"/>
            <a:ext cx="2743200" cy="1874519"/>
          </a:xfrm>
          <a:prstGeom prst="round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290304" y="1600200"/>
            <a:ext cx="2514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E8C045"/>
                </a:solidFill>
              </a:rPr>
              <a:t>4. Datasets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290304" y="2011680"/>
            <a:ext cx="25146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solidFill>
                  <a:srgbClr val="FFFFFF"/>
                </a:solidFill>
              </a:rPr>
              <a:t>df clean : toutes les femmes</a:t>
            </a:r>
          </a:p>
          <a:p>
            <a:pPr algn="l"/>
            <a:r>
              <a:rPr sz="1000" b="0" i="0">
                <a:solidFill>
                  <a:srgbClr val="FFFFFF"/>
                </a:solidFill>
              </a:rPr>
              <a:t>df stat : 10 494 mères</a:t>
            </a:r>
          </a:p>
          <a:p>
            <a:pPr algn="l"/>
            <a:r>
              <a:rPr sz="1000" b="0" i="0">
                <a:solidFill>
                  <a:srgbClr val="FFFFFF"/>
                </a:solidFill>
              </a:rPr>
              <a:t>df ml  : 14 677 femmes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65760" y="3611880"/>
            <a:ext cx="11430000" cy="2514600"/>
          </a:xfrm>
          <a:prstGeom prst="roundRect">
            <a:avLst/>
          </a:prstGeom>
          <a:solidFill>
            <a:srgbClr val="EAF2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365760" y="3611880"/>
            <a:ext cx="11430000" cy="365760"/>
          </a:xfrm>
          <a:prstGeom prst="roundRect">
            <a:avLst/>
          </a:prstGeom>
          <a:solidFill>
            <a:srgbClr val="1A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48640" y="3639312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Variables Prédictives Retenues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2920" y="4096512"/>
            <a:ext cx="35661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2C5F8A"/>
                </a:solidFill>
              </a:rPr>
              <a:t>Sociodémographiques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02920" y="4462272"/>
            <a:ext cx="356616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A1A2E"/>
                </a:solidFill>
              </a:rPr>
              <a:t>Âge, Niveau d'éducation, Région, Milieu de résidence, Richesse, Statut matrimonial, Religion, Emploi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297680" y="4096512"/>
            <a:ext cx="35661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2C5F8A"/>
                </a:solidFill>
              </a:rPr>
              <a:t>Reproductives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297680" y="4462272"/>
            <a:ext cx="356616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A1A2E"/>
                </a:solidFill>
              </a:rPr>
              <a:t>Nombre d'enfants nés vivants, Âge à la 1ère naissance, Naissances récentes (5 ans), Grossesses interrompues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092440" y="4096512"/>
            <a:ext cx="35661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2C5F8A"/>
                </a:solidFill>
              </a:rPr>
              <a:t>Accès aux soins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092440" y="4462272"/>
            <a:ext cx="356616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A1A2E"/>
                </a:solidFill>
              </a:rPr>
              <a:t>Assurance maladie, Consultation dans les 12 mois, Obstacles aux soins, Électricité au domicile</a:t>
            </a:r>
          </a:p>
        </p:txBody>
      </p:sp>
      <p:sp>
        <p:nvSpPr>
          <p:cNvPr id="32" name="Rectangle 31"/>
          <p:cNvSpPr/>
          <p:nvPr/>
        </p:nvSpPr>
        <p:spPr>
          <a:xfrm>
            <a:off x="0" y="6583680"/>
            <a:ext cx="12188952" cy="274320"/>
          </a:xfrm>
          <a:prstGeom prst="rect">
            <a:avLst/>
          </a:prstGeom>
          <a:solidFill>
            <a:srgbClr val="1A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74320" y="6601968"/>
            <a:ext cx="105156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FFFFFF"/>
                </a:solidFill>
              </a:rPr>
              <a:t>M. Yannick FONO BINDJEME  |  Institut Saint Jean Ingénieur  |  EDS Cameroun 2018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881360" y="6601968"/>
            <a:ext cx="10972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1" i="0">
                <a:solidFill>
                  <a:srgbClr val="E8C045"/>
                </a:solidFill>
              </a:rPr>
              <a:t>6 / 18</a:t>
            </a:r>
          </a:p>
        </p:txBody>
      </p:sp>
    </p:spTree>
  </p:cSld>
  <p:clrMapOvr>
    <a:masterClrMapping/>
  </p:clrMapOvr>
  <p:timing>
    <p:tnLst>
      <p:par>
        <p:cTn id="1" dur="indefinite" restart="whenNotActive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/>
                                  <p:tgtEl>
                                    <p:spTgt spid="2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6" dur="550"/>
                                  <p:tgtEl>
                                    <p:spTgt spid="2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200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9" dur="1" fill="hold"/>
                                  <p:tgtEl>
                                    <p:spTgt spid="2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0" dur="550"/>
                                  <p:tgtEl>
                                    <p:spTgt spid="2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200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3" dur="1" fill="hold"/>
                                  <p:tgtEl>
                                    <p:spTgt spid="3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4" dur="550"/>
                                  <p:tgtEl>
                                    <p:spTgt spid="31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Click" delay="0">
                  <p:tn/>
                </p:cond>
              </p:prevCondLst>
              <p:nextCondLst>
                <p:cond evt="onNextClick" delay="0">
                  <p:tn/>
                </p:cond>
              </p:nextCondLst>
            </p:seq>
          </p:childTnLst>
        </p:cTn>
      </p:par>
    </p:tnLst>
    <p:bldLst/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188720"/>
          </a:xfrm>
          <a:prstGeom prst="rect">
            <a:avLst/>
          </a:prstGeom>
          <a:solidFill>
            <a:srgbClr val="1A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88720"/>
            <a:ext cx="12188952" cy="45720"/>
          </a:xfrm>
          <a:prstGeom prst="rect">
            <a:avLst/>
          </a:prstGeom>
          <a:solidFill>
            <a:srgbClr val="E8C0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0515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</a:rPr>
              <a:t>Statistiques Descriptives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731520"/>
            <a:ext cx="10058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AEC6E0"/>
                </a:solidFill>
              </a:rPr>
              <a:t>Profil sociodémographique et reproductif des femmes de l'échantillon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817352" y="201168"/>
            <a:ext cx="1170432" cy="274320"/>
          </a:xfrm>
          <a:prstGeom prst="roundRect">
            <a:avLst/>
          </a:prstGeom>
          <a:solidFill>
            <a:srgbClr val="2C5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817352" y="219456"/>
            <a:ext cx="117043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</a:rPr>
              <a:t>PARTIE I</a:t>
            </a:r>
          </a:p>
        </p:txBody>
      </p:sp>
      <p:pic>
        <p:nvPicPr>
          <p:cNvPr id="8" name="Picture 7" descr="prevalence_bivarie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417320"/>
            <a:ext cx="7132320" cy="512064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7680960" y="1417320"/>
            <a:ext cx="4160520" cy="5120640"/>
          </a:xfrm>
          <a:prstGeom prst="roundRect">
            <a:avLst/>
          </a:prstGeom>
          <a:solidFill>
            <a:srgbClr val="EAF2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7818120" y="1572768"/>
            <a:ext cx="3886200" cy="658368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818120" y="1572768"/>
            <a:ext cx="54864" cy="658368"/>
          </a:xfrm>
          <a:prstGeom prst="rect">
            <a:avLst/>
          </a:prstGeom>
          <a:solidFill>
            <a:srgbClr val="2C5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955279" y="1627632"/>
            <a:ext cx="1463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2C5F8A"/>
                </a:solidFill>
              </a:rPr>
              <a:t>30,2 ans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64040" y="1664208"/>
            <a:ext cx="214884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A1A2E"/>
                </a:solidFill>
              </a:rPr>
              <a:t>Âge moyen des femmes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818120" y="2395728"/>
            <a:ext cx="3886200" cy="658368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818120" y="2395728"/>
            <a:ext cx="54864" cy="658368"/>
          </a:xfrm>
          <a:prstGeom prst="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955279" y="2450592"/>
            <a:ext cx="1463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E74C3C"/>
                </a:solidFill>
              </a:rPr>
              <a:t>34,1 %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64040" y="2487168"/>
            <a:ext cx="214884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A1A2E"/>
                </a:solidFill>
              </a:rPr>
              <a:t>Prévalence mortalité infantile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818120" y="3218688"/>
            <a:ext cx="3886200" cy="658368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818120" y="3218688"/>
            <a:ext cx="54864" cy="658368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955279" y="3273552"/>
            <a:ext cx="1463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27AE60"/>
                </a:solidFill>
              </a:rPr>
              <a:t>3,2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64040" y="3310128"/>
            <a:ext cx="214884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A1A2E"/>
                </a:solidFill>
              </a:rPr>
              <a:t>Nombre moyen d'enfants nés vivants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818120" y="4041648"/>
            <a:ext cx="3886200" cy="658368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818120" y="4041648"/>
            <a:ext cx="54864" cy="658368"/>
          </a:xfrm>
          <a:prstGeom prst="rect">
            <a:avLst/>
          </a:prstGeom>
          <a:solidFill>
            <a:srgbClr val="F39C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955279" y="4096512"/>
            <a:ext cx="1463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39C12"/>
                </a:solidFill>
              </a:rPr>
              <a:t>21,4 ans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64040" y="4133088"/>
            <a:ext cx="214884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A1A2E"/>
                </a:solidFill>
              </a:rPr>
              <a:t>Âge médian à la 1ère naissance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818120" y="4864608"/>
            <a:ext cx="3886200" cy="658368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7818120" y="4864608"/>
            <a:ext cx="54864" cy="658368"/>
          </a:xfrm>
          <a:prstGeom prst="rect">
            <a:avLst/>
          </a:prstGeom>
          <a:solidFill>
            <a:srgbClr val="1A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955279" y="4919472"/>
            <a:ext cx="1463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A3A5C"/>
                </a:solidFill>
              </a:rPr>
              <a:t>47 %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64040" y="4956048"/>
            <a:ext cx="214884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A1A2E"/>
                </a:solidFill>
              </a:rPr>
              <a:t>Niveau secondaire (le plus fréquent)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818120" y="5687568"/>
            <a:ext cx="3886200" cy="658368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7818120" y="5687568"/>
            <a:ext cx="54864" cy="658368"/>
          </a:xfrm>
          <a:prstGeom prst="rect">
            <a:avLst/>
          </a:prstGeom>
          <a:solidFill>
            <a:srgbClr val="6C75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955279" y="5742432"/>
            <a:ext cx="1463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6C757D"/>
                </a:solidFill>
              </a:rPr>
              <a:t>55 %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464040" y="5779008"/>
            <a:ext cx="214884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A1A2E"/>
                </a:solidFill>
              </a:rPr>
              <a:t>Milieu rural</a:t>
            </a:r>
          </a:p>
        </p:txBody>
      </p:sp>
      <p:sp>
        <p:nvSpPr>
          <p:cNvPr id="34" name="Rectangle 33"/>
          <p:cNvSpPr/>
          <p:nvPr/>
        </p:nvSpPr>
        <p:spPr>
          <a:xfrm>
            <a:off x="0" y="6583680"/>
            <a:ext cx="12188952" cy="274320"/>
          </a:xfrm>
          <a:prstGeom prst="rect">
            <a:avLst/>
          </a:prstGeom>
          <a:solidFill>
            <a:srgbClr val="1A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274320" y="6601968"/>
            <a:ext cx="105156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FFFFFF"/>
                </a:solidFill>
              </a:rPr>
              <a:t>M. Yannick FONO BINDJEME  |  Institut Saint Jean Ingénieur  |  EDS Cameroun 2018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881360" y="6601968"/>
            <a:ext cx="10972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1" i="0">
                <a:solidFill>
                  <a:srgbClr val="E8C045"/>
                </a:solidFill>
              </a:rPr>
              <a:t>7 / 18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188720"/>
          </a:xfrm>
          <a:prstGeom prst="rect">
            <a:avLst/>
          </a:prstGeom>
          <a:solidFill>
            <a:srgbClr val="1A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88720"/>
            <a:ext cx="12188952" cy="45720"/>
          </a:xfrm>
          <a:prstGeom prst="rect">
            <a:avLst/>
          </a:prstGeom>
          <a:solidFill>
            <a:srgbClr val="E8C0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0515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</a:rPr>
              <a:t>Analyse Bivariée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731520"/>
            <a:ext cx="10058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AEC6E0"/>
                </a:solidFill>
              </a:rPr>
              <a:t>Tests du Khi-deux et t-tests — Association avec la mortalité infantile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817352" y="201168"/>
            <a:ext cx="1170432" cy="274320"/>
          </a:xfrm>
          <a:prstGeom prst="roundRect">
            <a:avLst/>
          </a:prstGeom>
          <a:solidFill>
            <a:srgbClr val="2C5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817352" y="219456"/>
            <a:ext cx="117043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</a:rPr>
              <a:t>PARTIE I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1417320"/>
            <a:ext cx="2926080" cy="365760"/>
          </a:xfrm>
          <a:prstGeom prst="rect">
            <a:avLst/>
          </a:prstGeom>
          <a:solidFill>
            <a:srgbClr val="1A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29768" y="1435608"/>
            <a:ext cx="28346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1" i="0">
                <a:solidFill>
                  <a:srgbClr val="FFFFFF"/>
                </a:solidFill>
              </a:rPr>
              <a:t>Variable</a:t>
            </a:r>
          </a:p>
        </p:txBody>
      </p:sp>
      <p:sp>
        <p:nvSpPr>
          <p:cNvPr id="10" name="Rectangle 9"/>
          <p:cNvSpPr/>
          <p:nvPr/>
        </p:nvSpPr>
        <p:spPr>
          <a:xfrm>
            <a:off x="3337560" y="1417320"/>
            <a:ext cx="1371600" cy="365760"/>
          </a:xfrm>
          <a:prstGeom prst="rect">
            <a:avLst/>
          </a:prstGeom>
          <a:solidFill>
            <a:srgbClr val="1A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401568" y="1435608"/>
            <a:ext cx="12801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1" i="0">
                <a:solidFill>
                  <a:srgbClr val="FFFFFF"/>
                </a:solidFill>
              </a:rPr>
              <a:t>Test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754880" y="1417320"/>
            <a:ext cx="1371600" cy="365760"/>
          </a:xfrm>
          <a:prstGeom prst="rect">
            <a:avLst/>
          </a:prstGeom>
          <a:solidFill>
            <a:srgbClr val="1A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818888" y="1435608"/>
            <a:ext cx="12801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1" i="0">
                <a:solidFill>
                  <a:srgbClr val="FFFFFF"/>
                </a:solidFill>
              </a:rPr>
              <a:t>p-valeur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72200" y="1417320"/>
            <a:ext cx="1280160" cy="365760"/>
          </a:xfrm>
          <a:prstGeom prst="rect">
            <a:avLst/>
          </a:prstGeom>
          <a:solidFill>
            <a:srgbClr val="1A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36208" y="1435608"/>
            <a:ext cx="11887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1" i="0">
                <a:solidFill>
                  <a:srgbClr val="FFFFFF"/>
                </a:solidFill>
              </a:rPr>
              <a:t>Significativité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5760" y="1783080"/>
            <a:ext cx="2926080" cy="310896"/>
          </a:xfrm>
          <a:prstGeom prst="rect">
            <a:avLst/>
          </a:prstGeom>
          <a:solidFill>
            <a:srgbClr val="EAF2FB"/>
          </a:solidFill>
          <a:ln w="6350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29768" y="1837944"/>
            <a:ext cx="283464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</a:rPr>
              <a:t>Niveau d'éducation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337560" y="1783080"/>
            <a:ext cx="1371600" cy="310896"/>
          </a:xfrm>
          <a:prstGeom prst="rect">
            <a:avLst/>
          </a:prstGeom>
          <a:solidFill>
            <a:srgbClr val="EAF2FB"/>
          </a:solidFill>
          <a:ln w="6350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401568" y="1837944"/>
            <a:ext cx="128016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1A1A2E"/>
                </a:solidFill>
              </a:rPr>
              <a:t>Khi-deux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754880" y="1783080"/>
            <a:ext cx="1371600" cy="310896"/>
          </a:xfrm>
          <a:prstGeom prst="rect">
            <a:avLst/>
          </a:prstGeom>
          <a:solidFill>
            <a:srgbClr val="EAF2FB"/>
          </a:solidFill>
          <a:ln w="6350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818888" y="1837944"/>
            <a:ext cx="128016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1A1A2E"/>
                </a:solidFill>
              </a:rPr>
              <a:t>&lt; 0,001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172200" y="1783080"/>
            <a:ext cx="1280160" cy="310896"/>
          </a:xfrm>
          <a:prstGeom prst="rect">
            <a:avLst/>
          </a:prstGeom>
          <a:solidFill>
            <a:srgbClr val="EAF2FB"/>
          </a:solidFill>
          <a:ln w="6350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236208" y="1837944"/>
            <a:ext cx="118872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27AE60"/>
                </a:solidFill>
              </a:rPr>
              <a:t>***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65760" y="2093976"/>
            <a:ext cx="2926080" cy="310896"/>
          </a:xfrm>
          <a:prstGeom prst="rect">
            <a:avLst/>
          </a:prstGeom>
          <a:solidFill>
            <a:srgbClr val="FFFFFF"/>
          </a:solidFill>
          <a:ln w="6350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29768" y="2148840"/>
            <a:ext cx="283464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</a:rPr>
              <a:t>Richesse du ménage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337560" y="2093976"/>
            <a:ext cx="1371600" cy="310896"/>
          </a:xfrm>
          <a:prstGeom prst="rect">
            <a:avLst/>
          </a:prstGeom>
          <a:solidFill>
            <a:srgbClr val="FFFFFF"/>
          </a:solidFill>
          <a:ln w="6350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401568" y="2148840"/>
            <a:ext cx="128016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1A1A2E"/>
                </a:solidFill>
              </a:rPr>
              <a:t>Khi-deux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754880" y="2093976"/>
            <a:ext cx="1371600" cy="310896"/>
          </a:xfrm>
          <a:prstGeom prst="rect">
            <a:avLst/>
          </a:prstGeom>
          <a:solidFill>
            <a:srgbClr val="FFFFFF"/>
          </a:solidFill>
          <a:ln w="6350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818888" y="2148840"/>
            <a:ext cx="128016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1A1A2E"/>
                </a:solidFill>
              </a:rPr>
              <a:t>&lt; 0,001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172200" y="2093976"/>
            <a:ext cx="1280160" cy="310896"/>
          </a:xfrm>
          <a:prstGeom prst="rect">
            <a:avLst/>
          </a:prstGeom>
          <a:solidFill>
            <a:srgbClr val="FFFFFF"/>
          </a:solidFill>
          <a:ln w="6350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236208" y="2148840"/>
            <a:ext cx="118872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27AE60"/>
                </a:solidFill>
              </a:rPr>
              <a:t>***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65760" y="2404872"/>
            <a:ext cx="2926080" cy="310896"/>
          </a:xfrm>
          <a:prstGeom prst="rect">
            <a:avLst/>
          </a:prstGeom>
          <a:solidFill>
            <a:srgbClr val="EAF2FB"/>
          </a:solidFill>
          <a:ln w="6350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29768" y="2459736"/>
            <a:ext cx="283464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</a:rPr>
              <a:t>Région de résidence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337560" y="2404872"/>
            <a:ext cx="1371600" cy="310896"/>
          </a:xfrm>
          <a:prstGeom prst="rect">
            <a:avLst/>
          </a:prstGeom>
          <a:solidFill>
            <a:srgbClr val="EAF2FB"/>
          </a:solidFill>
          <a:ln w="6350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401568" y="2459736"/>
            <a:ext cx="128016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1A1A2E"/>
                </a:solidFill>
              </a:rPr>
              <a:t>Khi-deux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754880" y="2404872"/>
            <a:ext cx="1371600" cy="310896"/>
          </a:xfrm>
          <a:prstGeom prst="rect">
            <a:avLst/>
          </a:prstGeom>
          <a:solidFill>
            <a:srgbClr val="EAF2FB"/>
          </a:solidFill>
          <a:ln w="6350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818888" y="2459736"/>
            <a:ext cx="128016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1A1A2E"/>
                </a:solidFill>
              </a:rPr>
              <a:t>&lt; 0,001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172200" y="2404872"/>
            <a:ext cx="1280160" cy="310896"/>
          </a:xfrm>
          <a:prstGeom prst="rect">
            <a:avLst/>
          </a:prstGeom>
          <a:solidFill>
            <a:srgbClr val="EAF2FB"/>
          </a:solidFill>
          <a:ln w="6350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236208" y="2459736"/>
            <a:ext cx="118872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27AE60"/>
                </a:solidFill>
              </a:rPr>
              <a:t>***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2715768"/>
            <a:ext cx="2926080" cy="310896"/>
          </a:xfrm>
          <a:prstGeom prst="rect">
            <a:avLst/>
          </a:prstGeom>
          <a:solidFill>
            <a:srgbClr val="FFFFFF"/>
          </a:solidFill>
          <a:ln w="6350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29768" y="2770632"/>
            <a:ext cx="283464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</a:rPr>
              <a:t>Âge à la 1ère naissance</a:t>
            </a:r>
          </a:p>
        </p:txBody>
      </p:sp>
      <p:sp>
        <p:nvSpPr>
          <p:cNvPr id="42" name="Rectangle 41"/>
          <p:cNvSpPr/>
          <p:nvPr/>
        </p:nvSpPr>
        <p:spPr>
          <a:xfrm>
            <a:off x="3337560" y="2715768"/>
            <a:ext cx="1371600" cy="310896"/>
          </a:xfrm>
          <a:prstGeom prst="rect">
            <a:avLst/>
          </a:prstGeom>
          <a:solidFill>
            <a:srgbClr val="FFFFFF"/>
          </a:solidFill>
          <a:ln w="6350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3401568" y="2770632"/>
            <a:ext cx="128016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1A1A2E"/>
                </a:solidFill>
              </a:rPr>
              <a:t>Khi-deux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754880" y="2715768"/>
            <a:ext cx="1371600" cy="310896"/>
          </a:xfrm>
          <a:prstGeom prst="rect">
            <a:avLst/>
          </a:prstGeom>
          <a:solidFill>
            <a:srgbClr val="FFFFFF"/>
          </a:solidFill>
          <a:ln w="6350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818888" y="2770632"/>
            <a:ext cx="128016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1A1A2E"/>
                </a:solidFill>
              </a:rPr>
              <a:t>&lt; 0,001</a:t>
            </a:r>
          </a:p>
        </p:txBody>
      </p:sp>
      <p:sp>
        <p:nvSpPr>
          <p:cNvPr id="46" name="Rectangle 45"/>
          <p:cNvSpPr/>
          <p:nvPr/>
        </p:nvSpPr>
        <p:spPr>
          <a:xfrm>
            <a:off x="6172200" y="2715768"/>
            <a:ext cx="1280160" cy="310896"/>
          </a:xfrm>
          <a:prstGeom prst="rect">
            <a:avLst/>
          </a:prstGeom>
          <a:solidFill>
            <a:srgbClr val="FFFFFF"/>
          </a:solidFill>
          <a:ln w="6350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236208" y="2770632"/>
            <a:ext cx="118872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27AE60"/>
                </a:solidFill>
              </a:rPr>
              <a:t>***</a:t>
            </a:r>
          </a:p>
        </p:txBody>
      </p:sp>
      <p:sp>
        <p:nvSpPr>
          <p:cNvPr id="48" name="Rectangle 47"/>
          <p:cNvSpPr/>
          <p:nvPr/>
        </p:nvSpPr>
        <p:spPr>
          <a:xfrm>
            <a:off x="365760" y="3026664"/>
            <a:ext cx="2926080" cy="310896"/>
          </a:xfrm>
          <a:prstGeom prst="rect">
            <a:avLst/>
          </a:prstGeom>
          <a:solidFill>
            <a:srgbClr val="EAF2FB"/>
          </a:solidFill>
          <a:ln w="6350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29768" y="3081528"/>
            <a:ext cx="283464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</a:rPr>
              <a:t>Nombre d'enfants</a:t>
            </a:r>
          </a:p>
        </p:txBody>
      </p:sp>
      <p:sp>
        <p:nvSpPr>
          <p:cNvPr id="50" name="Rectangle 49"/>
          <p:cNvSpPr/>
          <p:nvPr/>
        </p:nvSpPr>
        <p:spPr>
          <a:xfrm>
            <a:off x="3337560" y="3026664"/>
            <a:ext cx="1371600" cy="310896"/>
          </a:xfrm>
          <a:prstGeom prst="rect">
            <a:avLst/>
          </a:prstGeom>
          <a:solidFill>
            <a:srgbClr val="EAF2FB"/>
          </a:solidFill>
          <a:ln w="6350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3401568" y="3081528"/>
            <a:ext cx="128016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1A1A2E"/>
                </a:solidFill>
              </a:rPr>
              <a:t>t-test</a:t>
            </a:r>
          </a:p>
        </p:txBody>
      </p:sp>
      <p:sp>
        <p:nvSpPr>
          <p:cNvPr id="52" name="Rectangle 51"/>
          <p:cNvSpPr/>
          <p:nvPr/>
        </p:nvSpPr>
        <p:spPr>
          <a:xfrm>
            <a:off x="4754880" y="3026664"/>
            <a:ext cx="1371600" cy="310896"/>
          </a:xfrm>
          <a:prstGeom prst="rect">
            <a:avLst/>
          </a:prstGeom>
          <a:solidFill>
            <a:srgbClr val="EAF2FB"/>
          </a:solidFill>
          <a:ln w="6350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4818888" y="3081528"/>
            <a:ext cx="128016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1A1A2E"/>
                </a:solidFill>
              </a:rPr>
              <a:t>&lt; 0,001</a:t>
            </a:r>
          </a:p>
        </p:txBody>
      </p:sp>
      <p:sp>
        <p:nvSpPr>
          <p:cNvPr id="54" name="Rectangle 53"/>
          <p:cNvSpPr/>
          <p:nvPr/>
        </p:nvSpPr>
        <p:spPr>
          <a:xfrm>
            <a:off x="6172200" y="3026664"/>
            <a:ext cx="1280160" cy="310896"/>
          </a:xfrm>
          <a:prstGeom prst="rect">
            <a:avLst/>
          </a:prstGeom>
          <a:solidFill>
            <a:srgbClr val="EAF2FB"/>
          </a:solidFill>
          <a:ln w="6350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6236208" y="3081528"/>
            <a:ext cx="118872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27AE60"/>
                </a:solidFill>
              </a:rPr>
              <a:t>***</a:t>
            </a:r>
          </a:p>
        </p:txBody>
      </p:sp>
      <p:sp>
        <p:nvSpPr>
          <p:cNvPr id="56" name="Rectangle 55"/>
          <p:cNvSpPr/>
          <p:nvPr/>
        </p:nvSpPr>
        <p:spPr>
          <a:xfrm>
            <a:off x="365760" y="3337560"/>
            <a:ext cx="2926080" cy="310896"/>
          </a:xfrm>
          <a:prstGeom prst="rect">
            <a:avLst/>
          </a:prstGeom>
          <a:solidFill>
            <a:srgbClr val="FFFFFF"/>
          </a:solidFill>
          <a:ln w="6350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429768" y="3392424"/>
            <a:ext cx="283464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</a:rPr>
              <a:t>Milieu de résidence</a:t>
            </a:r>
          </a:p>
        </p:txBody>
      </p:sp>
      <p:sp>
        <p:nvSpPr>
          <p:cNvPr id="58" name="Rectangle 57"/>
          <p:cNvSpPr/>
          <p:nvPr/>
        </p:nvSpPr>
        <p:spPr>
          <a:xfrm>
            <a:off x="3337560" y="3337560"/>
            <a:ext cx="1371600" cy="310896"/>
          </a:xfrm>
          <a:prstGeom prst="rect">
            <a:avLst/>
          </a:prstGeom>
          <a:solidFill>
            <a:srgbClr val="FFFFFF"/>
          </a:solidFill>
          <a:ln w="6350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3401568" y="3392424"/>
            <a:ext cx="128016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1A1A2E"/>
                </a:solidFill>
              </a:rPr>
              <a:t>Khi-deux</a:t>
            </a:r>
          </a:p>
        </p:txBody>
      </p:sp>
      <p:sp>
        <p:nvSpPr>
          <p:cNvPr id="60" name="Rectangle 59"/>
          <p:cNvSpPr/>
          <p:nvPr/>
        </p:nvSpPr>
        <p:spPr>
          <a:xfrm>
            <a:off x="4754880" y="3337560"/>
            <a:ext cx="1371600" cy="310896"/>
          </a:xfrm>
          <a:prstGeom prst="rect">
            <a:avLst/>
          </a:prstGeom>
          <a:solidFill>
            <a:srgbClr val="FFFFFF"/>
          </a:solidFill>
          <a:ln w="6350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4818888" y="3392424"/>
            <a:ext cx="128016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1A1A2E"/>
                </a:solidFill>
              </a:rPr>
              <a:t>&lt; 0,001</a:t>
            </a:r>
          </a:p>
        </p:txBody>
      </p:sp>
      <p:sp>
        <p:nvSpPr>
          <p:cNvPr id="62" name="Rectangle 61"/>
          <p:cNvSpPr/>
          <p:nvPr/>
        </p:nvSpPr>
        <p:spPr>
          <a:xfrm>
            <a:off x="6172200" y="3337560"/>
            <a:ext cx="1280160" cy="310896"/>
          </a:xfrm>
          <a:prstGeom prst="rect">
            <a:avLst/>
          </a:prstGeom>
          <a:solidFill>
            <a:srgbClr val="FFFFFF"/>
          </a:solidFill>
          <a:ln w="6350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6236208" y="3392424"/>
            <a:ext cx="118872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27AE60"/>
                </a:solidFill>
              </a:rPr>
              <a:t>***</a:t>
            </a:r>
          </a:p>
        </p:txBody>
      </p:sp>
      <p:sp>
        <p:nvSpPr>
          <p:cNvPr id="64" name="Rectangle 63"/>
          <p:cNvSpPr/>
          <p:nvPr/>
        </p:nvSpPr>
        <p:spPr>
          <a:xfrm>
            <a:off x="365760" y="3648456"/>
            <a:ext cx="2926080" cy="310896"/>
          </a:xfrm>
          <a:prstGeom prst="rect">
            <a:avLst/>
          </a:prstGeom>
          <a:solidFill>
            <a:srgbClr val="EAF2FB"/>
          </a:solidFill>
          <a:ln w="6350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429768" y="3703320"/>
            <a:ext cx="283464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</a:rPr>
              <a:t>Statut matrimonial</a:t>
            </a:r>
          </a:p>
        </p:txBody>
      </p:sp>
      <p:sp>
        <p:nvSpPr>
          <p:cNvPr id="66" name="Rectangle 65"/>
          <p:cNvSpPr/>
          <p:nvPr/>
        </p:nvSpPr>
        <p:spPr>
          <a:xfrm>
            <a:off x="3337560" y="3648456"/>
            <a:ext cx="1371600" cy="310896"/>
          </a:xfrm>
          <a:prstGeom prst="rect">
            <a:avLst/>
          </a:prstGeom>
          <a:solidFill>
            <a:srgbClr val="EAF2FB"/>
          </a:solidFill>
          <a:ln w="6350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3401568" y="3703320"/>
            <a:ext cx="128016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1A1A2E"/>
                </a:solidFill>
              </a:rPr>
              <a:t>Khi-deux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754880" y="3648456"/>
            <a:ext cx="1371600" cy="310896"/>
          </a:xfrm>
          <a:prstGeom prst="rect">
            <a:avLst/>
          </a:prstGeom>
          <a:solidFill>
            <a:srgbClr val="EAF2FB"/>
          </a:solidFill>
          <a:ln w="6350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818888" y="3703320"/>
            <a:ext cx="128016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1A1A2E"/>
                </a:solidFill>
              </a:rPr>
              <a:t>&lt; 0,001</a:t>
            </a:r>
          </a:p>
        </p:txBody>
      </p:sp>
      <p:sp>
        <p:nvSpPr>
          <p:cNvPr id="70" name="Rectangle 69"/>
          <p:cNvSpPr/>
          <p:nvPr/>
        </p:nvSpPr>
        <p:spPr>
          <a:xfrm>
            <a:off x="6172200" y="3648456"/>
            <a:ext cx="1280160" cy="310896"/>
          </a:xfrm>
          <a:prstGeom prst="rect">
            <a:avLst/>
          </a:prstGeom>
          <a:solidFill>
            <a:srgbClr val="EAF2FB"/>
          </a:solidFill>
          <a:ln w="6350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6236208" y="3703320"/>
            <a:ext cx="118872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27AE60"/>
                </a:solidFill>
              </a:rPr>
              <a:t>***</a:t>
            </a:r>
          </a:p>
        </p:txBody>
      </p:sp>
      <p:sp>
        <p:nvSpPr>
          <p:cNvPr id="72" name="Rectangle 71"/>
          <p:cNvSpPr/>
          <p:nvPr/>
        </p:nvSpPr>
        <p:spPr>
          <a:xfrm>
            <a:off x="365760" y="3959352"/>
            <a:ext cx="2926080" cy="310896"/>
          </a:xfrm>
          <a:prstGeom prst="rect">
            <a:avLst/>
          </a:prstGeom>
          <a:solidFill>
            <a:srgbClr val="FFFFFF"/>
          </a:solidFill>
          <a:ln w="6350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429768" y="4014216"/>
            <a:ext cx="283464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</a:rPr>
              <a:t>Emploi</a:t>
            </a:r>
          </a:p>
        </p:txBody>
      </p:sp>
      <p:sp>
        <p:nvSpPr>
          <p:cNvPr id="74" name="Rectangle 73"/>
          <p:cNvSpPr/>
          <p:nvPr/>
        </p:nvSpPr>
        <p:spPr>
          <a:xfrm>
            <a:off x="3337560" y="3959352"/>
            <a:ext cx="1371600" cy="310896"/>
          </a:xfrm>
          <a:prstGeom prst="rect">
            <a:avLst/>
          </a:prstGeom>
          <a:solidFill>
            <a:srgbClr val="FFFFFF"/>
          </a:solidFill>
          <a:ln w="6350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3401568" y="4014216"/>
            <a:ext cx="128016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1A1A2E"/>
                </a:solidFill>
              </a:rPr>
              <a:t>Khi-deux</a:t>
            </a:r>
          </a:p>
        </p:txBody>
      </p:sp>
      <p:sp>
        <p:nvSpPr>
          <p:cNvPr id="76" name="Rectangle 75"/>
          <p:cNvSpPr/>
          <p:nvPr/>
        </p:nvSpPr>
        <p:spPr>
          <a:xfrm>
            <a:off x="4754880" y="3959352"/>
            <a:ext cx="1371600" cy="310896"/>
          </a:xfrm>
          <a:prstGeom prst="rect">
            <a:avLst/>
          </a:prstGeom>
          <a:solidFill>
            <a:srgbClr val="FFFFFF"/>
          </a:solidFill>
          <a:ln w="6350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4818888" y="4014216"/>
            <a:ext cx="128016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1A1A2E"/>
                </a:solidFill>
              </a:rPr>
              <a:t>&lt; 0,001</a:t>
            </a:r>
          </a:p>
        </p:txBody>
      </p:sp>
      <p:sp>
        <p:nvSpPr>
          <p:cNvPr id="78" name="Rectangle 77"/>
          <p:cNvSpPr/>
          <p:nvPr/>
        </p:nvSpPr>
        <p:spPr>
          <a:xfrm>
            <a:off x="6172200" y="3959352"/>
            <a:ext cx="1280160" cy="310896"/>
          </a:xfrm>
          <a:prstGeom prst="rect">
            <a:avLst/>
          </a:prstGeom>
          <a:solidFill>
            <a:srgbClr val="FFFFFF"/>
          </a:solidFill>
          <a:ln w="6350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6236208" y="4014216"/>
            <a:ext cx="118872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27AE60"/>
                </a:solidFill>
              </a:rPr>
              <a:t>***</a:t>
            </a:r>
          </a:p>
        </p:txBody>
      </p:sp>
      <p:sp>
        <p:nvSpPr>
          <p:cNvPr id="80" name="Rectangle 79"/>
          <p:cNvSpPr/>
          <p:nvPr/>
        </p:nvSpPr>
        <p:spPr>
          <a:xfrm>
            <a:off x="365760" y="4270248"/>
            <a:ext cx="2926080" cy="310896"/>
          </a:xfrm>
          <a:prstGeom prst="rect">
            <a:avLst/>
          </a:prstGeom>
          <a:solidFill>
            <a:srgbClr val="EAF2FB"/>
          </a:solidFill>
          <a:ln w="6350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429768" y="4325112"/>
            <a:ext cx="283464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</a:rPr>
              <a:t>Assurance maladie</a:t>
            </a:r>
          </a:p>
        </p:txBody>
      </p:sp>
      <p:sp>
        <p:nvSpPr>
          <p:cNvPr id="82" name="Rectangle 81"/>
          <p:cNvSpPr/>
          <p:nvPr/>
        </p:nvSpPr>
        <p:spPr>
          <a:xfrm>
            <a:off x="3337560" y="4270248"/>
            <a:ext cx="1371600" cy="310896"/>
          </a:xfrm>
          <a:prstGeom prst="rect">
            <a:avLst/>
          </a:prstGeom>
          <a:solidFill>
            <a:srgbClr val="EAF2FB"/>
          </a:solidFill>
          <a:ln w="6350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3401568" y="4325112"/>
            <a:ext cx="128016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1A1A2E"/>
                </a:solidFill>
              </a:rPr>
              <a:t>Khi-deux</a:t>
            </a:r>
          </a:p>
        </p:txBody>
      </p:sp>
      <p:sp>
        <p:nvSpPr>
          <p:cNvPr id="84" name="Rectangle 83"/>
          <p:cNvSpPr/>
          <p:nvPr/>
        </p:nvSpPr>
        <p:spPr>
          <a:xfrm>
            <a:off x="4754880" y="4270248"/>
            <a:ext cx="1371600" cy="310896"/>
          </a:xfrm>
          <a:prstGeom prst="rect">
            <a:avLst/>
          </a:prstGeom>
          <a:solidFill>
            <a:srgbClr val="EAF2FB"/>
          </a:solidFill>
          <a:ln w="6350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4818888" y="4325112"/>
            <a:ext cx="128016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1A1A2E"/>
                </a:solidFill>
              </a:rPr>
              <a:t>&lt; 0,001</a:t>
            </a:r>
          </a:p>
        </p:txBody>
      </p:sp>
      <p:sp>
        <p:nvSpPr>
          <p:cNvPr id="86" name="Rectangle 85"/>
          <p:cNvSpPr/>
          <p:nvPr/>
        </p:nvSpPr>
        <p:spPr>
          <a:xfrm>
            <a:off x="6172200" y="4270248"/>
            <a:ext cx="1280160" cy="310896"/>
          </a:xfrm>
          <a:prstGeom prst="rect">
            <a:avLst/>
          </a:prstGeom>
          <a:solidFill>
            <a:srgbClr val="EAF2FB"/>
          </a:solidFill>
          <a:ln w="6350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6236208" y="4325112"/>
            <a:ext cx="118872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27AE60"/>
                </a:solidFill>
              </a:rPr>
              <a:t>***</a:t>
            </a:r>
          </a:p>
        </p:txBody>
      </p:sp>
      <p:sp>
        <p:nvSpPr>
          <p:cNvPr id="88" name="Rectangle 87"/>
          <p:cNvSpPr/>
          <p:nvPr/>
        </p:nvSpPr>
        <p:spPr>
          <a:xfrm>
            <a:off x="365760" y="4581144"/>
            <a:ext cx="2926080" cy="310896"/>
          </a:xfrm>
          <a:prstGeom prst="rect">
            <a:avLst/>
          </a:prstGeom>
          <a:solidFill>
            <a:srgbClr val="FFFFFF"/>
          </a:solidFill>
          <a:ln w="6350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429768" y="4636008"/>
            <a:ext cx="283464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</a:rPr>
              <a:t>Grossesses interrompues</a:t>
            </a:r>
          </a:p>
        </p:txBody>
      </p:sp>
      <p:sp>
        <p:nvSpPr>
          <p:cNvPr id="90" name="Rectangle 89"/>
          <p:cNvSpPr/>
          <p:nvPr/>
        </p:nvSpPr>
        <p:spPr>
          <a:xfrm>
            <a:off x="3337560" y="4581144"/>
            <a:ext cx="1371600" cy="310896"/>
          </a:xfrm>
          <a:prstGeom prst="rect">
            <a:avLst/>
          </a:prstGeom>
          <a:solidFill>
            <a:srgbClr val="FFFFFF"/>
          </a:solidFill>
          <a:ln w="6350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3401568" y="4636008"/>
            <a:ext cx="128016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1A1A2E"/>
                </a:solidFill>
              </a:rPr>
              <a:t>Khi-deux</a:t>
            </a:r>
          </a:p>
        </p:txBody>
      </p:sp>
      <p:sp>
        <p:nvSpPr>
          <p:cNvPr id="92" name="Rectangle 91"/>
          <p:cNvSpPr/>
          <p:nvPr/>
        </p:nvSpPr>
        <p:spPr>
          <a:xfrm>
            <a:off x="4754880" y="4581144"/>
            <a:ext cx="1371600" cy="310896"/>
          </a:xfrm>
          <a:prstGeom prst="rect">
            <a:avLst/>
          </a:prstGeom>
          <a:solidFill>
            <a:srgbClr val="FFFFFF"/>
          </a:solidFill>
          <a:ln w="6350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4818888" y="4636008"/>
            <a:ext cx="128016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1A1A2E"/>
                </a:solidFill>
              </a:rPr>
              <a:t>&lt; 0,001</a:t>
            </a:r>
          </a:p>
        </p:txBody>
      </p:sp>
      <p:sp>
        <p:nvSpPr>
          <p:cNvPr id="94" name="Rectangle 93"/>
          <p:cNvSpPr/>
          <p:nvPr/>
        </p:nvSpPr>
        <p:spPr>
          <a:xfrm>
            <a:off x="6172200" y="4581144"/>
            <a:ext cx="1280160" cy="310896"/>
          </a:xfrm>
          <a:prstGeom prst="rect">
            <a:avLst/>
          </a:prstGeom>
          <a:solidFill>
            <a:srgbClr val="FFFFFF"/>
          </a:solidFill>
          <a:ln w="6350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6236208" y="4636008"/>
            <a:ext cx="118872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27AE60"/>
                </a:solidFill>
              </a:rPr>
              <a:t>***</a:t>
            </a:r>
          </a:p>
        </p:txBody>
      </p:sp>
      <p:sp>
        <p:nvSpPr>
          <p:cNvPr id="96" name="Rectangle 95"/>
          <p:cNvSpPr/>
          <p:nvPr/>
        </p:nvSpPr>
        <p:spPr>
          <a:xfrm>
            <a:off x="365760" y="4892040"/>
            <a:ext cx="2926080" cy="310896"/>
          </a:xfrm>
          <a:prstGeom prst="rect">
            <a:avLst/>
          </a:prstGeom>
          <a:solidFill>
            <a:srgbClr val="EAF2FB"/>
          </a:solidFill>
          <a:ln w="6350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429768" y="4946904"/>
            <a:ext cx="283464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</a:rPr>
              <a:t>Naissances récentes</a:t>
            </a:r>
          </a:p>
        </p:txBody>
      </p:sp>
      <p:sp>
        <p:nvSpPr>
          <p:cNvPr id="98" name="Rectangle 97"/>
          <p:cNvSpPr/>
          <p:nvPr/>
        </p:nvSpPr>
        <p:spPr>
          <a:xfrm>
            <a:off x="3337560" y="4892040"/>
            <a:ext cx="1371600" cy="310896"/>
          </a:xfrm>
          <a:prstGeom prst="rect">
            <a:avLst/>
          </a:prstGeom>
          <a:solidFill>
            <a:srgbClr val="EAF2FB"/>
          </a:solidFill>
          <a:ln w="6350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3401568" y="4946904"/>
            <a:ext cx="128016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1A1A2E"/>
                </a:solidFill>
              </a:rPr>
              <a:t>Khi-deux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4754880" y="4892040"/>
            <a:ext cx="1371600" cy="310896"/>
          </a:xfrm>
          <a:prstGeom prst="rect">
            <a:avLst/>
          </a:prstGeom>
          <a:solidFill>
            <a:srgbClr val="EAF2FB"/>
          </a:solidFill>
          <a:ln w="6350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4818888" y="4946904"/>
            <a:ext cx="128016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1A1A2E"/>
                </a:solidFill>
              </a:rPr>
              <a:t>&lt; 0,001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6172200" y="4892040"/>
            <a:ext cx="1280160" cy="310896"/>
          </a:xfrm>
          <a:prstGeom prst="rect">
            <a:avLst/>
          </a:prstGeom>
          <a:solidFill>
            <a:srgbClr val="EAF2FB"/>
          </a:solidFill>
          <a:ln w="6350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6236208" y="4946904"/>
            <a:ext cx="118872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27AE60"/>
                </a:solidFill>
              </a:rPr>
              <a:t>***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365760" y="5202936"/>
            <a:ext cx="2926080" cy="310896"/>
          </a:xfrm>
          <a:prstGeom prst="rect">
            <a:avLst/>
          </a:prstGeom>
          <a:solidFill>
            <a:srgbClr val="FFFFFF"/>
          </a:solidFill>
          <a:ln w="6350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429768" y="5257800"/>
            <a:ext cx="283464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</a:rPr>
              <a:t>Religion</a:t>
            </a:r>
          </a:p>
        </p:txBody>
      </p:sp>
      <p:sp>
        <p:nvSpPr>
          <p:cNvPr id="106" name="Rectangle 105"/>
          <p:cNvSpPr/>
          <p:nvPr/>
        </p:nvSpPr>
        <p:spPr>
          <a:xfrm>
            <a:off x="3337560" y="5202936"/>
            <a:ext cx="1371600" cy="310896"/>
          </a:xfrm>
          <a:prstGeom prst="rect">
            <a:avLst/>
          </a:prstGeom>
          <a:solidFill>
            <a:srgbClr val="FFFFFF"/>
          </a:solidFill>
          <a:ln w="6350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3401568" y="5257800"/>
            <a:ext cx="128016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1A1A2E"/>
                </a:solidFill>
              </a:rPr>
              <a:t>Khi-deux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4754880" y="5202936"/>
            <a:ext cx="1371600" cy="310896"/>
          </a:xfrm>
          <a:prstGeom prst="rect">
            <a:avLst/>
          </a:prstGeom>
          <a:solidFill>
            <a:srgbClr val="FFFFFF"/>
          </a:solidFill>
          <a:ln w="6350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4818888" y="5257800"/>
            <a:ext cx="128016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1A1A2E"/>
                </a:solidFill>
              </a:rPr>
              <a:t>0,002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6172200" y="5202936"/>
            <a:ext cx="1280160" cy="310896"/>
          </a:xfrm>
          <a:prstGeom prst="rect">
            <a:avLst/>
          </a:prstGeom>
          <a:solidFill>
            <a:srgbClr val="FFFFFF"/>
          </a:solidFill>
          <a:ln w="6350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6236208" y="5257800"/>
            <a:ext cx="118872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39C12"/>
                </a:solidFill>
              </a:rPr>
              <a:t>**</a:t>
            </a:r>
          </a:p>
        </p:txBody>
      </p:sp>
      <p:sp>
        <p:nvSpPr>
          <p:cNvPr id="112" name="Rectangle 111"/>
          <p:cNvSpPr/>
          <p:nvPr/>
        </p:nvSpPr>
        <p:spPr>
          <a:xfrm>
            <a:off x="365760" y="5513832"/>
            <a:ext cx="2926080" cy="310896"/>
          </a:xfrm>
          <a:prstGeom prst="rect">
            <a:avLst/>
          </a:prstGeom>
          <a:solidFill>
            <a:srgbClr val="EAF2FB"/>
          </a:solidFill>
          <a:ln w="6350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TextBox 112"/>
          <p:cNvSpPr txBox="1"/>
          <p:nvPr/>
        </p:nvSpPr>
        <p:spPr>
          <a:xfrm>
            <a:off x="429768" y="5568696"/>
            <a:ext cx="283464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</a:rPr>
              <a:t>Consultation soins</a:t>
            </a:r>
          </a:p>
        </p:txBody>
      </p:sp>
      <p:sp>
        <p:nvSpPr>
          <p:cNvPr id="114" name="Rectangle 113"/>
          <p:cNvSpPr/>
          <p:nvPr/>
        </p:nvSpPr>
        <p:spPr>
          <a:xfrm>
            <a:off x="3337560" y="5513832"/>
            <a:ext cx="1371600" cy="310896"/>
          </a:xfrm>
          <a:prstGeom prst="rect">
            <a:avLst/>
          </a:prstGeom>
          <a:solidFill>
            <a:srgbClr val="EAF2FB"/>
          </a:solidFill>
          <a:ln w="6350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TextBox 114"/>
          <p:cNvSpPr txBox="1"/>
          <p:nvPr/>
        </p:nvSpPr>
        <p:spPr>
          <a:xfrm>
            <a:off x="3401568" y="5568696"/>
            <a:ext cx="128016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1A1A2E"/>
                </a:solidFill>
              </a:rPr>
              <a:t>Khi-deux</a:t>
            </a:r>
          </a:p>
        </p:txBody>
      </p:sp>
      <p:sp>
        <p:nvSpPr>
          <p:cNvPr id="116" name="Rectangle 115"/>
          <p:cNvSpPr/>
          <p:nvPr/>
        </p:nvSpPr>
        <p:spPr>
          <a:xfrm>
            <a:off x="4754880" y="5513832"/>
            <a:ext cx="1371600" cy="310896"/>
          </a:xfrm>
          <a:prstGeom prst="rect">
            <a:avLst/>
          </a:prstGeom>
          <a:solidFill>
            <a:srgbClr val="EAF2FB"/>
          </a:solidFill>
          <a:ln w="6350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TextBox 116"/>
          <p:cNvSpPr txBox="1"/>
          <p:nvPr/>
        </p:nvSpPr>
        <p:spPr>
          <a:xfrm>
            <a:off x="4818888" y="5568696"/>
            <a:ext cx="128016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1A1A2E"/>
                </a:solidFill>
              </a:rPr>
              <a:t>&lt; 0,001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6172200" y="5513832"/>
            <a:ext cx="1280160" cy="310896"/>
          </a:xfrm>
          <a:prstGeom prst="rect">
            <a:avLst/>
          </a:prstGeom>
          <a:solidFill>
            <a:srgbClr val="EAF2FB"/>
          </a:solidFill>
          <a:ln w="6350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6236208" y="5568696"/>
            <a:ext cx="118872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27AE60"/>
                </a:solidFill>
              </a:rPr>
              <a:t>***</a:t>
            </a:r>
          </a:p>
        </p:txBody>
      </p:sp>
      <p:sp>
        <p:nvSpPr>
          <p:cNvPr id="120" name="Rectangle 119"/>
          <p:cNvSpPr/>
          <p:nvPr/>
        </p:nvSpPr>
        <p:spPr>
          <a:xfrm>
            <a:off x="365760" y="5824728"/>
            <a:ext cx="2926080" cy="310896"/>
          </a:xfrm>
          <a:prstGeom prst="rect">
            <a:avLst/>
          </a:prstGeom>
          <a:solidFill>
            <a:srgbClr val="FFFFFF"/>
          </a:solidFill>
          <a:ln w="6350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TextBox 120"/>
          <p:cNvSpPr txBox="1"/>
          <p:nvPr/>
        </p:nvSpPr>
        <p:spPr>
          <a:xfrm>
            <a:off x="429768" y="5879592"/>
            <a:ext cx="283464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</a:rPr>
              <a:t>Électricité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3337560" y="5824728"/>
            <a:ext cx="1371600" cy="310896"/>
          </a:xfrm>
          <a:prstGeom prst="rect">
            <a:avLst/>
          </a:prstGeom>
          <a:solidFill>
            <a:srgbClr val="FFFFFF"/>
          </a:solidFill>
          <a:ln w="6350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3401568" y="5879592"/>
            <a:ext cx="128016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1A1A2E"/>
                </a:solidFill>
              </a:rPr>
              <a:t>Khi-deux</a:t>
            </a:r>
          </a:p>
        </p:txBody>
      </p:sp>
      <p:sp>
        <p:nvSpPr>
          <p:cNvPr id="124" name="Rectangle 123"/>
          <p:cNvSpPr/>
          <p:nvPr/>
        </p:nvSpPr>
        <p:spPr>
          <a:xfrm>
            <a:off x="4754880" y="5824728"/>
            <a:ext cx="1371600" cy="310896"/>
          </a:xfrm>
          <a:prstGeom prst="rect">
            <a:avLst/>
          </a:prstGeom>
          <a:solidFill>
            <a:srgbClr val="FFFFFF"/>
          </a:solidFill>
          <a:ln w="6350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TextBox 124"/>
          <p:cNvSpPr txBox="1"/>
          <p:nvPr/>
        </p:nvSpPr>
        <p:spPr>
          <a:xfrm>
            <a:off x="4818888" y="5879592"/>
            <a:ext cx="128016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1A1A2E"/>
                </a:solidFill>
              </a:rPr>
              <a:t>&lt; 0,001</a:t>
            </a:r>
          </a:p>
        </p:txBody>
      </p:sp>
      <p:sp>
        <p:nvSpPr>
          <p:cNvPr id="126" name="Rectangle 125"/>
          <p:cNvSpPr/>
          <p:nvPr/>
        </p:nvSpPr>
        <p:spPr>
          <a:xfrm>
            <a:off x="6172200" y="5824728"/>
            <a:ext cx="1280160" cy="310896"/>
          </a:xfrm>
          <a:prstGeom prst="rect">
            <a:avLst/>
          </a:prstGeom>
          <a:solidFill>
            <a:srgbClr val="FFFFFF"/>
          </a:solidFill>
          <a:ln w="6350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TextBox 126"/>
          <p:cNvSpPr txBox="1"/>
          <p:nvPr/>
        </p:nvSpPr>
        <p:spPr>
          <a:xfrm>
            <a:off x="6236208" y="5879592"/>
            <a:ext cx="118872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27AE60"/>
                </a:solidFill>
              </a:rPr>
              <a:t>***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365760" y="6291072"/>
            <a:ext cx="7772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1">
                <a:solidFill>
                  <a:srgbClr val="6C757D"/>
                </a:solidFill>
              </a:rPr>
              <a:t>*** p &lt; 0,001   ** p &lt; 0,01   Toutes les 14 variables sont significativement associées à la mortalité infantile.</a:t>
            </a:r>
          </a:p>
        </p:txBody>
      </p:sp>
      <p:sp>
        <p:nvSpPr>
          <p:cNvPr id="129" name="Rounded Rectangle 128"/>
          <p:cNvSpPr/>
          <p:nvPr/>
        </p:nvSpPr>
        <p:spPr>
          <a:xfrm>
            <a:off x="7726679" y="1417320"/>
            <a:ext cx="4160520" cy="5120640"/>
          </a:xfrm>
          <a:prstGeom prst="roundRect">
            <a:avLst/>
          </a:prstGeom>
          <a:solidFill>
            <a:srgbClr val="EAF2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Rectangle 129"/>
          <p:cNvSpPr/>
          <p:nvPr/>
        </p:nvSpPr>
        <p:spPr>
          <a:xfrm>
            <a:off x="7726679" y="1417320"/>
            <a:ext cx="4160520" cy="54864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7909560" y="1572768"/>
            <a:ext cx="374903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A3A5C"/>
                </a:solidFill>
              </a:rPr>
              <a:t>Principaux résultats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7909560" y="2011680"/>
            <a:ext cx="3749039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1">
                <a:solidFill>
                  <a:srgbClr val="27AE60"/>
                </a:solidFill>
              </a:rPr>
              <a:t>14 / 14 variables significatives (p &lt; 0,05)</a:t>
            </a:r>
          </a:p>
          <a:p>
            <a:pPr algn="l">
              <a:buChar char="▸"/>
            </a:pPr>
            <a:r>
              <a:rPr sz="1050" b="0" i="0">
                <a:solidFill>
                  <a:srgbClr val="1A1A2E"/>
                </a:solidFill>
              </a:rPr>
              <a:t>Variables les plus fortement associées :
  → Éducation, parité, âge 1ère naissance</a:t>
            </a:r>
          </a:p>
          <a:p>
            <a:pPr algn="l">
              <a:buChar char="▸"/>
            </a:pPr>
            <a:r>
              <a:rPr sz="1050" b="0" i="0">
                <a:solidFill>
                  <a:srgbClr val="1A1A2E"/>
                </a:solidFill>
              </a:rPr>
              <a:t>Richesse et région : reflet des inégalités socio-économiques</a:t>
            </a:r>
          </a:p>
          <a:p>
            <a:pPr algn="l">
              <a:buChar char="▸"/>
            </a:pPr>
            <a:r>
              <a:rPr sz="1050" b="0" i="0">
                <a:solidFill>
                  <a:srgbClr val="1A1A2E"/>
                </a:solidFill>
              </a:rPr>
              <a:t>Accès aux soins : fort effet protecteur</a:t>
            </a:r>
          </a:p>
          <a:p>
            <a:pPr algn="l">
              <a:buChar char="▸"/>
            </a:pPr>
            <a:r>
              <a:rPr sz="1050" b="0" i="0">
                <a:solidFill>
                  <a:srgbClr val="1A1A2E"/>
                </a:solidFill>
              </a:rPr>
              <a:t>Fondement pour la régression multivariée</a:t>
            </a:r>
          </a:p>
        </p:txBody>
      </p:sp>
      <p:sp>
        <p:nvSpPr>
          <p:cNvPr id="133" name="Rectangle 132"/>
          <p:cNvSpPr/>
          <p:nvPr/>
        </p:nvSpPr>
        <p:spPr>
          <a:xfrm>
            <a:off x="0" y="6583680"/>
            <a:ext cx="12188952" cy="274320"/>
          </a:xfrm>
          <a:prstGeom prst="rect">
            <a:avLst/>
          </a:prstGeom>
          <a:solidFill>
            <a:srgbClr val="1A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TextBox 133"/>
          <p:cNvSpPr txBox="1"/>
          <p:nvPr/>
        </p:nvSpPr>
        <p:spPr>
          <a:xfrm>
            <a:off x="274320" y="6601968"/>
            <a:ext cx="105156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FFFFFF"/>
                </a:solidFill>
              </a:rPr>
              <a:t>M. Yannick FONO BINDJEME  |  Institut Saint Jean Ingénieur  |  EDS Cameroun 2018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10881360" y="6601968"/>
            <a:ext cx="10972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1" i="0">
                <a:solidFill>
                  <a:srgbClr val="E8C045"/>
                </a:solidFill>
              </a:rPr>
              <a:t>8 / 18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188720"/>
          </a:xfrm>
          <a:prstGeom prst="rect">
            <a:avLst/>
          </a:prstGeom>
          <a:solidFill>
            <a:srgbClr val="1A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88720"/>
            <a:ext cx="12188952" cy="45720"/>
          </a:xfrm>
          <a:prstGeom prst="rect">
            <a:avLst/>
          </a:prstGeom>
          <a:solidFill>
            <a:srgbClr val="E8C0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0515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</a:rPr>
              <a:t>Régression Logistique Pondérée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731520"/>
            <a:ext cx="10058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AEC6E0"/>
                </a:solidFill>
              </a:rPr>
              <a:t>Modélisation statistique tenant compte du plan de sondage complexe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817352" y="201168"/>
            <a:ext cx="1170432" cy="274320"/>
          </a:xfrm>
          <a:prstGeom prst="roundRect">
            <a:avLst/>
          </a:prstGeom>
          <a:solidFill>
            <a:srgbClr val="2C5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817352" y="219456"/>
            <a:ext cx="117043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</a:rPr>
              <a:t>PARTIE I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20040" y="1463040"/>
            <a:ext cx="3794760" cy="1965960"/>
          </a:xfrm>
          <a:prstGeom prst="roundRect">
            <a:avLst/>
          </a:prstGeom>
          <a:solidFill>
            <a:srgbClr val="2C5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1554480"/>
            <a:ext cx="3566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E8C045"/>
                </a:solidFill>
              </a:rPr>
              <a:t>Modèle 1
Sociodémographique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121408"/>
            <a:ext cx="356616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FFFFFF"/>
                </a:solidFill>
              </a:rPr>
              <a:t>Âge, éducation, région, milieu,
richesse, statut matrimonial, religion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87952" y="2011680"/>
            <a:ext cx="274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0">
                <a:solidFill>
                  <a:srgbClr val="E8C045"/>
                </a:solidFill>
              </a:rPr>
              <a:t>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70248" y="1463040"/>
            <a:ext cx="3794760" cy="1965960"/>
          </a:xfrm>
          <a:prstGeom prst="roundRect">
            <a:avLst/>
          </a:prstGeom>
          <a:solidFill>
            <a:srgbClr val="1A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407408" y="1554480"/>
            <a:ext cx="3566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E8C045"/>
                </a:solidFill>
              </a:rPr>
              <a:t>Modèle 2
Sociodémo. + Reproductif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07408" y="2121408"/>
            <a:ext cx="356616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FFFFFF"/>
                </a:solidFill>
              </a:rPr>
              <a:t>Modèle 1 +
Parité, âge 1ère naissance,
naissances récentes, grossesses interrompues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38160" y="2011680"/>
            <a:ext cx="274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0">
                <a:solidFill>
                  <a:srgbClr val="E8C045"/>
                </a:solidFill>
              </a:rPr>
              <a:t>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0456" y="1463040"/>
            <a:ext cx="3794760" cy="1965960"/>
          </a:xfrm>
          <a:prstGeom prst="roundRect">
            <a:avLst/>
          </a:prstGeom>
          <a:solidFill>
            <a:srgbClr val="6B21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57616" y="1554480"/>
            <a:ext cx="3566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E8C045"/>
                </a:solidFill>
              </a:rPr>
              <a:t>Modèle 3 (complet)
Full Model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57616" y="2121408"/>
            <a:ext cx="356616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FFFFFF"/>
                </a:solidFill>
              </a:rPr>
              <a:t>Modèle 2 +
Assurance, consultation, emploi,
électricité, obstacles aux soins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65760" y="3611880"/>
            <a:ext cx="11430000" cy="2606040"/>
          </a:xfrm>
          <a:prstGeom prst="roundRect">
            <a:avLst/>
          </a:prstGeom>
          <a:solidFill>
            <a:srgbClr val="EAF2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365760" y="3611880"/>
            <a:ext cx="11430000" cy="365760"/>
          </a:xfrm>
          <a:prstGeom prst="roundRect">
            <a:avLst/>
          </a:prstGeom>
          <a:solidFill>
            <a:srgbClr val="1A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48640" y="3639312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Paramètres Méthodologiques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" y="4114800"/>
            <a:ext cx="2697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2C5F8A"/>
                </a:solidFill>
              </a:rPr>
              <a:t>Pondération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4462272"/>
            <a:ext cx="269748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>
                <a:solidFill>
                  <a:srgbClr val="1A1A2E"/>
                </a:solidFill>
              </a:rPr>
              <a:t>Poids normalisés : w = V005/10⁶
divisé par la moyenne des poids</a:t>
            </a:r>
          </a:p>
          <a:p>
            <a:pPr algn="l">
              <a:buChar char="▸"/>
            </a:pPr>
            <a:r>
              <a:rPr sz="950" b="0" i="0">
                <a:solidFill>
                  <a:srgbClr val="1A1A2E"/>
                </a:solidFill>
              </a:rPr>
              <a:t>Écart-type robuste (HC1)</a:t>
            </a:r>
          </a:p>
          <a:p>
            <a:pPr algn="l">
              <a:buChar char="▸"/>
            </a:pPr>
            <a:r>
              <a:rPr sz="950" b="0" i="0">
                <a:solidFill>
                  <a:srgbClr val="1A1A2E"/>
                </a:solidFill>
              </a:rPr>
              <a:t>Hypothèse : MCAR sur les poids manquants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429000" y="4114800"/>
            <a:ext cx="2697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2C5F8A"/>
                </a:solidFill>
              </a:rPr>
              <a:t>Qualité du modèle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429000" y="4462272"/>
            <a:ext cx="269748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>
                <a:solidFill>
                  <a:srgbClr val="1A1A2E"/>
                </a:solidFill>
              </a:rPr>
              <a:t>AUC sur données test (25 %)</a:t>
            </a:r>
          </a:p>
          <a:p>
            <a:pPr algn="l">
              <a:buChar char="▸"/>
            </a:pPr>
            <a:r>
              <a:rPr sz="950" b="0" i="0">
                <a:solidFill>
                  <a:srgbClr val="1A1A2E"/>
                </a:solidFill>
              </a:rPr>
              <a:t>Pseudo-R² de McFadden et Nagelkerke</a:t>
            </a:r>
          </a:p>
          <a:p>
            <a:pPr algn="l">
              <a:buChar char="▸"/>
            </a:pPr>
            <a:r>
              <a:rPr sz="950" b="0" i="0">
                <a:solidFill>
                  <a:srgbClr val="1A1A2E"/>
                </a:solidFill>
              </a:rPr>
              <a:t>Test de Hosmer-Lemeshow (calibration)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09359" y="4114800"/>
            <a:ext cx="2697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2C5F8A"/>
                </a:solidFill>
              </a:rPr>
              <a:t>Diagnostic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09359" y="4462272"/>
            <a:ext cx="269748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>
                <a:solidFill>
                  <a:srgbClr val="1A1A2E"/>
                </a:solidFill>
              </a:rPr>
              <a:t>VIF pour toutes les variables
(seuil : VIF &gt; 10 = problématique)</a:t>
            </a:r>
          </a:p>
          <a:p>
            <a:pPr algn="l">
              <a:buChar char="▸"/>
            </a:pPr>
            <a:r>
              <a:rPr sz="950" b="0" i="0">
                <a:solidFill>
                  <a:srgbClr val="1A1A2E"/>
                </a:solidFill>
              </a:rPr>
              <a:t>Aucune multicolinéarité problématique</a:t>
            </a:r>
          </a:p>
          <a:p>
            <a:pPr algn="l">
              <a:buChar char="▸"/>
            </a:pPr>
            <a:r>
              <a:rPr sz="950" b="0" i="0">
                <a:solidFill>
                  <a:srgbClr val="1A1A2E"/>
                </a:solidFill>
              </a:rPr>
              <a:t>Séparation parfaite évitée (sous-groupe mères)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89719" y="4114800"/>
            <a:ext cx="2697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2C5F8A"/>
                </a:solidFill>
              </a:rPr>
              <a:t>Catégories de référence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89719" y="4462272"/>
            <a:ext cx="269748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>
                <a:solidFill>
                  <a:srgbClr val="1A1A2E"/>
                </a:solidFill>
              </a:rPr>
              <a:t>Éducation : Supérieur</a:t>
            </a:r>
          </a:p>
          <a:p>
            <a:pPr algn="l">
              <a:buChar char="▸"/>
            </a:pPr>
            <a:r>
              <a:rPr sz="950" b="0" i="0">
                <a:solidFill>
                  <a:srgbClr val="1A1A2E"/>
                </a:solidFill>
              </a:rPr>
              <a:t>Résidence : Urbain</a:t>
            </a:r>
          </a:p>
          <a:p>
            <a:pPr algn="l">
              <a:buChar char="▸"/>
            </a:pPr>
            <a:r>
              <a:rPr sz="950" b="0" i="0">
                <a:solidFill>
                  <a:srgbClr val="1A1A2E"/>
                </a:solidFill>
              </a:rPr>
              <a:t>Richesse : Très riche</a:t>
            </a:r>
          </a:p>
          <a:p>
            <a:pPr algn="l">
              <a:buChar char="▸"/>
            </a:pPr>
            <a:r>
              <a:rPr sz="950" b="0" i="0">
                <a:solidFill>
                  <a:srgbClr val="1A1A2E"/>
                </a:solidFill>
              </a:rPr>
              <a:t>Âge 1ère naissance : 25 ans et plus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0" y="6583680"/>
            <a:ext cx="12188952" cy="274320"/>
          </a:xfrm>
          <a:prstGeom prst="rect">
            <a:avLst/>
          </a:prstGeom>
          <a:solidFill>
            <a:srgbClr val="1A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74320" y="6601968"/>
            <a:ext cx="105156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FFFFFF"/>
                </a:solidFill>
              </a:rPr>
              <a:t>M. Yannick FONO BINDJEME  |  Institut Saint Jean Ingénieur  |  EDS Cameroun 2018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881360" y="6601968"/>
            <a:ext cx="10972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1" i="0">
                <a:solidFill>
                  <a:srgbClr val="E8C045"/>
                </a:solidFill>
              </a:rPr>
              <a:t>9 / 18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188720"/>
          </a:xfrm>
          <a:prstGeom prst="rect">
            <a:avLst/>
          </a:prstGeom>
          <a:solidFill>
            <a:srgbClr val="1A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88720"/>
            <a:ext cx="12188952" cy="45720"/>
          </a:xfrm>
          <a:prstGeom prst="rect">
            <a:avLst/>
          </a:prstGeom>
          <a:solidFill>
            <a:srgbClr val="E8C0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0515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</a:rPr>
              <a:t>Résultats — Facteurs de Risque et Protecteurs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731520"/>
            <a:ext cx="10058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AEC6E0"/>
                </a:solidFill>
              </a:rPr>
              <a:t>Odds ratios ajustés — Modèle 3 complet — n = 10 494 femmes avec enfants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817352" y="201168"/>
            <a:ext cx="1170432" cy="274320"/>
          </a:xfrm>
          <a:prstGeom prst="roundRect">
            <a:avLst/>
          </a:prstGeom>
          <a:solidFill>
            <a:srgbClr val="2C5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817352" y="219456"/>
            <a:ext cx="117043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</a:rPr>
              <a:t>PARTIE I</a:t>
            </a:r>
          </a:p>
        </p:txBody>
      </p:sp>
      <p:pic>
        <p:nvPicPr>
          <p:cNvPr id="8" name="Picture 7" descr="forest_plot_sta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444752"/>
            <a:ext cx="5349240" cy="512064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5943600" y="1444752"/>
            <a:ext cx="5943600" cy="5120640"/>
          </a:xfrm>
          <a:prstGeom prst="roundRect">
            <a:avLst/>
          </a:prstGeom>
          <a:solidFill>
            <a:srgbClr val="EAF2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943600" y="1444752"/>
            <a:ext cx="5943600" cy="384048"/>
          </a:xfrm>
          <a:prstGeom prst="roundRect">
            <a:avLst/>
          </a:prstGeom>
          <a:solidFill>
            <a:srgbClr val="1A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126480" y="1481328"/>
            <a:ext cx="5577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</a:rPr>
              <a:t>Odds Ratios Ajustés — Résultats Clés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943600" y="1938528"/>
            <a:ext cx="5943600" cy="420624"/>
          </a:xfrm>
          <a:prstGeom prst="rect">
            <a:avLst/>
          </a:prstGeom>
          <a:solidFill>
            <a:srgbClr val="D0D8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080760" y="2011680"/>
            <a:ext cx="55778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E74C3C"/>
                </a:solidFill>
              </a:rPr>
              <a:t>Facteurs de RISQUE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43600" y="2359152"/>
            <a:ext cx="5943600" cy="420624"/>
          </a:xfrm>
          <a:prstGeom prst="rect">
            <a:avLst/>
          </a:prstGeom>
          <a:solidFill>
            <a:srgbClr val="EAF2FB"/>
          </a:solidFill>
          <a:ln w="5080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080760" y="2450592"/>
            <a:ext cx="29260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A1A2E"/>
                </a:solidFill>
              </a:rPr>
              <a:t>Âge 1ère naissance &lt; 18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052560" y="2450592"/>
            <a:ext cx="7315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E74C3C"/>
                </a:solidFill>
              </a:rPr>
              <a:t>5,05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829800" y="2450592"/>
            <a:ext cx="19202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1">
                <a:solidFill>
                  <a:srgbClr val="6C757D"/>
                </a:solidFill>
              </a:rPr>
              <a:t>(4,11 – 6,21)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943600" y="2779776"/>
            <a:ext cx="5943600" cy="420624"/>
          </a:xfrm>
          <a:prstGeom prst="rect">
            <a:avLst/>
          </a:prstGeom>
          <a:solidFill>
            <a:srgbClr val="FFFFFF"/>
          </a:solidFill>
          <a:ln w="5080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080760" y="2871216"/>
            <a:ext cx="29260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A1A2E"/>
                </a:solidFill>
              </a:rPr>
              <a:t>Aucun niveau d'éducation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052560" y="2871216"/>
            <a:ext cx="7315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E74C3C"/>
                </a:solidFill>
              </a:rPr>
              <a:t>2,98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829800" y="2871216"/>
            <a:ext cx="19202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1">
                <a:solidFill>
                  <a:srgbClr val="6C757D"/>
                </a:solidFill>
              </a:rPr>
              <a:t>(2,04 – 4,34)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943600" y="3200400"/>
            <a:ext cx="5943600" cy="420624"/>
          </a:xfrm>
          <a:prstGeom prst="rect">
            <a:avLst/>
          </a:prstGeom>
          <a:solidFill>
            <a:srgbClr val="EAF2FB"/>
          </a:solidFill>
          <a:ln w="5080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080760" y="3291840"/>
            <a:ext cx="29260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A1A2E"/>
                </a:solidFill>
              </a:rPr>
              <a:t>Âge 1ère naissance 18-19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052560" y="3291840"/>
            <a:ext cx="7315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E74C3C"/>
                </a:solidFill>
              </a:rPr>
              <a:t>2,64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829800" y="3291840"/>
            <a:ext cx="19202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1">
                <a:solidFill>
                  <a:srgbClr val="6C757D"/>
                </a:solidFill>
              </a:rPr>
              <a:t>(2,13 – 3,28)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943600" y="3621024"/>
            <a:ext cx="5943600" cy="420624"/>
          </a:xfrm>
          <a:prstGeom prst="rect">
            <a:avLst/>
          </a:prstGeom>
          <a:solidFill>
            <a:srgbClr val="FFFFFF"/>
          </a:solidFill>
          <a:ln w="5080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080760" y="3712464"/>
            <a:ext cx="29260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A1A2E"/>
                </a:solidFill>
              </a:rPr>
              <a:t>Éducation primaire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052560" y="3712464"/>
            <a:ext cx="7315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39C12"/>
                </a:solidFill>
              </a:rPr>
              <a:t>2,30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829800" y="3712464"/>
            <a:ext cx="19202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1">
                <a:solidFill>
                  <a:srgbClr val="6C757D"/>
                </a:solidFill>
              </a:rPr>
              <a:t>(1,61 – 3,29)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943600" y="4041648"/>
            <a:ext cx="5943600" cy="420624"/>
          </a:xfrm>
          <a:prstGeom prst="rect">
            <a:avLst/>
          </a:prstGeom>
          <a:solidFill>
            <a:srgbClr val="EAF2FB"/>
          </a:solidFill>
          <a:ln w="5080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080760" y="4133088"/>
            <a:ext cx="29260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A1A2E"/>
                </a:solidFill>
              </a:rPr>
              <a:t>Éducation secondaire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052560" y="4133088"/>
            <a:ext cx="7315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39C12"/>
                </a:solidFill>
              </a:rPr>
              <a:t>1,49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829800" y="4133088"/>
            <a:ext cx="19202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1">
                <a:solidFill>
                  <a:srgbClr val="6C757D"/>
                </a:solidFill>
              </a:rPr>
              <a:t>(1,05 – 2,11)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943600" y="4462272"/>
            <a:ext cx="5943600" cy="420624"/>
          </a:xfrm>
          <a:prstGeom prst="rect">
            <a:avLst/>
          </a:prstGeom>
          <a:solidFill>
            <a:srgbClr val="D0D8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080760" y="4535424"/>
            <a:ext cx="55778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27AE60"/>
                </a:solidFill>
              </a:rPr>
              <a:t>Facteurs PROTECTEURS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943600" y="4882896"/>
            <a:ext cx="5943600" cy="420624"/>
          </a:xfrm>
          <a:prstGeom prst="rect">
            <a:avLst/>
          </a:prstGeom>
          <a:solidFill>
            <a:srgbClr val="EAF2FB"/>
          </a:solidFill>
          <a:ln w="5080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080760" y="4974336"/>
            <a:ext cx="29260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A1A2E"/>
                </a:solidFill>
              </a:rPr>
              <a:t>Jamais en union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052560" y="4974336"/>
            <a:ext cx="7315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27AE60"/>
                </a:solidFill>
              </a:rPr>
              <a:t>0,69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829800" y="4974336"/>
            <a:ext cx="19202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1">
                <a:solidFill>
                  <a:srgbClr val="6C757D"/>
                </a:solidFill>
              </a:rPr>
              <a:t>(0,55 – 0,85)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943600" y="5303520"/>
            <a:ext cx="5943600" cy="420624"/>
          </a:xfrm>
          <a:prstGeom prst="rect">
            <a:avLst/>
          </a:prstGeom>
          <a:solidFill>
            <a:srgbClr val="FFFFFF"/>
          </a:solidFill>
          <a:ln w="5080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080760" y="5394960"/>
            <a:ext cx="29260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A1A2E"/>
                </a:solidFill>
              </a:rPr>
              <a:t>Emploi actif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052560" y="5394960"/>
            <a:ext cx="7315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27AE60"/>
                </a:solidFill>
              </a:rPr>
              <a:t>0,81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829800" y="5394960"/>
            <a:ext cx="19202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1">
                <a:solidFill>
                  <a:srgbClr val="6C757D"/>
                </a:solidFill>
              </a:rPr>
              <a:t>(0,72 – 0,92)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943600" y="5724144"/>
            <a:ext cx="5943600" cy="420624"/>
          </a:xfrm>
          <a:prstGeom prst="rect">
            <a:avLst/>
          </a:prstGeom>
          <a:solidFill>
            <a:srgbClr val="EAF2FB"/>
          </a:solidFill>
          <a:ln w="5080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080760" y="5815584"/>
            <a:ext cx="29260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A1A2E"/>
                </a:solidFill>
              </a:rPr>
              <a:t>Consultation soins (12 m)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052560" y="5815584"/>
            <a:ext cx="7315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27AE60"/>
                </a:solidFill>
              </a:rPr>
              <a:t>0,77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829800" y="5815584"/>
            <a:ext cx="19202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1">
                <a:solidFill>
                  <a:srgbClr val="6C757D"/>
                </a:solidFill>
              </a:rPr>
              <a:t>(0,68 – 0,86)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5943600" y="5943600"/>
            <a:ext cx="5943600" cy="594360"/>
          </a:xfrm>
          <a:prstGeom prst="roundRect">
            <a:avLst/>
          </a:prstGeom>
          <a:solidFill>
            <a:srgbClr val="1A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126480" y="5989320"/>
            <a:ext cx="55778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E8C045"/>
                </a:solidFill>
              </a:rPr>
              <a:t>AUC du modèle final : 0,87   |   Pseudo-R² Nagelkerke : 0,23   |   Seuil : p &lt; 0,05</a:t>
            </a:r>
          </a:p>
        </p:txBody>
      </p:sp>
      <p:sp>
        <p:nvSpPr>
          <p:cNvPr id="50" name="Rectangle 49"/>
          <p:cNvSpPr/>
          <p:nvPr/>
        </p:nvSpPr>
        <p:spPr>
          <a:xfrm>
            <a:off x="0" y="6583680"/>
            <a:ext cx="12188952" cy="274320"/>
          </a:xfrm>
          <a:prstGeom prst="rect">
            <a:avLst/>
          </a:prstGeom>
          <a:solidFill>
            <a:srgbClr val="1A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274320" y="6601968"/>
            <a:ext cx="105156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FFFFFF"/>
                </a:solidFill>
              </a:rPr>
              <a:t>M. Yannick FONO BINDJEME  |  Institut Saint Jean Ingénieur  |  EDS Cameroun 2018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0881360" y="6601968"/>
            <a:ext cx="10972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1" i="0">
                <a:solidFill>
                  <a:srgbClr val="E8C045"/>
                </a:solidFill>
              </a:rPr>
              <a:t>10 / 18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188720"/>
          </a:xfrm>
          <a:prstGeom prst="rect">
            <a:avLst/>
          </a:prstGeom>
          <a:solidFill>
            <a:srgbClr val="1A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88720"/>
            <a:ext cx="12188952" cy="45720"/>
          </a:xfrm>
          <a:prstGeom prst="rect">
            <a:avLst/>
          </a:prstGeom>
          <a:solidFill>
            <a:srgbClr val="E8C0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0515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</a:rPr>
              <a:t>Performance du Modèle Statistique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731520"/>
            <a:ext cx="10058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AEC6E0"/>
                </a:solidFill>
              </a:rPr>
              <a:t>Courbe ROC et indicateurs de qualité du modèle logistique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817352" y="201168"/>
            <a:ext cx="1170432" cy="274320"/>
          </a:xfrm>
          <a:prstGeom prst="roundRect">
            <a:avLst/>
          </a:prstGeom>
          <a:solidFill>
            <a:srgbClr val="2C5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817352" y="219456"/>
            <a:ext cx="117043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</a:rPr>
              <a:t>PARTIE I</a:t>
            </a:r>
          </a:p>
        </p:txBody>
      </p:sp>
      <p:pic>
        <p:nvPicPr>
          <p:cNvPr id="8" name="Picture 7" descr="roc_curve_sta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417320"/>
            <a:ext cx="5486400" cy="512064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6172200" y="1417320"/>
            <a:ext cx="5669280" cy="5120640"/>
          </a:xfrm>
          <a:prstGeom prst="roundRect">
            <a:avLst/>
          </a:prstGeom>
          <a:solidFill>
            <a:srgbClr val="EAF2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172200" y="1417320"/>
            <a:ext cx="5669280" cy="411480"/>
          </a:xfrm>
          <a:prstGeom prst="roundRect">
            <a:avLst/>
          </a:prstGeom>
          <a:solidFill>
            <a:srgbClr val="2C5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55080" y="1444752"/>
            <a:ext cx="53035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Indicateurs de Qualité du Modèle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309360" y="1993392"/>
            <a:ext cx="5394960" cy="603504"/>
          </a:xfrm>
          <a:prstGeom prst="rect">
            <a:avLst/>
          </a:prstGeom>
          <a:solidFill>
            <a:srgbClr val="FFFFFF"/>
          </a:solidFill>
          <a:ln w="6350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09360" y="1993392"/>
            <a:ext cx="54864" cy="603504"/>
          </a:xfrm>
          <a:prstGeom prst="rect">
            <a:avLst/>
          </a:prstGeom>
          <a:solidFill>
            <a:srgbClr val="2C5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2048256"/>
            <a:ext cx="1920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A3A5C"/>
                </a:solidFill>
              </a:rPr>
              <a:t>AUC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58200" y="2029968"/>
            <a:ext cx="1371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2C5F8A"/>
                </a:solidFill>
              </a:rPr>
              <a:t>0,87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921240" y="2084832"/>
            <a:ext cx="164592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1">
                <a:solidFill>
                  <a:srgbClr val="6C757D"/>
                </a:solidFill>
              </a:rPr>
              <a:t>Discrimination excellente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09360" y="2706624"/>
            <a:ext cx="5394960" cy="603504"/>
          </a:xfrm>
          <a:prstGeom prst="rect">
            <a:avLst/>
          </a:prstGeom>
          <a:solidFill>
            <a:srgbClr val="FFFFFF"/>
          </a:solidFill>
          <a:ln w="6350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309360" y="2706624"/>
            <a:ext cx="54864" cy="603504"/>
          </a:xfrm>
          <a:prstGeom prst="rect">
            <a:avLst/>
          </a:prstGeom>
          <a:solidFill>
            <a:srgbClr val="1A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46520" y="2761488"/>
            <a:ext cx="1920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A3A5C"/>
                </a:solidFill>
              </a:rPr>
              <a:t>Pseudo-R² McFadden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58200" y="2743200"/>
            <a:ext cx="1371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1A3A5C"/>
                </a:solidFill>
              </a:rPr>
              <a:t>0,14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921240" y="2798064"/>
            <a:ext cx="164592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1">
                <a:solidFill>
                  <a:srgbClr val="6C757D"/>
                </a:solidFill>
              </a:rPr>
              <a:t>Contribution relative modérée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309360" y="3419856"/>
            <a:ext cx="5394960" cy="603504"/>
          </a:xfrm>
          <a:prstGeom prst="rect">
            <a:avLst/>
          </a:prstGeom>
          <a:solidFill>
            <a:srgbClr val="FFFFFF"/>
          </a:solidFill>
          <a:ln w="6350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309360" y="3419856"/>
            <a:ext cx="54864" cy="603504"/>
          </a:xfrm>
          <a:prstGeom prst="rect">
            <a:avLst/>
          </a:prstGeom>
          <a:solidFill>
            <a:srgbClr val="2C5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46520" y="3474720"/>
            <a:ext cx="1920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A3A5C"/>
                </a:solidFill>
              </a:rPr>
              <a:t>Pseudo-R² Nagelkerke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458200" y="3456432"/>
            <a:ext cx="1371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2C5F8A"/>
                </a:solidFill>
              </a:rPr>
              <a:t>0,23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921240" y="3511296"/>
            <a:ext cx="164592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1">
                <a:solidFill>
                  <a:srgbClr val="6C757D"/>
                </a:solidFill>
              </a:rPr>
              <a:t>Variance expliquée estimée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309360" y="4133088"/>
            <a:ext cx="5394960" cy="603504"/>
          </a:xfrm>
          <a:prstGeom prst="rect">
            <a:avLst/>
          </a:prstGeom>
          <a:solidFill>
            <a:srgbClr val="FFFFFF"/>
          </a:solidFill>
          <a:ln w="6350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309360" y="4133088"/>
            <a:ext cx="54864" cy="603504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46520" y="4187952"/>
            <a:ext cx="1920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A3A5C"/>
                </a:solidFill>
              </a:rPr>
              <a:t>Log-vraisemblance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458200" y="4169664"/>
            <a:ext cx="1371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27AE60"/>
                </a:solidFill>
              </a:rPr>
              <a:t>Model 3 meilleur
(AIC le plus faible)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921240" y="4224528"/>
            <a:ext cx="164592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1">
                <a:solidFill>
                  <a:srgbClr val="6C757D"/>
                </a:solidFill>
              </a:rPr>
              <a:t>Comparaison modèles emboités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309360" y="4846320"/>
            <a:ext cx="5394960" cy="603504"/>
          </a:xfrm>
          <a:prstGeom prst="rect">
            <a:avLst/>
          </a:prstGeom>
          <a:solidFill>
            <a:srgbClr val="FFFFFF"/>
          </a:solidFill>
          <a:ln w="6350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309360" y="4846320"/>
            <a:ext cx="54864" cy="603504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446520" y="4901184"/>
            <a:ext cx="1920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A3A5C"/>
                </a:solidFill>
              </a:rPr>
              <a:t>VIF max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458200" y="4882896"/>
            <a:ext cx="1371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27AE60"/>
                </a:solidFill>
              </a:rPr>
              <a:t>&lt; 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921240" y="4937760"/>
            <a:ext cx="164592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1">
                <a:solidFill>
                  <a:srgbClr val="6C757D"/>
                </a:solidFill>
              </a:rPr>
              <a:t>Pas de multicolinéarité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309360" y="5559552"/>
            <a:ext cx="5394960" cy="603504"/>
          </a:xfrm>
          <a:prstGeom prst="rect">
            <a:avLst/>
          </a:prstGeom>
          <a:solidFill>
            <a:srgbClr val="FFFFFF"/>
          </a:solidFill>
          <a:ln w="6350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6309360" y="5559552"/>
            <a:ext cx="54864" cy="603504"/>
          </a:xfrm>
          <a:prstGeom prst="rect">
            <a:avLst/>
          </a:prstGeom>
          <a:solidFill>
            <a:srgbClr val="6C75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446520" y="5614416"/>
            <a:ext cx="1920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A3A5C"/>
                </a:solidFill>
              </a:rPr>
              <a:t>Effectif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458200" y="5596128"/>
            <a:ext cx="1371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6C757D"/>
                </a:solidFill>
              </a:rPr>
              <a:t>10 494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921240" y="5650992"/>
            <a:ext cx="164592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1">
                <a:solidFill>
                  <a:srgbClr val="6C757D"/>
                </a:solidFill>
              </a:rPr>
              <a:t>Mères (au moins 1 naissance vivante)</a:t>
            </a:r>
          </a:p>
        </p:txBody>
      </p:sp>
      <p:sp>
        <p:nvSpPr>
          <p:cNvPr id="42" name="Rectangle 41"/>
          <p:cNvSpPr/>
          <p:nvPr/>
        </p:nvSpPr>
        <p:spPr>
          <a:xfrm>
            <a:off x="0" y="6583680"/>
            <a:ext cx="12188952" cy="274320"/>
          </a:xfrm>
          <a:prstGeom prst="rect">
            <a:avLst/>
          </a:prstGeom>
          <a:solidFill>
            <a:srgbClr val="1A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74320" y="6601968"/>
            <a:ext cx="105156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FFFFFF"/>
                </a:solidFill>
              </a:rPr>
              <a:t>M. Yannick FONO BINDJEME  |  Institut Saint Jean Ingénieur  |  EDS Cameroun 2018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881360" y="6601968"/>
            <a:ext cx="10972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1" i="0">
                <a:solidFill>
                  <a:srgbClr val="E8C045"/>
                </a:solidFill>
              </a:rPr>
              <a:t>11 / 18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834640"/>
            <a:ext cx="12188952" cy="1188720"/>
          </a:xfrm>
          <a:prstGeom prst="rect">
            <a:avLst/>
          </a:prstGeom>
          <a:solidFill>
            <a:srgbClr val="2C5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2834640"/>
            <a:ext cx="12188952" cy="54864"/>
          </a:xfrm>
          <a:prstGeom prst="rect">
            <a:avLst/>
          </a:prstGeom>
          <a:solidFill>
            <a:srgbClr val="E8C0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3968496"/>
            <a:ext cx="12188952" cy="54864"/>
          </a:xfrm>
          <a:prstGeom prst="rect">
            <a:avLst/>
          </a:prstGeom>
          <a:solidFill>
            <a:srgbClr val="E8C0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457200"/>
            <a:ext cx="22860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0" b="1" i="0">
                <a:solidFill>
                  <a:srgbClr val="2C5F8A"/>
                </a:solidFill>
              </a:rPr>
              <a:t>II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0" y="2880360"/>
            <a:ext cx="8229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E8C045"/>
                </a:solidFill>
              </a:rPr>
              <a:t>PARTIE II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43200" y="3310128"/>
            <a:ext cx="82296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 i="0">
                <a:solidFill>
                  <a:srgbClr val="FFFFFF"/>
                </a:solidFill>
              </a:rPr>
              <a:t>Machine Learning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43200" y="4069080"/>
            <a:ext cx="89611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AEC6E0"/>
                </a:solidFill>
              </a:rPr>
              <a:t>Pipeline ML  •  Cinq algorithmes  •  Comparaison des performances  •  SHAP  •  Application Streamlit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583680"/>
            <a:ext cx="12188952" cy="274320"/>
          </a:xfrm>
          <a:prstGeom prst="rect">
            <a:avLst/>
          </a:prstGeom>
          <a:solidFill>
            <a:srgbClr val="1A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74320" y="6601968"/>
            <a:ext cx="105156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FFFFFF"/>
                </a:solidFill>
              </a:rPr>
              <a:t>M. Yannick FONO BINDJEME  |  Institut Saint Jean Ingénieur  |  EDS Cameroun 2018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881360" y="6601968"/>
            <a:ext cx="10972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1" i="0">
                <a:solidFill>
                  <a:srgbClr val="E8C045"/>
                </a:solidFill>
              </a:rPr>
              <a:t>12 / 18</a:t>
            </a:r>
          </a:p>
        </p:txBody>
      </p:sp>
    </p:spTree>
  </p:cSld>
  <p:clrMapOvr>
    <a:masterClrMapping/>
  </p:clrMapOvr>
  <p:timing>
    <p:tnLst>
      <p:par>
        <p:cTn id="1" dur="indefinite" restart="whenNotActive" nodeType="tmRoot">
          <p:childTnLst>
            <p:par>
              <p:cTn id="2" fill="hold">
                <p:stCondLst>
                  <p:cond delay="200"/>
                </p:stCondLst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set>
                          <p:cBhvr>
                            <p:cTn id="4" dur="1" fill="hold"/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5" dur="550"/>
                            <p:tgtEl>
                              <p:spTgt spid="7"/>
                            </p:tgtEl>
                          </p:cBhvr>
                        </p:animEffect>
                      </p:childTnLst>
                    </p:cTn>
                  </p:par>
                </p:childTnLst>
              </p:cTn>
            </p:par>
            <p:par>
              <p:cTn id="6" fill="hold">
                <p:stCondLst>
                  <p:cond delay="600"/>
                </p:stCondLst>
                <p:childTnLst>
                  <p:par>
                    <p:cTn id="7" fill="hold">
                      <p:stCondLst>
                        <p:cond delay="0"/>
                      </p:stCondLst>
                      <p:childTnLst>
                        <p:set>
                          <p:cBhvr>
                            <p:cTn id="8" dur="1" fill="hold"/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9" dur="550"/>
                            <p:tgtEl>
                              <p:spTgt spid="8"/>
                            </p:tgtEl>
                          </p:cBhvr>
                        </p:animEffect>
                      </p:childTnLst>
                    </p:cTn>
                  </p:par>
                </p:childTnLst>
              </p:cTn>
            </p:par>
          </p:childTnLst>
        </p:cTn>
      </p:par>
    </p:tnLst>
    <p:bldLst/>
  </p:timing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188720"/>
          </a:xfrm>
          <a:prstGeom prst="rect">
            <a:avLst/>
          </a:prstGeom>
          <a:solidFill>
            <a:srgbClr val="1A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88720"/>
            <a:ext cx="12188952" cy="45720"/>
          </a:xfrm>
          <a:prstGeom prst="rect">
            <a:avLst/>
          </a:prstGeom>
          <a:solidFill>
            <a:srgbClr val="E8C0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0515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</a:rPr>
              <a:t>Pipeline de Prétraitement Machine Learning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731520"/>
            <a:ext cx="10058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AEC6E0"/>
                </a:solidFill>
              </a:rPr>
              <a:t>Traitement différencié selon la nature des variables — Seed fixé à 42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817352" y="201168"/>
            <a:ext cx="1170432" cy="274320"/>
          </a:xfrm>
          <a:prstGeom prst="roundRect">
            <a:avLst/>
          </a:prstGeom>
          <a:solidFill>
            <a:srgbClr val="1A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817352" y="219456"/>
            <a:ext cx="117043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</a:rPr>
              <a:t>PARTIE II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20040" y="1463040"/>
            <a:ext cx="3749039" cy="3291840"/>
          </a:xfrm>
          <a:prstGeom prst="roundRect">
            <a:avLst/>
          </a:prstGeom>
          <a:solidFill>
            <a:srgbClr val="3498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1572768"/>
            <a:ext cx="35204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E8C045"/>
                </a:solidFill>
              </a:rPr>
              <a:t>Variables Numériques
(6 variables)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121408"/>
            <a:ext cx="35204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FFFFFF"/>
                </a:solidFill>
              </a:rPr>
              <a:t>Âge, Nombre d'enfants, Âge 1ère naissance,
Naissances récentes, Grossesses interrompues,
Nombre de membres du ménage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1480" y="3493008"/>
            <a:ext cx="3566160" cy="54864"/>
          </a:xfrm>
          <a:prstGeom prst="rect">
            <a:avLst/>
          </a:prstGeom>
          <a:solidFill>
            <a:srgbClr val="E8C0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200" y="3611880"/>
            <a:ext cx="35204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1">
                <a:solidFill>
                  <a:srgbClr val="AEC6E0"/>
                </a:solidFill>
              </a:rPr>
              <a:t>Imputation → Médiane
Mise à l'échelle → StandardScaler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70248" y="1463040"/>
            <a:ext cx="3749039" cy="3291840"/>
          </a:xfrm>
          <a:prstGeom prst="roundRect">
            <a:avLst/>
          </a:prstGeom>
          <a:solidFill>
            <a:srgbClr val="2C5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407408" y="1572768"/>
            <a:ext cx="35204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E8C045"/>
                </a:solidFill>
              </a:rPr>
              <a:t>Variables Ordinales
(14 variables)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07408" y="2121408"/>
            <a:ext cx="35204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FFFFFF"/>
                </a:solidFill>
              </a:rPr>
              <a:t>Éducation, Richesse, Région, Religion,
Milieu, Statut matrimonial, Emploi,
Assurance, Obstacles aux soins…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61688" y="3493008"/>
            <a:ext cx="3566160" cy="54864"/>
          </a:xfrm>
          <a:prstGeom prst="rect">
            <a:avLst/>
          </a:prstGeom>
          <a:solidFill>
            <a:srgbClr val="E8C0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407408" y="3611880"/>
            <a:ext cx="35204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1">
                <a:solidFill>
                  <a:srgbClr val="AEC6E0"/>
                </a:solidFill>
              </a:rPr>
              <a:t>Imputation → Mode
(catégorie la plus fréquente)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220456" y="1463040"/>
            <a:ext cx="3749039" cy="3291840"/>
          </a:xfrm>
          <a:prstGeom prst="roundRect">
            <a:avLst/>
          </a:prstGeom>
          <a:solidFill>
            <a:srgbClr val="1A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57616" y="1572768"/>
            <a:ext cx="35204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E8C045"/>
                </a:solidFill>
              </a:rPr>
              <a:t>Variables Catégorielles
(2 variables)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57616" y="2121408"/>
            <a:ext cx="35204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FFFFFF"/>
                </a:solidFill>
              </a:rPr>
              <a:t>Électricité, Consultation dans les 12 mois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311896" y="3493008"/>
            <a:ext cx="3566160" cy="54864"/>
          </a:xfrm>
          <a:prstGeom prst="rect">
            <a:avLst/>
          </a:prstGeom>
          <a:solidFill>
            <a:srgbClr val="E8C0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357616" y="3611880"/>
            <a:ext cx="35204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1">
                <a:solidFill>
                  <a:srgbClr val="AEC6E0"/>
                </a:solidFill>
              </a:rPr>
              <a:t>Imputation → Mode
Encodage → OneHotEncoder
handle unknown = ignore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65760" y="4983480"/>
            <a:ext cx="11430000" cy="1508760"/>
          </a:xfrm>
          <a:prstGeom prst="roundRect">
            <a:avLst/>
          </a:prstGeom>
          <a:solidFill>
            <a:srgbClr val="EAF2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365760" y="4983480"/>
            <a:ext cx="11430000" cy="365760"/>
          </a:xfrm>
          <a:prstGeom prst="roundRect">
            <a:avLst/>
          </a:prstGeom>
          <a:solidFill>
            <a:srgbClr val="2C5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48640" y="5010912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Stratégie de Validation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8640" y="5468112"/>
            <a:ext cx="2148840" cy="804672"/>
          </a:xfrm>
          <a:prstGeom prst="roundRect">
            <a:avLst/>
          </a:prstGeom>
          <a:solidFill>
            <a:srgbClr val="1A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58368" y="5504688"/>
            <a:ext cx="1965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</a:rPr>
              <a:t>75 % Entraînement
(11 007 obs.)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2834640" y="5468112"/>
            <a:ext cx="2148840" cy="804672"/>
          </a:xfrm>
          <a:prstGeom prst="roundRect">
            <a:avLst/>
          </a:prstGeom>
          <a:solidFill>
            <a:srgbClr val="2C5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944368" y="5504688"/>
            <a:ext cx="1965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</a:rPr>
              <a:t>25 % Test
(3 670 obs.)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120640" y="5468112"/>
            <a:ext cx="2148840" cy="804672"/>
          </a:xfrm>
          <a:prstGeom prst="roundRect">
            <a:avLst/>
          </a:prstGeom>
          <a:solidFill>
            <a:srgbClr val="3498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230368" y="5504688"/>
            <a:ext cx="1965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</a:rPr>
              <a:t>5 plis stratifiés
(Validation croisée)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406640" y="5468112"/>
            <a:ext cx="2148840" cy="804672"/>
          </a:xfrm>
          <a:prstGeom prst="roundRect">
            <a:avLst/>
          </a:prstGeom>
          <a:solidFill>
            <a:srgbClr val="F39C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516368" y="5504688"/>
            <a:ext cx="1965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</a:rPr>
              <a:t>Classe déséquilibrée
class weight = balanced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9692640" y="5468112"/>
            <a:ext cx="2148840" cy="804672"/>
          </a:xfrm>
          <a:prstGeom prst="round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802368" y="5504688"/>
            <a:ext cx="1965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</a:rPr>
              <a:t>Seuil optimal
maximisant le F1-Score</a:t>
            </a:r>
          </a:p>
        </p:txBody>
      </p:sp>
      <p:sp>
        <p:nvSpPr>
          <p:cNvPr id="36" name="Rectangle 35"/>
          <p:cNvSpPr/>
          <p:nvPr/>
        </p:nvSpPr>
        <p:spPr>
          <a:xfrm>
            <a:off x="0" y="6583680"/>
            <a:ext cx="12188952" cy="274320"/>
          </a:xfrm>
          <a:prstGeom prst="rect">
            <a:avLst/>
          </a:prstGeom>
          <a:solidFill>
            <a:srgbClr val="1A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74320" y="6601968"/>
            <a:ext cx="105156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FFFFFF"/>
                </a:solidFill>
              </a:rPr>
              <a:t>M. Yannick FONO BINDJEME  |  Institut Saint Jean Ingénieur  |  EDS Cameroun 2018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881360" y="6601968"/>
            <a:ext cx="10972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1" i="0">
                <a:solidFill>
                  <a:srgbClr val="E8C045"/>
                </a:solidFill>
              </a:rPr>
              <a:t>13 / 18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188720"/>
          </a:xfrm>
          <a:prstGeom prst="rect">
            <a:avLst/>
          </a:prstGeom>
          <a:solidFill>
            <a:srgbClr val="1A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88720"/>
            <a:ext cx="12188952" cy="45720"/>
          </a:xfrm>
          <a:prstGeom prst="rect">
            <a:avLst/>
          </a:prstGeom>
          <a:solidFill>
            <a:srgbClr val="E8C0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0515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</a:rPr>
              <a:t>Cinq Algorithmes de Machine Learning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731520"/>
            <a:ext cx="10058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AEC6E0"/>
                </a:solidFill>
              </a:rPr>
              <a:t>Comparaison d'approches linéaires et d'ensemble pour la prédiction du risque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817352" y="201168"/>
            <a:ext cx="1170432" cy="274320"/>
          </a:xfrm>
          <a:prstGeom prst="roundRect">
            <a:avLst/>
          </a:prstGeom>
          <a:solidFill>
            <a:srgbClr val="1A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817352" y="219456"/>
            <a:ext cx="117043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</a:rPr>
              <a:t>PARTIE II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20040" y="1463040"/>
            <a:ext cx="2240280" cy="5029200"/>
          </a:xfrm>
          <a:prstGeom prst="roundRect">
            <a:avLst/>
          </a:prstGeom>
          <a:solidFill>
            <a:srgbClr val="EAF2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20040" y="1463040"/>
            <a:ext cx="2240280" cy="54864"/>
          </a:xfrm>
          <a:prstGeom prst="rect">
            <a:avLst/>
          </a:prstGeom>
          <a:solidFill>
            <a:srgbClr val="2C5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1572768"/>
            <a:ext cx="20116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2C5F8A"/>
                </a:solidFill>
              </a:rPr>
              <a:t>Régression
Logistique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874520" y="1536192"/>
            <a:ext cx="502920" cy="502920"/>
          </a:xfrm>
          <a:prstGeom prst="roundRect">
            <a:avLst/>
          </a:prstGeom>
          <a:solidFill>
            <a:srgbClr val="2C5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874520" y="1554480"/>
            <a:ext cx="502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9768" y="2240280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1A3A5C"/>
                </a:solidFill>
              </a:rPr>
              <a:t>Hyperparamètres :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9768" y="2542032"/>
            <a:ext cx="2011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A1A2E"/>
                </a:solidFill>
              </a:rPr>
              <a:t>C = 0,1 | L2
max iter = 500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29768" y="3429000"/>
            <a:ext cx="2011680" cy="27432"/>
          </a:xfrm>
          <a:prstGeom prst="rect">
            <a:avLst/>
          </a:prstGeom>
          <a:solidFill>
            <a:srgbClr val="DEE2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29768" y="3520440"/>
            <a:ext cx="2011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1">
                <a:solidFill>
                  <a:srgbClr val="6C757D"/>
                </a:solidFill>
              </a:rPr>
              <a:t>Référence linéaire
Interprétable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20040" y="4315968"/>
            <a:ext cx="2240280" cy="1920240"/>
          </a:xfrm>
          <a:prstGeom prst="rect">
            <a:avLst/>
          </a:prstGeom>
          <a:solidFill>
            <a:srgbClr val="2C5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11480" y="4370832"/>
            <a:ext cx="2103120" cy="1783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FFFFFF"/>
                </a:solidFill>
              </a:rPr>
              <a:t>Déséquilibre
Y=0 : 75 %  |  Y=1 : 25 %
class weight = balanced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688336" y="1463040"/>
            <a:ext cx="2240280" cy="5029200"/>
          </a:xfrm>
          <a:prstGeom prst="roundRect">
            <a:avLst/>
          </a:prstGeom>
          <a:solidFill>
            <a:srgbClr val="EAF2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2688336" y="1463040"/>
            <a:ext cx="2240280" cy="54864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825496" y="1572768"/>
            <a:ext cx="20116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27AE60"/>
                </a:solidFill>
              </a:rPr>
              <a:t>Random
Forest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242816" y="1536192"/>
            <a:ext cx="502920" cy="502920"/>
          </a:xfrm>
          <a:prstGeom prst="round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242816" y="1554480"/>
            <a:ext cx="502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798064" y="2240280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1A3A5C"/>
                </a:solidFill>
              </a:rPr>
              <a:t>Hyperparamètres :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798064" y="2542032"/>
            <a:ext cx="2011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A1A2E"/>
                </a:solidFill>
              </a:rPr>
              <a:t>200 arbres
max depth = 10
min samples = 10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798064" y="3429000"/>
            <a:ext cx="2011680" cy="27432"/>
          </a:xfrm>
          <a:prstGeom prst="rect">
            <a:avLst/>
          </a:prstGeom>
          <a:solidFill>
            <a:srgbClr val="DEE2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798064" y="3520440"/>
            <a:ext cx="2011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1">
                <a:solidFill>
                  <a:srgbClr val="6C757D"/>
                </a:solidFill>
              </a:rPr>
              <a:t>Ensemble bagging
Variance réduite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688336" y="4315968"/>
            <a:ext cx="2240280" cy="1920240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779776" y="4370832"/>
            <a:ext cx="2103120" cy="1783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FFFFFF"/>
                </a:solidFill>
              </a:rPr>
              <a:t>Déséquilibre
Y=0 : 75 %  |  Y=1 : 25 %
class weight = balanced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056631" y="1463040"/>
            <a:ext cx="2240280" cy="5029200"/>
          </a:xfrm>
          <a:prstGeom prst="roundRect">
            <a:avLst/>
          </a:prstGeom>
          <a:solidFill>
            <a:srgbClr val="EAF2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5056631" y="1463040"/>
            <a:ext cx="2240280" cy="54864"/>
          </a:xfrm>
          <a:prstGeom prst="rect">
            <a:avLst/>
          </a:prstGeom>
          <a:solidFill>
            <a:srgbClr val="F39C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193791" y="1572768"/>
            <a:ext cx="20116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F39C12"/>
                </a:solidFill>
              </a:rPr>
              <a:t>Gradient
Boosting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611111" y="1536192"/>
            <a:ext cx="502920" cy="502920"/>
          </a:xfrm>
          <a:prstGeom prst="roundRect">
            <a:avLst/>
          </a:prstGeom>
          <a:solidFill>
            <a:srgbClr val="F39C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611111" y="1554480"/>
            <a:ext cx="502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166359" y="2240280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1A3A5C"/>
                </a:solidFill>
              </a:rPr>
              <a:t>Hyperparamètres :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166359" y="2542032"/>
            <a:ext cx="2011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A1A2E"/>
                </a:solidFill>
              </a:rPr>
              <a:t>200 estimateurs
lr = 0,05
subsample = 0,8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166359" y="3429000"/>
            <a:ext cx="2011680" cy="27432"/>
          </a:xfrm>
          <a:prstGeom prst="rect">
            <a:avLst/>
          </a:prstGeom>
          <a:solidFill>
            <a:srgbClr val="DEE2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166359" y="3520440"/>
            <a:ext cx="2011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1">
                <a:solidFill>
                  <a:srgbClr val="6C757D"/>
                </a:solidFill>
              </a:rPr>
              <a:t>Boosting séquentiel
Sklearn natif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056631" y="4315968"/>
            <a:ext cx="2240280" cy="1920240"/>
          </a:xfrm>
          <a:prstGeom prst="rect">
            <a:avLst/>
          </a:prstGeom>
          <a:solidFill>
            <a:srgbClr val="F39C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148071" y="4370832"/>
            <a:ext cx="2103120" cy="1783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FFFFFF"/>
                </a:solidFill>
              </a:rPr>
              <a:t>Déséquilibre
Y=0 : 75 %  |  Y=1 : 25 %
class weight = balanced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7424927" y="1463040"/>
            <a:ext cx="2240280" cy="5029200"/>
          </a:xfrm>
          <a:prstGeom prst="roundRect">
            <a:avLst/>
          </a:prstGeom>
          <a:solidFill>
            <a:srgbClr val="EAF2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7424927" y="1463040"/>
            <a:ext cx="2240280" cy="54864"/>
          </a:xfrm>
          <a:prstGeom prst="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562087" y="1572768"/>
            <a:ext cx="20116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E74C3C"/>
                </a:solidFill>
              </a:rPr>
              <a:t>XGBoost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8979407" y="1536192"/>
            <a:ext cx="502920" cy="502920"/>
          </a:xfrm>
          <a:prstGeom prst="round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979407" y="1554480"/>
            <a:ext cx="502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534655" y="2240280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1A3A5C"/>
                </a:solidFill>
              </a:rPr>
              <a:t>Hyperparamètres :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534655" y="2542032"/>
            <a:ext cx="2011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A1A2E"/>
                </a:solidFill>
              </a:rPr>
              <a:t>300 estimateurs
max depth = 5
lr = 0,05</a:t>
            </a:r>
          </a:p>
        </p:txBody>
      </p:sp>
      <p:sp>
        <p:nvSpPr>
          <p:cNvPr id="48" name="Rectangle 47"/>
          <p:cNvSpPr/>
          <p:nvPr/>
        </p:nvSpPr>
        <p:spPr>
          <a:xfrm>
            <a:off x="7534655" y="3429000"/>
            <a:ext cx="2011680" cy="27432"/>
          </a:xfrm>
          <a:prstGeom prst="rect">
            <a:avLst/>
          </a:prstGeom>
          <a:solidFill>
            <a:srgbClr val="DEE2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7534655" y="3520440"/>
            <a:ext cx="2011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1">
                <a:solidFill>
                  <a:srgbClr val="6C757D"/>
                </a:solidFill>
              </a:rPr>
              <a:t>Optimisé GPU/CPU
Meilleur modèle</a:t>
            </a:r>
          </a:p>
        </p:txBody>
      </p:sp>
      <p:sp>
        <p:nvSpPr>
          <p:cNvPr id="50" name="Rectangle 49"/>
          <p:cNvSpPr/>
          <p:nvPr/>
        </p:nvSpPr>
        <p:spPr>
          <a:xfrm>
            <a:off x="7424927" y="4315968"/>
            <a:ext cx="2240280" cy="1920240"/>
          </a:xfrm>
          <a:prstGeom prst="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7516367" y="4370832"/>
            <a:ext cx="2103120" cy="1783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FFFFFF"/>
                </a:solidFill>
              </a:rPr>
              <a:t>Déséquilibre
Y=0 : 75 %  |  Y=1 : 25 %
class weight = balanced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9793224" y="1463040"/>
            <a:ext cx="2240280" cy="5029200"/>
          </a:xfrm>
          <a:prstGeom prst="roundRect">
            <a:avLst/>
          </a:prstGeom>
          <a:solidFill>
            <a:srgbClr val="EAF2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9793224" y="1463040"/>
            <a:ext cx="2240280" cy="54864"/>
          </a:xfrm>
          <a:prstGeom prst="rect">
            <a:avLst/>
          </a:prstGeom>
          <a:solidFill>
            <a:srgbClr val="1A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9930384" y="1572768"/>
            <a:ext cx="20116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1A3A5C"/>
                </a:solidFill>
              </a:rPr>
              <a:t>LightGBM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11347704" y="1536192"/>
            <a:ext cx="502920" cy="502920"/>
          </a:xfrm>
          <a:prstGeom prst="roundRect">
            <a:avLst/>
          </a:prstGeom>
          <a:solidFill>
            <a:srgbClr val="1A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11347704" y="1554480"/>
            <a:ext cx="502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9902952" y="2240280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1A3A5C"/>
                </a:solidFill>
              </a:rPr>
              <a:t>Hyperparamètres :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9902952" y="2542032"/>
            <a:ext cx="2011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A1A2E"/>
                </a:solidFill>
              </a:rPr>
              <a:t>300 estimateurs
croissance feuilles
lr = 0,05</a:t>
            </a:r>
          </a:p>
        </p:txBody>
      </p:sp>
      <p:sp>
        <p:nvSpPr>
          <p:cNvPr id="59" name="Rectangle 58"/>
          <p:cNvSpPr/>
          <p:nvPr/>
        </p:nvSpPr>
        <p:spPr>
          <a:xfrm>
            <a:off x="9902952" y="3429000"/>
            <a:ext cx="2011680" cy="27432"/>
          </a:xfrm>
          <a:prstGeom prst="rect">
            <a:avLst/>
          </a:prstGeom>
          <a:solidFill>
            <a:srgbClr val="DEE2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9902952" y="3520440"/>
            <a:ext cx="2011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1">
                <a:solidFill>
                  <a:srgbClr val="6C757D"/>
                </a:solidFill>
              </a:rPr>
              <a:t>Très rapide
Grandes données</a:t>
            </a:r>
          </a:p>
        </p:txBody>
      </p:sp>
      <p:sp>
        <p:nvSpPr>
          <p:cNvPr id="61" name="Rectangle 60"/>
          <p:cNvSpPr/>
          <p:nvPr/>
        </p:nvSpPr>
        <p:spPr>
          <a:xfrm>
            <a:off x="9793224" y="4315968"/>
            <a:ext cx="2240280" cy="1920240"/>
          </a:xfrm>
          <a:prstGeom prst="rect">
            <a:avLst/>
          </a:prstGeom>
          <a:solidFill>
            <a:srgbClr val="1A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9884664" y="4370832"/>
            <a:ext cx="2103120" cy="1783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FFFFFF"/>
                </a:solidFill>
              </a:rPr>
              <a:t>Déséquilibre
Y=0 : 75 %  |  Y=1 : 25 %
class weight = balanced</a:t>
            </a:r>
          </a:p>
        </p:txBody>
      </p:sp>
      <p:sp>
        <p:nvSpPr>
          <p:cNvPr id="63" name="Rectangle 62"/>
          <p:cNvSpPr/>
          <p:nvPr/>
        </p:nvSpPr>
        <p:spPr>
          <a:xfrm>
            <a:off x="0" y="6583680"/>
            <a:ext cx="12188952" cy="274320"/>
          </a:xfrm>
          <a:prstGeom prst="rect">
            <a:avLst/>
          </a:prstGeom>
          <a:solidFill>
            <a:srgbClr val="1A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274320" y="6601968"/>
            <a:ext cx="105156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FFFFFF"/>
                </a:solidFill>
              </a:rPr>
              <a:t>M. Yannick FONO BINDJEME  |  Institut Saint Jean Ingénieur  |  EDS Cameroun 2018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0881360" y="6601968"/>
            <a:ext cx="10972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1" i="0">
                <a:solidFill>
                  <a:srgbClr val="E8C045"/>
                </a:solidFill>
              </a:rPr>
              <a:t>14 / 18</a:t>
            </a:r>
          </a:p>
        </p:txBody>
      </p:sp>
    </p:spTree>
  </p:cSld>
  <p:clrMapOvr>
    <a:masterClrMapping/>
  </p:clrMapOvr>
  <p:timing>
    <p:tnLst>
      <p:par>
        <p:cTn id="1" dur="indefinite" restart="whenNotActive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/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6" dur="5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200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9" dur="1" fill="hold"/>
                                  <p:tgtEl>
                                    <p:spTgt spid="1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0" dur="550"/>
                                  <p:tgtEl>
                                    <p:spTgt spid="1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200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3" dur="1" fill="hold"/>
                                  <p:tgtEl>
                                    <p:spTgt spid="3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4" dur="550"/>
                                  <p:tgtEl>
                                    <p:spTgt spid="30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200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7" dur="1" fill="hold"/>
                                  <p:tgtEl>
                                    <p:spTgt spid="4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8" dur="550"/>
                                  <p:tgtEl>
                                    <p:spTgt spid="41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200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21" dur="1" fill="hold"/>
                                  <p:tgtEl>
                                    <p:spTgt spid="5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2" dur="550"/>
                                  <p:tgtEl>
                                    <p:spTgt spid="52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Click" delay="0">
                  <p:tn/>
                </p:cond>
              </p:prevCondLst>
              <p:nextCondLst>
                <p:cond evt="onNextClick" delay="0">
                  <p:tn/>
                </p:cond>
              </p:nextCondLst>
            </p:seq>
          </p:childTnLst>
        </p:cTn>
      </p:par>
    </p:tnLst>
    <p:bldLst/>
  </p:timing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188720"/>
          </a:xfrm>
          <a:prstGeom prst="rect">
            <a:avLst/>
          </a:prstGeom>
          <a:solidFill>
            <a:srgbClr val="1A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88720"/>
            <a:ext cx="12188952" cy="45720"/>
          </a:xfrm>
          <a:prstGeom prst="rect">
            <a:avLst/>
          </a:prstGeom>
          <a:solidFill>
            <a:srgbClr val="E8C0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0515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</a:rPr>
              <a:t>Comparaison des Performances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731520"/>
            <a:ext cx="10058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AEC6E0"/>
                </a:solidFill>
              </a:rPr>
              <a:t>Évaluation sur l'ensemble de test (25 %) — 3 670 observations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817352" y="201168"/>
            <a:ext cx="1170432" cy="274320"/>
          </a:xfrm>
          <a:prstGeom prst="roundRect">
            <a:avLst/>
          </a:prstGeom>
          <a:solidFill>
            <a:srgbClr val="1A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817352" y="219456"/>
            <a:ext cx="117043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</a:rPr>
              <a:t>PARTIE II</a:t>
            </a:r>
          </a:p>
        </p:txBody>
      </p:sp>
      <p:pic>
        <p:nvPicPr>
          <p:cNvPr id="8" name="Picture 7" descr="roc_comparison_m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417320"/>
            <a:ext cx="5303520" cy="512064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5989320" y="1417320"/>
            <a:ext cx="5852160" cy="5120640"/>
          </a:xfrm>
          <a:prstGeom prst="roundRect">
            <a:avLst/>
          </a:prstGeom>
          <a:solidFill>
            <a:srgbClr val="EAF2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989320" y="1417320"/>
            <a:ext cx="5852160" cy="384048"/>
          </a:xfrm>
          <a:prstGeom prst="roundRect">
            <a:avLst/>
          </a:prstGeom>
          <a:solidFill>
            <a:srgbClr val="1A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172200" y="1444752"/>
            <a:ext cx="5577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</a:rPr>
              <a:t>Métriques sur l'Ensemble de Test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080760" y="1901952"/>
            <a:ext cx="1645920" cy="347472"/>
          </a:xfrm>
          <a:prstGeom prst="rect">
            <a:avLst/>
          </a:prstGeom>
          <a:solidFill>
            <a:srgbClr val="1A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26480" y="1920240"/>
            <a:ext cx="1572768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</a:rPr>
              <a:t>Modèle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0" y="1901952"/>
            <a:ext cx="822960" cy="347472"/>
          </a:xfrm>
          <a:prstGeom prst="rect">
            <a:avLst/>
          </a:prstGeom>
          <a:solidFill>
            <a:srgbClr val="1A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818120" y="1920240"/>
            <a:ext cx="749808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</a:rPr>
              <a:t>AUC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641080" y="1901952"/>
            <a:ext cx="731520" cy="347472"/>
          </a:xfrm>
          <a:prstGeom prst="rect">
            <a:avLst/>
          </a:prstGeom>
          <a:solidFill>
            <a:srgbClr val="1A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686800" y="1920240"/>
            <a:ext cx="658368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</a:rPr>
              <a:t>F1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418320" y="1901952"/>
            <a:ext cx="777240" cy="347472"/>
          </a:xfrm>
          <a:prstGeom prst="rect">
            <a:avLst/>
          </a:prstGeom>
          <a:solidFill>
            <a:srgbClr val="1A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64040" y="1920240"/>
            <a:ext cx="704088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</a:rPr>
              <a:t>Rappel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0259568" y="1901952"/>
            <a:ext cx="914400" cy="347472"/>
          </a:xfrm>
          <a:prstGeom prst="rect">
            <a:avLst/>
          </a:prstGeom>
          <a:solidFill>
            <a:srgbClr val="1A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305288" y="1920240"/>
            <a:ext cx="841248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</a:rPr>
              <a:t>Précision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080760" y="2249424"/>
            <a:ext cx="1645920" cy="658368"/>
          </a:xfrm>
          <a:prstGeom prst="rect">
            <a:avLst/>
          </a:prstGeom>
          <a:solidFill>
            <a:srgbClr val="EAF2FB"/>
          </a:solidFill>
          <a:ln w="5080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126480" y="2414016"/>
            <a:ext cx="157276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A1A2E"/>
                </a:solidFill>
              </a:rPr>
              <a:t>Régression Log.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772400" y="2249424"/>
            <a:ext cx="822960" cy="658368"/>
          </a:xfrm>
          <a:prstGeom prst="rect">
            <a:avLst/>
          </a:prstGeom>
          <a:solidFill>
            <a:srgbClr val="EAF2FB"/>
          </a:solidFill>
          <a:ln w="5080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818120" y="2414016"/>
            <a:ext cx="74980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0" i="0">
                <a:solidFill>
                  <a:srgbClr val="1A1A2E"/>
                </a:solidFill>
              </a:rPr>
              <a:t>0,874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641080" y="2249424"/>
            <a:ext cx="731520" cy="658368"/>
          </a:xfrm>
          <a:prstGeom prst="rect">
            <a:avLst/>
          </a:prstGeom>
          <a:solidFill>
            <a:srgbClr val="EAF2FB"/>
          </a:solidFill>
          <a:ln w="5080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686800" y="2414016"/>
            <a:ext cx="65836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0" i="0">
                <a:solidFill>
                  <a:srgbClr val="1A1A2E"/>
                </a:solidFill>
              </a:rPr>
              <a:t>0,602</a:t>
            </a:r>
          </a:p>
        </p:txBody>
      </p:sp>
      <p:sp>
        <p:nvSpPr>
          <p:cNvPr id="28" name="Rectangle 27"/>
          <p:cNvSpPr/>
          <p:nvPr/>
        </p:nvSpPr>
        <p:spPr>
          <a:xfrm>
            <a:off x="9418320" y="2249424"/>
            <a:ext cx="777240" cy="658368"/>
          </a:xfrm>
          <a:prstGeom prst="rect">
            <a:avLst/>
          </a:prstGeom>
          <a:solidFill>
            <a:srgbClr val="EAF2FB"/>
          </a:solidFill>
          <a:ln w="5080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464040" y="2414016"/>
            <a:ext cx="70408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0" i="0">
                <a:solidFill>
                  <a:srgbClr val="1A1A2E"/>
                </a:solidFill>
              </a:rPr>
              <a:t>0,738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0259568" y="2249424"/>
            <a:ext cx="914400" cy="658368"/>
          </a:xfrm>
          <a:prstGeom prst="rect">
            <a:avLst/>
          </a:prstGeom>
          <a:solidFill>
            <a:srgbClr val="EAF2FB"/>
          </a:solidFill>
          <a:ln w="5080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305288" y="2414016"/>
            <a:ext cx="84124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0" i="0">
                <a:solidFill>
                  <a:srgbClr val="1A1A2E"/>
                </a:solidFill>
              </a:rPr>
              <a:t>0,508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080760" y="2926080"/>
            <a:ext cx="1645920" cy="658368"/>
          </a:xfrm>
          <a:prstGeom prst="rect">
            <a:avLst/>
          </a:prstGeom>
          <a:solidFill>
            <a:srgbClr val="FFFFFF"/>
          </a:solidFill>
          <a:ln w="5080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126480" y="3090672"/>
            <a:ext cx="157276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A1A2E"/>
                </a:solidFill>
              </a:rPr>
              <a:t>Random Forest</a:t>
            </a:r>
          </a:p>
        </p:txBody>
      </p:sp>
      <p:sp>
        <p:nvSpPr>
          <p:cNvPr id="34" name="Rectangle 33"/>
          <p:cNvSpPr/>
          <p:nvPr/>
        </p:nvSpPr>
        <p:spPr>
          <a:xfrm>
            <a:off x="7772400" y="2926080"/>
            <a:ext cx="822960" cy="658368"/>
          </a:xfrm>
          <a:prstGeom prst="rect">
            <a:avLst/>
          </a:prstGeom>
          <a:solidFill>
            <a:srgbClr val="FFFFFF"/>
          </a:solidFill>
          <a:ln w="5080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818120" y="3090672"/>
            <a:ext cx="74980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0" i="0">
                <a:solidFill>
                  <a:srgbClr val="1A1A2E"/>
                </a:solidFill>
              </a:rPr>
              <a:t>0,874</a:t>
            </a:r>
          </a:p>
        </p:txBody>
      </p:sp>
      <p:sp>
        <p:nvSpPr>
          <p:cNvPr id="36" name="Rectangle 35"/>
          <p:cNvSpPr/>
          <p:nvPr/>
        </p:nvSpPr>
        <p:spPr>
          <a:xfrm>
            <a:off x="8641080" y="2926080"/>
            <a:ext cx="731520" cy="658368"/>
          </a:xfrm>
          <a:prstGeom prst="rect">
            <a:avLst/>
          </a:prstGeom>
          <a:solidFill>
            <a:srgbClr val="FFFFFF"/>
          </a:solidFill>
          <a:ln w="5080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686800" y="3090672"/>
            <a:ext cx="65836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0" i="0">
                <a:solidFill>
                  <a:srgbClr val="1A1A2E"/>
                </a:solidFill>
              </a:rPr>
              <a:t>0,609</a:t>
            </a:r>
          </a:p>
        </p:txBody>
      </p:sp>
      <p:sp>
        <p:nvSpPr>
          <p:cNvPr id="38" name="Rectangle 37"/>
          <p:cNvSpPr/>
          <p:nvPr/>
        </p:nvSpPr>
        <p:spPr>
          <a:xfrm>
            <a:off x="9418320" y="2926080"/>
            <a:ext cx="777240" cy="658368"/>
          </a:xfrm>
          <a:prstGeom prst="rect">
            <a:avLst/>
          </a:prstGeom>
          <a:solidFill>
            <a:srgbClr val="FFFFFF"/>
          </a:solidFill>
          <a:ln w="5080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9464040" y="3090672"/>
            <a:ext cx="70408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0" i="0">
                <a:solidFill>
                  <a:srgbClr val="1A1A2E"/>
                </a:solidFill>
              </a:rPr>
              <a:t>0,711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0259568" y="2926080"/>
            <a:ext cx="914400" cy="658368"/>
          </a:xfrm>
          <a:prstGeom prst="rect">
            <a:avLst/>
          </a:prstGeom>
          <a:solidFill>
            <a:srgbClr val="FFFFFF"/>
          </a:solidFill>
          <a:ln w="5080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0305288" y="3090672"/>
            <a:ext cx="84124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0" i="0">
                <a:solidFill>
                  <a:srgbClr val="1A1A2E"/>
                </a:solidFill>
              </a:rPr>
              <a:t>0,532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080760" y="3602736"/>
            <a:ext cx="1645920" cy="658368"/>
          </a:xfrm>
          <a:prstGeom prst="rect">
            <a:avLst/>
          </a:prstGeom>
          <a:solidFill>
            <a:srgbClr val="EAF2FB"/>
          </a:solidFill>
          <a:ln w="5080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126480" y="3767328"/>
            <a:ext cx="157276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A1A2E"/>
                </a:solidFill>
              </a:rPr>
              <a:t>Gradient Boosting</a:t>
            </a:r>
          </a:p>
        </p:txBody>
      </p:sp>
      <p:sp>
        <p:nvSpPr>
          <p:cNvPr id="44" name="Rectangle 43"/>
          <p:cNvSpPr/>
          <p:nvPr/>
        </p:nvSpPr>
        <p:spPr>
          <a:xfrm>
            <a:off x="7772400" y="3602736"/>
            <a:ext cx="822960" cy="658368"/>
          </a:xfrm>
          <a:prstGeom prst="rect">
            <a:avLst/>
          </a:prstGeom>
          <a:solidFill>
            <a:srgbClr val="EAF2FB"/>
          </a:solidFill>
          <a:ln w="5080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7818120" y="3767328"/>
            <a:ext cx="74980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0" i="0">
                <a:solidFill>
                  <a:srgbClr val="1A1A2E"/>
                </a:solidFill>
              </a:rPr>
              <a:t>0,887</a:t>
            </a:r>
          </a:p>
        </p:txBody>
      </p:sp>
      <p:sp>
        <p:nvSpPr>
          <p:cNvPr id="46" name="Rectangle 45"/>
          <p:cNvSpPr/>
          <p:nvPr/>
        </p:nvSpPr>
        <p:spPr>
          <a:xfrm>
            <a:off x="8641080" y="3602736"/>
            <a:ext cx="731520" cy="658368"/>
          </a:xfrm>
          <a:prstGeom prst="rect">
            <a:avLst/>
          </a:prstGeom>
          <a:solidFill>
            <a:srgbClr val="EAF2FB"/>
          </a:solidFill>
          <a:ln w="5080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8686800" y="3767328"/>
            <a:ext cx="65836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0" i="0">
                <a:solidFill>
                  <a:srgbClr val="1A1A2E"/>
                </a:solidFill>
              </a:rPr>
              <a:t>0,635</a:t>
            </a:r>
          </a:p>
        </p:txBody>
      </p:sp>
      <p:sp>
        <p:nvSpPr>
          <p:cNvPr id="48" name="Rectangle 47"/>
          <p:cNvSpPr/>
          <p:nvPr/>
        </p:nvSpPr>
        <p:spPr>
          <a:xfrm>
            <a:off x="9418320" y="3602736"/>
            <a:ext cx="777240" cy="658368"/>
          </a:xfrm>
          <a:prstGeom prst="rect">
            <a:avLst/>
          </a:prstGeom>
          <a:solidFill>
            <a:srgbClr val="EAF2FB"/>
          </a:solidFill>
          <a:ln w="5080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9464040" y="3767328"/>
            <a:ext cx="70408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0" i="0">
                <a:solidFill>
                  <a:srgbClr val="1A1A2E"/>
                </a:solidFill>
              </a:rPr>
              <a:t>0,695</a:t>
            </a:r>
          </a:p>
        </p:txBody>
      </p:sp>
      <p:sp>
        <p:nvSpPr>
          <p:cNvPr id="50" name="Rectangle 49"/>
          <p:cNvSpPr/>
          <p:nvPr/>
        </p:nvSpPr>
        <p:spPr>
          <a:xfrm>
            <a:off x="10259568" y="3602736"/>
            <a:ext cx="914400" cy="658368"/>
          </a:xfrm>
          <a:prstGeom prst="rect">
            <a:avLst/>
          </a:prstGeom>
          <a:solidFill>
            <a:srgbClr val="EAF2FB"/>
          </a:solidFill>
          <a:ln w="5080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10305288" y="3767328"/>
            <a:ext cx="84124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0" i="0">
                <a:solidFill>
                  <a:srgbClr val="1A1A2E"/>
                </a:solidFill>
              </a:rPr>
              <a:t>0,584</a:t>
            </a:r>
          </a:p>
        </p:txBody>
      </p:sp>
      <p:sp>
        <p:nvSpPr>
          <p:cNvPr id="52" name="Rectangle 51"/>
          <p:cNvSpPr/>
          <p:nvPr/>
        </p:nvSpPr>
        <p:spPr>
          <a:xfrm>
            <a:off x="6080760" y="4279392"/>
            <a:ext cx="1645920" cy="658368"/>
          </a:xfrm>
          <a:prstGeom prst="rect">
            <a:avLst/>
          </a:prstGeom>
          <a:solidFill>
            <a:srgbClr val="D4EDDA"/>
          </a:solidFill>
          <a:ln w="5080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6126480" y="4443984"/>
            <a:ext cx="157276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A1A2E"/>
                </a:solidFill>
              </a:rPr>
              <a:t>XGBoost</a:t>
            </a:r>
          </a:p>
        </p:txBody>
      </p:sp>
      <p:sp>
        <p:nvSpPr>
          <p:cNvPr id="54" name="Rectangle 53"/>
          <p:cNvSpPr/>
          <p:nvPr/>
        </p:nvSpPr>
        <p:spPr>
          <a:xfrm>
            <a:off x="7772400" y="4279392"/>
            <a:ext cx="822960" cy="658368"/>
          </a:xfrm>
          <a:prstGeom prst="rect">
            <a:avLst/>
          </a:prstGeom>
          <a:solidFill>
            <a:srgbClr val="D4EDDA"/>
          </a:solidFill>
          <a:ln w="5080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7818120" y="4443984"/>
            <a:ext cx="74980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1" i="0">
                <a:solidFill>
                  <a:srgbClr val="E74C3C"/>
                </a:solidFill>
              </a:rPr>
              <a:t>0,889</a:t>
            </a:r>
          </a:p>
        </p:txBody>
      </p:sp>
      <p:sp>
        <p:nvSpPr>
          <p:cNvPr id="56" name="Rectangle 55"/>
          <p:cNvSpPr/>
          <p:nvPr/>
        </p:nvSpPr>
        <p:spPr>
          <a:xfrm>
            <a:off x="8641080" y="4279392"/>
            <a:ext cx="731520" cy="658368"/>
          </a:xfrm>
          <a:prstGeom prst="rect">
            <a:avLst/>
          </a:prstGeom>
          <a:solidFill>
            <a:srgbClr val="D4EDDA"/>
          </a:solidFill>
          <a:ln w="5080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8686800" y="4443984"/>
            <a:ext cx="65836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1" i="0">
                <a:solidFill>
                  <a:srgbClr val="E74C3C"/>
                </a:solidFill>
              </a:rPr>
              <a:t>0,642</a:t>
            </a:r>
          </a:p>
        </p:txBody>
      </p:sp>
      <p:sp>
        <p:nvSpPr>
          <p:cNvPr id="58" name="Rectangle 57"/>
          <p:cNvSpPr/>
          <p:nvPr/>
        </p:nvSpPr>
        <p:spPr>
          <a:xfrm>
            <a:off x="9418320" y="4279392"/>
            <a:ext cx="777240" cy="658368"/>
          </a:xfrm>
          <a:prstGeom prst="rect">
            <a:avLst/>
          </a:prstGeom>
          <a:solidFill>
            <a:srgbClr val="D4EDDA"/>
          </a:solidFill>
          <a:ln w="5080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9464040" y="4443984"/>
            <a:ext cx="70408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0" i="0">
                <a:solidFill>
                  <a:srgbClr val="E74C3C"/>
                </a:solidFill>
              </a:rPr>
              <a:t>0,720</a:t>
            </a:r>
          </a:p>
        </p:txBody>
      </p:sp>
      <p:sp>
        <p:nvSpPr>
          <p:cNvPr id="60" name="Rectangle 59"/>
          <p:cNvSpPr/>
          <p:nvPr/>
        </p:nvSpPr>
        <p:spPr>
          <a:xfrm>
            <a:off x="10259568" y="4279392"/>
            <a:ext cx="914400" cy="658368"/>
          </a:xfrm>
          <a:prstGeom prst="rect">
            <a:avLst/>
          </a:prstGeom>
          <a:solidFill>
            <a:srgbClr val="D4EDDA"/>
          </a:solidFill>
          <a:ln w="5080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10305288" y="4443984"/>
            <a:ext cx="84124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0" i="0">
                <a:solidFill>
                  <a:srgbClr val="E74C3C"/>
                </a:solidFill>
              </a:rPr>
              <a:t>0,580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1219688" y="4462272"/>
            <a:ext cx="822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27AE60"/>
                </a:solidFill>
              </a:rPr>
              <a:t>★ MEILLEUR</a:t>
            </a:r>
          </a:p>
        </p:txBody>
      </p:sp>
      <p:sp>
        <p:nvSpPr>
          <p:cNvPr id="63" name="Rectangle 62"/>
          <p:cNvSpPr/>
          <p:nvPr/>
        </p:nvSpPr>
        <p:spPr>
          <a:xfrm>
            <a:off x="6080760" y="4956048"/>
            <a:ext cx="1645920" cy="658368"/>
          </a:xfrm>
          <a:prstGeom prst="rect">
            <a:avLst/>
          </a:prstGeom>
          <a:solidFill>
            <a:srgbClr val="EAF2FB"/>
          </a:solidFill>
          <a:ln w="5080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6126480" y="5120640"/>
            <a:ext cx="157276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A1A2E"/>
                </a:solidFill>
              </a:rPr>
              <a:t>LightGBM</a:t>
            </a:r>
          </a:p>
        </p:txBody>
      </p:sp>
      <p:sp>
        <p:nvSpPr>
          <p:cNvPr id="65" name="Rectangle 64"/>
          <p:cNvSpPr/>
          <p:nvPr/>
        </p:nvSpPr>
        <p:spPr>
          <a:xfrm>
            <a:off x="7772400" y="4956048"/>
            <a:ext cx="822960" cy="658368"/>
          </a:xfrm>
          <a:prstGeom prst="rect">
            <a:avLst/>
          </a:prstGeom>
          <a:solidFill>
            <a:srgbClr val="EAF2FB"/>
          </a:solidFill>
          <a:ln w="5080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7818120" y="5120640"/>
            <a:ext cx="74980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0" i="0">
                <a:solidFill>
                  <a:srgbClr val="1A1A2E"/>
                </a:solidFill>
              </a:rPr>
              <a:t>0,888</a:t>
            </a:r>
          </a:p>
        </p:txBody>
      </p:sp>
      <p:sp>
        <p:nvSpPr>
          <p:cNvPr id="67" name="Rectangle 66"/>
          <p:cNvSpPr/>
          <p:nvPr/>
        </p:nvSpPr>
        <p:spPr>
          <a:xfrm>
            <a:off x="8641080" y="4956048"/>
            <a:ext cx="731520" cy="658368"/>
          </a:xfrm>
          <a:prstGeom prst="rect">
            <a:avLst/>
          </a:prstGeom>
          <a:solidFill>
            <a:srgbClr val="EAF2FB"/>
          </a:solidFill>
          <a:ln w="5080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8686800" y="5120640"/>
            <a:ext cx="65836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0" i="0">
                <a:solidFill>
                  <a:srgbClr val="1A1A2E"/>
                </a:solidFill>
              </a:rPr>
              <a:t>0,637</a:t>
            </a:r>
          </a:p>
        </p:txBody>
      </p:sp>
      <p:sp>
        <p:nvSpPr>
          <p:cNvPr id="69" name="Rectangle 68"/>
          <p:cNvSpPr/>
          <p:nvPr/>
        </p:nvSpPr>
        <p:spPr>
          <a:xfrm>
            <a:off x="9418320" y="4956048"/>
            <a:ext cx="777240" cy="658368"/>
          </a:xfrm>
          <a:prstGeom prst="rect">
            <a:avLst/>
          </a:prstGeom>
          <a:solidFill>
            <a:srgbClr val="EAF2FB"/>
          </a:solidFill>
          <a:ln w="5080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9464040" y="5120640"/>
            <a:ext cx="70408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0" i="0">
                <a:solidFill>
                  <a:srgbClr val="1A1A2E"/>
                </a:solidFill>
              </a:rPr>
              <a:t>0,748</a:t>
            </a:r>
          </a:p>
        </p:txBody>
      </p:sp>
      <p:sp>
        <p:nvSpPr>
          <p:cNvPr id="71" name="Rectangle 70"/>
          <p:cNvSpPr/>
          <p:nvPr/>
        </p:nvSpPr>
        <p:spPr>
          <a:xfrm>
            <a:off x="10259568" y="4956048"/>
            <a:ext cx="914400" cy="658368"/>
          </a:xfrm>
          <a:prstGeom prst="rect">
            <a:avLst/>
          </a:prstGeom>
          <a:solidFill>
            <a:srgbClr val="EAF2FB"/>
          </a:solidFill>
          <a:ln w="5080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10305288" y="5120640"/>
            <a:ext cx="84124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0" i="0">
                <a:solidFill>
                  <a:srgbClr val="1A1A2E"/>
                </a:solidFill>
              </a:rPr>
              <a:t>0,554</a:t>
            </a:r>
          </a:p>
        </p:txBody>
      </p:sp>
      <p:sp>
        <p:nvSpPr>
          <p:cNvPr id="73" name="Rectangle 72"/>
          <p:cNvSpPr/>
          <p:nvPr/>
        </p:nvSpPr>
        <p:spPr>
          <a:xfrm>
            <a:off x="0" y="6583680"/>
            <a:ext cx="12188952" cy="274320"/>
          </a:xfrm>
          <a:prstGeom prst="rect">
            <a:avLst/>
          </a:prstGeom>
          <a:solidFill>
            <a:srgbClr val="1A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274320" y="6601968"/>
            <a:ext cx="105156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FFFFFF"/>
                </a:solidFill>
              </a:rPr>
              <a:t>M. Yannick FONO BINDJEME  |  Institut Saint Jean Ingénieur  |  EDS Cameroun 2018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881360" y="6601968"/>
            <a:ext cx="10972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1" i="0">
                <a:solidFill>
                  <a:srgbClr val="E8C045"/>
                </a:solidFill>
              </a:rPr>
              <a:t>15 / 18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188720"/>
          </a:xfrm>
          <a:prstGeom prst="rect">
            <a:avLst/>
          </a:prstGeom>
          <a:solidFill>
            <a:srgbClr val="1A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88720"/>
            <a:ext cx="12188952" cy="45720"/>
          </a:xfrm>
          <a:prstGeom prst="rect">
            <a:avLst/>
          </a:prstGeom>
          <a:solidFill>
            <a:srgbClr val="E8C0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0515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</a:rPr>
              <a:t>Modèle Champion — XGBoost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731520"/>
            <a:ext cx="10058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AEC6E0"/>
                </a:solidFill>
              </a:rPr>
              <a:t>Importance des variables et interprétabilité via SHAP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817352" y="201168"/>
            <a:ext cx="1170432" cy="274320"/>
          </a:xfrm>
          <a:prstGeom prst="roundRect">
            <a:avLst/>
          </a:prstGeom>
          <a:solidFill>
            <a:srgbClr val="1A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817352" y="219456"/>
            <a:ext cx="117043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</a:rPr>
              <a:t>PARTIE II</a:t>
            </a:r>
          </a:p>
        </p:txBody>
      </p:sp>
      <p:pic>
        <p:nvPicPr>
          <p:cNvPr id="8" name="Picture 7" descr="shap_importance_XGBoo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417320"/>
            <a:ext cx="5669280" cy="5120640"/>
          </a:xfrm>
          <a:prstGeom prst="rect">
            <a:avLst/>
          </a:prstGeom>
        </p:spPr>
      </p:pic>
      <p:pic>
        <p:nvPicPr>
          <p:cNvPr id="9" name="Picture 8" descr="feature_importance_XGBoos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1417320"/>
            <a:ext cx="2743200" cy="2468880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6217920" y="4133087"/>
            <a:ext cx="1325880" cy="822960"/>
          </a:xfrm>
          <a:prstGeom prst="round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81928" y="4169663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</a:rPr>
              <a:t>AUC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81928" y="4407408"/>
            <a:ext cx="123444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E8C045"/>
                </a:solidFill>
              </a:rPr>
              <a:t>0,889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644383" y="4133087"/>
            <a:ext cx="1325880" cy="822960"/>
          </a:xfrm>
          <a:prstGeom prst="roundRect">
            <a:avLst/>
          </a:prstGeom>
          <a:solidFill>
            <a:srgbClr val="2C5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08391" y="4169663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</a:rPr>
              <a:t>F1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08391" y="4407408"/>
            <a:ext cx="123444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E8C045"/>
                </a:solidFill>
              </a:rPr>
              <a:t>0,642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0848" y="4133087"/>
            <a:ext cx="1325880" cy="822960"/>
          </a:xfrm>
          <a:prstGeom prst="roundRect">
            <a:avLst/>
          </a:prstGeom>
          <a:solidFill>
            <a:srgbClr val="1A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34856" y="4169663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</a:rPr>
              <a:t>Rappel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34856" y="4407408"/>
            <a:ext cx="123444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E8C045"/>
                </a:solidFill>
              </a:rPr>
              <a:t>0,720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0497312" y="4133087"/>
            <a:ext cx="1325880" cy="822960"/>
          </a:xfrm>
          <a:prstGeom prst="roundRect">
            <a:avLst/>
          </a:prstGeom>
          <a:solidFill>
            <a:srgbClr val="F39C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561320" y="4169663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</a:rPr>
              <a:t>Précision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561320" y="4407408"/>
            <a:ext cx="123444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E8C045"/>
                </a:solidFill>
              </a:rPr>
              <a:t>0,580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17920" y="5102352"/>
            <a:ext cx="5577840" cy="1417320"/>
          </a:xfrm>
          <a:prstGeom prst="roundRect">
            <a:avLst/>
          </a:prstGeom>
          <a:solidFill>
            <a:srgbClr val="EAF2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6217920" y="5102352"/>
            <a:ext cx="5577840" cy="347472"/>
          </a:xfrm>
          <a:prstGeom prst="roundRect">
            <a:avLst/>
          </a:prstGeom>
          <a:solidFill>
            <a:srgbClr val="1A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00800" y="5129784"/>
            <a:ext cx="53035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Top Variables Prédictives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55080" y="5532120"/>
            <a:ext cx="34747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A1A2E"/>
                </a:solidFill>
              </a:rPr>
              <a:t>Nombre d'enfants nés vivants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921240" y="5550408"/>
            <a:ext cx="1737360" cy="146304"/>
          </a:xfrm>
          <a:prstGeom prst="rect">
            <a:avLst/>
          </a:prstGeom>
          <a:solidFill>
            <a:srgbClr val="DEE2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9921240" y="5550408"/>
            <a:ext cx="1605320" cy="146304"/>
          </a:xfrm>
          <a:prstGeom prst="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1722608" y="5532120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1" i="0">
                <a:solidFill>
                  <a:srgbClr val="E74C3C"/>
                </a:solidFill>
              </a:rPr>
              <a:t>23,1 %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55080" y="5715000"/>
            <a:ext cx="34747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A1A2E"/>
                </a:solidFill>
              </a:rPr>
              <a:t>Âge de la femme</a:t>
            </a:r>
          </a:p>
        </p:txBody>
      </p:sp>
      <p:sp>
        <p:nvSpPr>
          <p:cNvPr id="30" name="Rectangle 29"/>
          <p:cNvSpPr/>
          <p:nvPr/>
        </p:nvSpPr>
        <p:spPr>
          <a:xfrm>
            <a:off x="9921240" y="5733288"/>
            <a:ext cx="1737360" cy="146304"/>
          </a:xfrm>
          <a:prstGeom prst="rect">
            <a:avLst/>
          </a:prstGeom>
          <a:solidFill>
            <a:srgbClr val="DEE2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9921240" y="5733288"/>
            <a:ext cx="291876" cy="146304"/>
          </a:xfrm>
          <a:prstGeom prst="rect">
            <a:avLst/>
          </a:prstGeom>
          <a:solidFill>
            <a:srgbClr val="F39C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1722608" y="5715000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1" i="0">
                <a:solidFill>
                  <a:srgbClr val="F39C12"/>
                </a:solidFill>
              </a:rPr>
              <a:t>4,2 %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355080" y="5897880"/>
            <a:ext cx="34747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A1A2E"/>
                </a:solidFill>
              </a:rPr>
              <a:t>Niveau d'éducation</a:t>
            </a:r>
          </a:p>
        </p:txBody>
      </p:sp>
      <p:sp>
        <p:nvSpPr>
          <p:cNvPr id="34" name="Rectangle 33"/>
          <p:cNvSpPr/>
          <p:nvPr/>
        </p:nvSpPr>
        <p:spPr>
          <a:xfrm>
            <a:off x="9921240" y="5916168"/>
            <a:ext cx="1737360" cy="146304"/>
          </a:xfrm>
          <a:prstGeom prst="rect">
            <a:avLst/>
          </a:prstGeom>
          <a:solidFill>
            <a:srgbClr val="DEE2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9921240" y="5916168"/>
            <a:ext cx="284927" cy="146304"/>
          </a:xfrm>
          <a:prstGeom prst="rect">
            <a:avLst/>
          </a:prstGeom>
          <a:solidFill>
            <a:srgbClr val="2C5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1722608" y="5897880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1" i="0">
                <a:solidFill>
                  <a:srgbClr val="2C5F8A"/>
                </a:solidFill>
              </a:rPr>
              <a:t>4,1 %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355080" y="6080760"/>
            <a:ext cx="34747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A1A2E"/>
                </a:solidFill>
              </a:rPr>
              <a:t>Naissances récentes (5 ans)</a:t>
            </a:r>
          </a:p>
        </p:txBody>
      </p:sp>
      <p:sp>
        <p:nvSpPr>
          <p:cNvPr id="38" name="Rectangle 37"/>
          <p:cNvSpPr/>
          <p:nvPr/>
        </p:nvSpPr>
        <p:spPr>
          <a:xfrm>
            <a:off x="9921240" y="6099048"/>
            <a:ext cx="1737360" cy="146304"/>
          </a:xfrm>
          <a:prstGeom prst="rect">
            <a:avLst/>
          </a:prstGeom>
          <a:solidFill>
            <a:srgbClr val="DEE2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9921240" y="6099048"/>
            <a:ext cx="194584" cy="146304"/>
          </a:xfrm>
          <a:prstGeom prst="rect">
            <a:avLst/>
          </a:prstGeom>
          <a:solidFill>
            <a:srgbClr val="1A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1722608" y="6080760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1" i="0">
                <a:solidFill>
                  <a:srgbClr val="1A3A5C"/>
                </a:solidFill>
              </a:rPr>
              <a:t>2,8 %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355080" y="6263640"/>
            <a:ext cx="34747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A1A2E"/>
                </a:solidFill>
              </a:rPr>
              <a:t>Âge à la 1ère naissance</a:t>
            </a:r>
          </a:p>
        </p:txBody>
      </p:sp>
      <p:sp>
        <p:nvSpPr>
          <p:cNvPr id="42" name="Rectangle 41"/>
          <p:cNvSpPr/>
          <p:nvPr/>
        </p:nvSpPr>
        <p:spPr>
          <a:xfrm>
            <a:off x="9921240" y="6281928"/>
            <a:ext cx="1737360" cy="146304"/>
          </a:xfrm>
          <a:prstGeom prst="rect">
            <a:avLst/>
          </a:prstGeom>
          <a:solidFill>
            <a:srgbClr val="DEE2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9921240" y="6281928"/>
            <a:ext cx="187634" cy="146304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11722608" y="6263640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1" i="0">
                <a:solidFill>
                  <a:srgbClr val="27AE60"/>
                </a:solidFill>
              </a:rPr>
              <a:t>2,7 %</a:t>
            </a:r>
          </a:p>
        </p:txBody>
      </p:sp>
      <p:sp>
        <p:nvSpPr>
          <p:cNvPr id="45" name="Rectangle 44"/>
          <p:cNvSpPr/>
          <p:nvPr/>
        </p:nvSpPr>
        <p:spPr>
          <a:xfrm>
            <a:off x="0" y="6583680"/>
            <a:ext cx="12188952" cy="274320"/>
          </a:xfrm>
          <a:prstGeom prst="rect">
            <a:avLst/>
          </a:prstGeom>
          <a:solidFill>
            <a:srgbClr val="1A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274320" y="6601968"/>
            <a:ext cx="105156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FFFFFF"/>
                </a:solidFill>
              </a:rPr>
              <a:t>M. Yannick FONO BINDJEME  |  Institut Saint Jean Ingénieur  |  EDS Cameroun 2018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881360" y="6601968"/>
            <a:ext cx="10972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1" i="0">
                <a:solidFill>
                  <a:srgbClr val="E8C045"/>
                </a:solidFill>
              </a:rPr>
              <a:t>16 / 18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188720"/>
          </a:xfrm>
          <a:prstGeom prst="rect">
            <a:avLst/>
          </a:prstGeom>
          <a:solidFill>
            <a:srgbClr val="1A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88720"/>
            <a:ext cx="12188952" cy="45720"/>
          </a:xfrm>
          <a:prstGeom prst="rect">
            <a:avLst/>
          </a:prstGeom>
          <a:solidFill>
            <a:srgbClr val="E8C0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0515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</a:rPr>
              <a:t>Application de Prédiction — Streamlit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731520"/>
            <a:ext cx="10058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AEC6E0"/>
                </a:solidFill>
              </a:rPr>
              <a:t>Interface interactive d'estimation du risque de mortalité infantile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817352" y="201168"/>
            <a:ext cx="1170432" cy="274320"/>
          </a:xfrm>
          <a:prstGeom prst="roundRect">
            <a:avLst/>
          </a:prstGeom>
          <a:solidFill>
            <a:srgbClr val="1A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817352" y="219456"/>
            <a:ext cx="117043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</a:rPr>
              <a:t>PARTIE II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65760" y="1463040"/>
            <a:ext cx="11430000" cy="5029200"/>
          </a:xfrm>
          <a:prstGeom prst="roundRect">
            <a:avLst/>
          </a:prstGeom>
          <a:solidFill>
            <a:srgbClr val="EAF2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02920" y="1600200"/>
            <a:ext cx="2834640" cy="4754880"/>
          </a:xfrm>
          <a:prstGeom prst="roundRect">
            <a:avLst/>
          </a:prstGeom>
          <a:solidFill>
            <a:srgbClr val="1A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1691640"/>
            <a:ext cx="26060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E8C045"/>
                </a:solidFill>
              </a:rPr>
              <a:t>Saisie des
Informations Patient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94360" y="2359152"/>
            <a:ext cx="2606040" cy="1051560"/>
          </a:xfrm>
          <a:prstGeom prst="roundRect">
            <a:avLst/>
          </a:prstGeom>
          <a:solidFill>
            <a:srgbClr val="2A58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2432304"/>
            <a:ext cx="24231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E8C045"/>
                </a:solidFill>
              </a:rPr>
              <a:t>Profil Sociodémographique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2798064"/>
            <a:ext cx="24231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FFFFFF"/>
                </a:solidFill>
              </a:rPr>
              <a:t>Âge, éducation, région, richesse, religion, emploi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94360" y="3621024"/>
            <a:ext cx="2606040" cy="1051560"/>
          </a:xfrm>
          <a:prstGeom prst="roundRect">
            <a:avLst/>
          </a:prstGeom>
          <a:solidFill>
            <a:srgbClr val="2A58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3694176"/>
            <a:ext cx="24231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E8C045"/>
                </a:solidFill>
              </a:rPr>
              <a:t>Historique Reproductif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" y="4059936"/>
            <a:ext cx="24231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FFFFFF"/>
                </a:solidFill>
              </a:rPr>
              <a:t>Nombre d'enfants, âge 1ère naissance, naissances récentes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94360" y="4882896"/>
            <a:ext cx="2606040" cy="1051560"/>
          </a:xfrm>
          <a:prstGeom prst="roundRect">
            <a:avLst/>
          </a:prstGeom>
          <a:solidFill>
            <a:srgbClr val="2A58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85800" y="4956048"/>
            <a:ext cx="24231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E8C045"/>
                </a:solidFill>
              </a:rPr>
              <a:t>Accès aux Soins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" y="5321808"/>
            <a:ext cx="24231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FFFFFF"/>
                </a:solidFill>
              </a:rPr>
              <a:t>Assurance maladie, consultations, obstacles aux soins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94360" y="5897880"/>
            <a:ext cx="2651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► Estimer le Risque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94360" y="5888736"/>
            <a:ext cx="2651760" cy="274320"/>
          </a:xfrm>
          <a:prstGeom prst="roundRect">
            <a:avLst/>
          </a:prstGeom>
          <a:solidFill>
            <a:srgbClr val="3498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94360" y="5897880"/>
            <a:ext cx="2651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► Estimer le Risque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520440" y="1600200"/>
            <a:ext cx="3794760" cy="4754880"/>
          </a:xfrm>
          <a:prstGeom prst="rect">
            <a:avLst/>
          </a:prstGeom>
          <a:solidFill>
            <a:srgbClr val="FFFFFF"/>
          </a:solidFill>
          <a:ln w="10160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611880" y="1664208"/>
            <a:ext cx="3657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1" i="0">
                <a:solidFill>
                  <a:srgbClr val="2C5F8A"/>
                </a:solidFill>
              </a:rPr>
              <a:t>Méthode Statistique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023360" y="2148840"/>
            <a:ext cx="2788920" cy="777240"/>
          </a:xfrm>
          <a:prstGeom prst="roundRect">
            <a:avLst/>
          </a:prstGeom>
          <a:solidFill>
            <a:srgbClr val="FEF6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023360" y="2304288"/>
            <a:ext cx="27889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39C12"/>
                </a:solidFill>
              </a:rPr>
              <a:t>Probabilité : 43,2 %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749039" y="3063240"/>
            <a:ext cx="3337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39C12"/>
                </a:solidFill>
              </a:rPr>
              <a:t>RISQUE MODÉRÉ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57600" y="3639312"/>
            <a:ext cx="34747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1A1A2E"/>
                </a:solidFill>
              </a:rPr>
              <a:t>Consultations médicales
régulières recommandées.
Suivi de grossesse à renforcer.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498079" y="1600200"/>
            <a:ext cx="4069080" cy="4754880"/>
          </a:xfrm>
          <a:prstGeom prst="rect">
            <a:avLst/>
          </a:prstGeom>
          <a:solidFill>
            <a:srgbClr val="FFFFFF"/>
          </a:solidFill>
          <a:ln w="10160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589520" y="1664208"/>
            <a:ext cx="3886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1" i="0">
                <a:solidFill>
                  <a:srgbClr val="1A3A5C"/>
                </a:solidFill>
              </a:rPr>
              <a:t>Machine Learning (XGBoost)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001000" y="2148840"/>
            <a:ext cx="3017520" cy="777240"/>
          </a:xfrm>
          <a:prstGeom prst="roundRect">
            <a:avLst/>
          </a:prstGeom>
          <a:solidFill>
            <a:srgbClr val="FDED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001000" y="2304288"/>
            <a:ext cx="30175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E74C3C"/>
                </a:solidFill>
              </a:rPr>
              <a:t>Probabilité : 58,7 %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726679" y="3063240"/>
            <a:ext cx="3566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E74C3C"/>
                </a:solidFill>
              </a:rPr>
              <a:t>RISQUE ÉLEVÉ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635240" y="3639312"/>
            <a:ext cx="3749039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1A1A2E"/>
                </a:solidFill>
              </a:rPr>
              <a:t>Suivi médical urgent requis.
Éducation à la santé maternelle.
Planification familiale conseillée.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520440" y="5715000"/>
            <a:ext cx="8046720" cy="502920"/>
          </a:xfrm>
          <a:prstGeom prst="rect">
            <a:avLst/>
          </a:prstGeom>
          <a:solidFill>
            <a:srgbClr val="EAF2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611880" y="5779008"/>
            <a:ext cx="78638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1">
                <a:solidFill>
                  <a:srgbClr val="6C757D"/>
                </a:solidFill>
              </a:rPr>
              <a:t>Concordance entre méthodes : écart de 15,5 pts — concorde sur la direction du risque</a:t>
            </a:r>
          </a:p>
        </p:txBody>
      </p:sp>
      <p:sp>
        <p:nvSpPr>
          <p:cNvPr id="37" name="Rectangle 36"/>
          <p:cNvSpPr/>
          <p:nvPr/>
        </p:nvSpPr>
        <p:spPr>
          <a:xfrm>
            <a:off x="0" y="6583680"/>
            <a:ext cx="12188952" cy="274320"/>
          </a:xfrm>
          <a:prstGeom prst="rect">
            <a:avLst/>
          </a:prstGeom>
          <a:solidFill>
            <a:srgbClr val="1A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274320" y="6601968"/>
            <a:ext cx="105156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FFFFFF"/>
                </a:solidFill>
              </a:rPr>
              <a:t>M. Yannick FONO BINDJEME  |  Institut Saint Jean Ingénieur  |  EDS Cameroun 2018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881360" y="6601968"/>
            <a:ext cx="10972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1" i="0">
                <a:solidFill>
                  <a:srgbClr val="E8C045"/>
                </a:solidFill>
              </a:rPr>
              <a:t>17 / 18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188720"/>
          </a:xfrm>
          <a:prstGeom prst="rect">
            <a:avLst/>
          </a:prstGeom>
          <a:solidFill>
            <a:srgbClr val="1A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88720"/>
            <a:ext cx="12188952" cy="45720"/>
          </a:xfrm>
          <a:prstGeom prst="rect">
            <a:avLst/>
          </a:prstGeom>
          <a:solidFill>
            <a:srgbClr val="E8C0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0515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</a:rPr>
              <a:t>Synthèse — Convergence des Deux Approches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731520"/>
            <a:ext cx="10058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AEC6E0"/>
                </a:solidFill>
              </a:rPr>
              <a:t>Résultats robustes et cohérents entre la statistique et le Machine Learning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1463040"/>
            <a:ext cx="11430000" cy="2011680"/>
          </a:xfrm>
          <a:prstGeom prst="roundRect">
            <a:avLst/>
          </a:prstGeom>
          <a:solidFill>
            <a:srgbClr val="EAF2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365760" y="1463040"/>
            <a:ext cx="11430000" cy="384048"/>
          </a:xfrm>
          <a:prstGeom prst="roundRect">
            <a:avLst/>
          </a:prstGeom>
          <a:solidFill>
            <a:srgbClr val="2C5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1490472"/>
            <a:ext cx="105156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Facteurs de Risque Identifiés par les Deux Approches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1965960"/>
            <a:ext cx="2651760" cy="13716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74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8" y="2029968"/>
            <a:ext cx="245059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E74C3C"/>
                </a:solidFill>
              </a:rPr>
              <a:t>Âge précoce à la 1ère naissance
(&lt; 18 ans)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2606040"/>
            <a:ext cx="245059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1">
                <a:solidFill>
                  <a:srgbClr val="1A3A5C"/>
                </a:solidFill>
              </a:rPr>
              <a:t>OR = 5,05 ***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2880360"/>
            <a:ext cx="245059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1">
                <a:solidFill>
                  <a:srgbClr val="6C757D"/>
                </a:solidFill>
              </a:rPr>
              <a:t>Importance : 2,7 %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383280" y="1965960"/>
            <a:ext cx="2651760" cy="13716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F39C1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93008" y="2029968"/>
            <a:ext cx="245059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F39C12"/>
                </a:solidFill>
              </a:rPr>
              <a:t>Faible niveau d'éducation
(aucun ou primaire)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93008" y="2606040"/>
            <a:ext cx="245059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1">
                <a:solidFill>
                  <a:srgbClr val="1A3A5C"/>
                </a:solidFill>
              </a:rPr>
              <a:t>OR = 2,98 ***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93008" y="2880360"/>
            <a:ext cx="245059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1">
                <a:solidFill>
                  <a:srgbClr val="6C757D"/>
                </a:solidFill>
              </a:rPr>
              <a:t>Importance : 4,1 %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17920" y="1965960"/>
            <a:ext cx="2651760" cy="13716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C5F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27648" y="2029968"/>
            <a:ext cx="245059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2C5F8A"/>
                </a:solidFill>
              </a:rPr>
              <a:t>Parité élevée
(nombre d'enfants)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27648" y="2606040"/>
            <a:ext cx="245059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1">
                <a:solidFill>
                  <a:srgbClr val="1A3A5C"/>
                </a:solidFill>
              </a:rPr>
              <a:t>Modèle 3 sig.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27648" y="2880360"/>
            <a:ext cx="245059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1">
                <a:solidFill>
                  <a:srgbClr val="6C757D"/>
                </a:solidFill>
              </a:rPr>
              <a:t>Importance : 23,1 %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052560" y="1965960"/>
            <a:ext cx="2651760" cy="13716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7AE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62288" y="2029968"/>
            <a:ext cx="245059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27AE60"/>
                </a:solidFill>
              </a:rPr>
              <a:t>Accès limité aux soins
(consultation, assurance)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62288" y="2606040"/>
            <a:ext cx="245059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1">
                <a:solidFill>
                  <a:srgbClr val="1A3A5C"/>
                </a:solidFill>
              </a:rPr>
              <a:t>OR = 0,77 ***
(effet protecteur)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62288" y="2880360"/>
            <a:ext cx="245059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1">
                <a:solidFill>
                  <a:srgbClr val="6C757D"/>
                </a:solidFill>
              </a:rPr>
              <a:t>Importance élevée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65760" y="3611880"/>
            <a:ext cx="5394960" cy="2560320"/>
          </a:xfrm>
          <a:prstGeom prst="roundRect">
            <a:avLst/>
          </a:prstGeom>
          <a:solidFill>
            <a:srgbClr val="EAF2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365760" y="3611880"/>
            <a:ext cx="5394960" cy="365760"/>
          </a:xfrm>
          <a:prstGeom prst="roundRect">
            <a:avLst/>
          </a:prstGeom>
          <a:solidFill>
            <a:srgbClr val="2C5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48640" y="3639312"/>
            <a:ext cx="5120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</a:rPr>
              <a:t>Performance Comparative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02920" y="4114800"/>
            <a:ext cx="5120640" cy="512064"/>
          </a:xfrm>
          <a:prstGeom prst="rect">
            <a:avLst/>
          </a:prstGeom>
          <a:solidFill>
            <a:srgbClr val="FFFFFF"/>
          </a:solidFill>
          <a:ln w="5080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21792" y="4206240"/>
            <a:ext cx="27432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</a:rPr>
              <a:t>Régression logistique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520440" y="4206240"/>
            <a:ext cx="19202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2C5F8A"/>
                </a:solidFill>
              </a:rPr>
              <a:t>AUC = 0,87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02920" y="4709160"/>
            <a:ext cx="5120640" cy="512064"/>
          </a:xfrm>
          <a:prstGeom prst="rect">
            <a:avLst/>
          </a:prstGeom>
          <a:solidFill>
            <a:srgbClr val="FFFFFF"/>
          </a:solidFill>
          <a:ln w="5080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21792" y="4800600"/>
            <a:ext cx="27432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</a:rPr>
              <a:t>XGBoost (meilleur ML)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520440" y="4800600"/>
            <a:ext cx="19202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27AE60"/>
                </a:solidFill>
              </a:rPr>
              <a:t>AUC = 0,889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02920" y="5303520"/>
            <a:ext cx="5120640" cy="512064"/>
          </a:xfrm>
          <a:prstGeom prst="rect">
            <a:avLst/>
          </a:prstGeom>
          <a:solidFill>
            <a:srgbClr val="FFFFFF"/>
          </a:solidFill>
          <a:ln w="5080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21792" y="5394960"/>
            <a:ext cx="27432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</a:rPr>
              <a:t>Gain ML vs Statistique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520440" y="5394960"/>
            <a:ext cx="19202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39C12"/>
                </a:solidFill>
              </a:rPr>
              <a:t>+ 0,019 AUC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5989320" y="3611880"/>
            <a:ext cx="5852160" cy="2560320"/>
          </a:xfrm>
          <a:prstGeom prst="roundRect">
            <a:avLst/>
          </a:prstGeom>
          <a:solidFill>
            <a:srgbClr val="EAF2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5989320" y="3611880"/>
            <a:ext cx="5852160" cy="365760"/>
          </a:xfrm>
          <a:prstGeom prst="roundRect">
            <a:avLst/>
          </a:prstGeom>
          <a:solidFill>
            <a:srgbClr val="1A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172200" y="3639312"/>
            <a:ext cx="5577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</a:rPr>
              <a:t>Recommandations de Santé Publique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144768" y="4096512"/>
            <a:ext cx="557784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solidFill>
                  <a:srgbClr val="1A1A2E"/>
                </a:solidFill>
              </a:rPr>
              <a:t>Investir dans l'éducation des filles (réduction du risque de 50 à 70 %)</a:t>
            </a:r>
          </a:p>
          <a:p>
            <a:pPr algn="l">
              <a:buChar char="▸"/>
            </a:pPr>
            <a:r>
              <a:rPr sz="1000" b="0" i="0">
                <a:solidFill>
                  <a:srgbClr val="1A1A2E"/>
                </a:solidFill>
              </a:rPr>
              <a:t>Renforcer l'accès aux consultations prénatales, surtout en zone rurale</a:t>
            </a:r>
          </a:p>
          <a:p>
            <a:pPr algn="l">
              <a:buChar char="▸"/>
            </a:pPr>
            <a:r>
              <a:rPr sz="1000" b="0" i="0">
                <a:solidFill>
                  <a:srgbClr val="1A1A2E"/>
                </a:solidFill>
              </a:rPr>
              <a:t>Promouvoir la planification familiale et retarder la première grossesse</a:t>
            </a:r>
          </a:p>
          <a:p>
            <a:pPr algn="l">
              <a:buChar char="▸"/>
            </a:pPr>
            <a:r>
              <a:rPr sz="1000" b="0" i="0">
                <a:solidFill>
                  <a:srgbClr val="1A1A2E"/>
                </a:solidFill>
              </a:rPr>
              <a:t>Cibler les régions et ménages défavorisés (approche différenciée)</a:t>
            </a:r>
          </a:p>
        </p:txBody>
      </p:sp>
      <p:sp>
        <p:nvSpPr>
          <p:cNvPr id="41" name="Rectangle 40"/>
          <p:cNvSpPr/>
          <p:nvPr/>
        </p:nvSpPr>
        <p:spPr>
          <a:xfrm>
            <a:off x="0" y="6583680"/>
            <a:ext cx="12188952" cy="274320"/>
          </a:xfrm>
          <a:prstGeom prst="rect">
            <a:avLst/>
          </a:prstGeom>
          <a:solidFill>
            <a:srgbClr val="1A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274320" y="6601968"/>
            <a:ext cx="105156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FFFFFF"/>
                </a:solidFill>
              </a:rPr>
              <a:t>M. Yannick FONO BINDJEME  |  Institut Saint Jean Ingénieur  |  EDS Cameroun 2018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881360" y="6601968"/>
            <a:ext cx="10972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1" i="0">
                <a:solidFill>
                  <a:srgbClr val="E8C045"/>
                </a:solidFill>
              </a:rPr>
              <a:t>18 / 18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