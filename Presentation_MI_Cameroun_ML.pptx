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29260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834640"/>
            <a:ext cx="12188952" cy="54864"/>
          </a:xfrm>
          <a:prstGeom prst="rect">
            <a:avLst/>
          </a:prstGeom>
          <a:solidFill>
            <a:srgbClr val="E8C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365760"/>
            <a:ext cx="109728" cy="2286000"/>
          </a:xfrm>
          <a:prstGeom prst="rect">
            <a:avLst/>
          </a:prstGeom>
          <a:solidFill>
            <a:srgbClr val="E8C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365760"/>
            <a:ext cx="54864" cy="2286000"/>
          </a:xfrm>
          <a:prstGeom prst="rect">
            <a:avLst/>
          </a:prstGeom>
          <a:solidFill>
            <a:srgbClr val="4A8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6576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Analyse des Facteurs Associés à la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005840"/>
            <a:ext cx="10789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E8C045"/>
                </a:solidFill>
              </a:rPr>
              <a:t>Mortalité Infantile au Cameroun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78308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AEC6E0"/>
                </a:solidFill>
              </a:rPr>
              <a:t>Approche par Régression Logistique Pondérée et Machine Learning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2944368"/>
            <a:ext cx="10332720" cy="27432"/>
          </a:xfrm>
          <a:prstGeom prst="rect">
            <a:avLst/>
          </a:prstGeom>
          <a:solidFill>
            <a:srgbClr val="4A8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14400" y="3127248"/>
            <a:ext cx="4937760" cy="3108960"/>
          </a:xfrm>
          <a:prstGeom prst="roundRect">
            <a:avLst/>
          </a:prstGeom>
          <a:solidFill>
            <a:srgbClr val="1F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2918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AEC6E0"/>
                </a:solidFill>
              </a:rPr>
              <a:t>Présenté par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584448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8C045"/>
                </a:solidFill>
              </a:rPr>
              <a:t>M. Yannick FONO BINDJEME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40690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Étudiant en Statistiques et Informatique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441655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3498DB"/>
                </a:solidFill>
              </a:rPr>
              <a:t>Institut Saint Jean Ingénieur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3127248"/>
            <a:ext cx="4937760" cy="3108960"/>
          </a:xfrm>
          <a:prstGeom prst="roundRect">
            <a:avLst/>
          </a:prstGeom>
          <a:solidFill>
            <a:srgbClr val="1F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29400" y="32918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AEC6E0"/>
                </a:solidFill>
              </a:rPr>
              <a:t>Sous la supervision 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3584448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 b="1" i="0">
                <a:solidFill>
                  <a:srgbClr val="E8C045"/>
                </a:solidFill>
              </a:rPr>
              <a:t>Pr Nguefack-Tsague Georges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9400" y="40690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Professeur de Biostatistiques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" y="6144768"/>
            <a:ext cx="10332720" cy="347472"/>
          </a:xfrm>
          <a:prstGeom prst="rect">
            <a:avLst/>
          </a:prstGeom>
          <a:solidFill>
            <a:srgbClr val="1F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6181344"/>
            <a:ext cx="10058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AEC6E0"/>
                </a:solidFill>
              </a:rPr>
              <a:t>Données : Enquête Démographique et de Santé (EDS) Cameroun 2018   —   Juin 2026</a:t>
            </a:r>
          </a:p>
        </p:txBody>
      </p:sp>
    </p:spTree>
  </p:cSld>
  <p:clrMapOvr>
    <a:masterClrMapping/>
  </p:clrMapOvr>
  <p:timing>
    <p:tnLst>
      <p:par>
        <p:cTn id="1" dur="indefinite" restart="whenNotActive" nodeType="tmRoot">
          <p:childTnLst>
            <p:par>
              <p:cTn id="2" fill="hold">
                <p:stCondLst>
                  <p:cond delay="200"/>
                </p:stCondLst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set>
                          <p:cBhvr>
                            <p:cTn id="4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" dur="800"/>
                            <p:tgtEl>
                              <p:spTgt spid="7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6" fill="hold">
                <p:stCondLst>
                  <p:cond delay="500"/>
                </p:stCondLst>
                <p:childTnLst>
                  <p:par>
                    <p:cTn id="7" fill="hold">
                      <p:stCondLst>
                        <p:cond delay="0"/>
                      </p:stCondLst>
                      <p:childTnLst>
                        <p:set>
                          <p:cBhvr>
                            <p:cTn id="8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9" dur="800"/>
                            <p:tgtEl>
                              <p:spTgt spid="8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10" fill="hold">
                <p:stCondLst>
                  <p:cond delay="800"/>
                </p:stCondLst>
                <p:childTnLst>
                  <p:par>
                    <p:cTn id="11" fill="hold">
                      <p:stCondLst>
                        <p:cond delay="0"/>
                      </p:stCondLst>
                      <p:childTnLst>
                        <p:set>
                          <p:cBhvr>
                            <p:cTn id="1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3" dur="800"/>
                            <p:tgtEl>
                              <p:spTgt spid="9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</p:childTnLst>
        </p:cTn>
      </p:par>
    </p:tnLst>
    <p:bldLst/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45720"/>
          </a:xfrm>
          <a:prstGeom prst="rect">
            <a:avLst/>
          </a:prstGeom>
          <a:solidFill>
            <a:srgbClr val="E8C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Plan de la Présentation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31520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AEC6E0"/>
                </a:solidFill>
              </a:rPr>
              <a:t>Structure en deux grandes parties : Statistiques et Machine Learning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463040"/>
            <a:ext cx="5486400" cy="4846320"/>
          </a:xfrm>
          <a:prstGeom prst="roundRect">
            <a:avLst/>
          </a:prstGeom>
          <a:solidFill>
            <a:srgbClr val="EA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5760" y="1463040"/>
            <a:ext cx="5486400" cy="530352"/>
          </a:xfrm>
          <a:prstGeom prst="round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49047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8C045"/>
                </a:solidFill>
              </a:rPr>
              <a:t>PARTIE 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19072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Statistiques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148840"/>
            <a:ext cx="51206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>
                <a:solidFill>
                  <a:srgbClr val="1A1A2E"/>
                </a:solidFill>
              </a:rPr>
              <a:t>I.1  Contexte et problématique</a:t>
            </a:r>
          </a:p>
          <a:p>
            <a:pPr algn="l">
              <a:buChar char="●"/>
            </a:pPr>
            <a:r>
              <a:rPr sz="1150" b="0" i="0">
                <a:solidFill>
                  <a:srgbClr val="1A1A2E"/>
                </a:solidFill>
              </a:rPr>
              <a:t>I.2  Source de données — EDS Cameroun 2018</a:t>
            </a:r>
          </a:p>
          <a:p>
            <a:pPr algn="l">
              <a:buChar char="●"/>
            </a:pPr>
            <a:r>
              <a:rPr sz="1150" b="0" i="0">
                <a:solidFill>
                  <a:srgbClr val="1A1A2E"/>
                </a:solidFill>
              </a:rPr>
              <a:t>I.3  Préparation et nettoyage des données</a:t>
            </a:r>
          </a:p>
          <a:p>
            <a:pPr algn="l">
              <a:buChar char="●"/>
            </a:pPr>
            <a:r>
              <a:rPr sz="1150" b="0" i="0">
                <a:solidFill>
                  <a:srgbClr val="1A1A2E"/>
                </a:solidFill>
              </a:rPr>
              <a:t>I.4  Analyse descriptive et bivariée</a:t>
            </a:r>
          </a:p>
          <a:p>
            <a:pPr algn="l">
              <a:buChar char="●"/>
            </a:pPr>
            <a:r>
              <a:rPr sz="1150" b="0" i="0">
                <a:solidFill>
                  <a:srgbClr val="1A1A2E"/>
                </a:solidFill>
              </a:rPr>
              <a:t>I.5  Régression logistique pondérée</a:t>
            </a:r>
          </a:p>
          <a:p>
            <a:pPr algn="l">
              <a:buChar char="●"/>
            </a:pPr>
            <a:r>
              <a:rPr sz="1150" b="0" i="0">
                <a:solidFill>
                  <a:srgbClr val="1A1A2E"/>
                </a:solidFill>
              </a:rPr>
              <a:t>I.6  Résultats et odds ratios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463040"/>
            <a:ext cx="5486400" cy="4846320"/>
          </a:xfrm>
          <a:prstGeom prst="roundRect">
            <a:avLst/>
          </a:prstGeom>
          <a:solidFill>
            <a:srgbClr val="EA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309360" y="1463040"/>
            <a:ext cx="5486400" cy="530352"/>
          </a:xfrm>
          <a:prstGeom prst="round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149047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8C045"/>
                </a:solidFill>
              </a:rPr>
              <a:t>PARTIE II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1719072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Machine Learning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148840"/>
            <a:ext cx="51206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>
                <a:solidFill>
                  <a:srgbClr val="1A1A2E"/>
                </a:solidFill>
              </a:rPr>
              <a:t>II.1  Pipeline de prétraitement</a:t>
            </a:r>
          </a:p>
          <a:p>
            <a:pPr algn="l">
              <a:buChar char="●"/>
            </a:pPr>
            <a:r>
              <a:rPr sz="1150" b="0" i="0">
                <a:solidFill>
                  <a:srgbClr val="1A1A2E"/>
                </a:solidFill>
              </a:rPr>
              <a:t>II.2  Six algorithmes comparés</a:t>
            </a:r>
          </a:p>
          <a:p>
            <a:pPr algn="l">
              <a:buChar char="●"/>
            </a:pPr>
            <a:r>
              <a:rPr sz="1150" b="0" i="0">
                <a:solidFill>
                  <a:srgbClr val="1A1A2E"/>
                </a:solidFill>
              </a:rPr>
              <a:t>II.3  Courbes d'apprentissage</a:t>
            </a:r>
          </a:p>
          <a:p>
            <a:pPr algn="l">
              <a:buChar char="●"/>
            </a:pPr>
            <a:r>
              <a:rPr sz="1150" b="0" i="0">
                <a:solidFill>
                  <a:srgbClr val="1A1A2E"/>
                </a:solidFill>
              </a:rPr>
              <a:t>II.4  Comparaison des performances</a:t>
            </a:r>
          </a:p>
          <a:p>
            <a:pPr algn="l">
              <a:buChar char="●"/>
            </a:pPr>
            <a:r>
              <a:rPr sz="1150" b="0" i="0">
                <a:solidFill>
                  <a:srgbClr val="1A1A2E"/>
                </a:solidFill>
              </a:rPr>
              <a:t>II.5  Modèle champion — XGBoost &amp; SHAP</a:t>
            </a:r>
          </a:p>
          <a:p>
            <a:pPr algn="l">
              <a:buChar char="●"/>
            </a:pPr>
            <a:r>
              <a:rPr sz="1150" b="0" i="0">
                <a:solidFill>
                  <a:srgbClr val="1A1A2E"/>
                </a:solidFill>
              </a:rPr>
              <a:t>II.6  Application Streamlit et conclusion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6601968"/>
            <a:ext cx="10515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</a:rPr>
              <a:t>M. Yannick FONO BINDJEME  |  Institut Saint Jean Ingénieur  |  EDS Cameroun 2018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81360" y="6601968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E8C045"/>
                </a:solidFill>
              </a:rPr>
              <a:t>2 / 19</a:t>
            </a:r>
          </a:p>
        </p:txBody>
      </p:sp>
    </p:spTree>
  </p:cSld>
  <p:clrMapOvr>
    <a:masterClrMapping/>
  </p:clrMapOvr>
  <p:timing>
    <p:tnLst>
      <p:par>
        <p:cTn id="1" dur="indefinite" restart="whenNotActive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/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5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200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9" dur="1" fill="hold"/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" dur="55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Click" delay="0">
                  <p:tn/>
                </p:cond>
              </p:prevCondLst>
              <p:nextCondLst>
                <p:cond evt="onNextClick" delay="0">
                  <p:tn/>
                </p:cond>
              </p:nextCondLst>
            </p:seq>
          </p:childTnLst>
        </p:cTn>
      </p:par>
    </p:tnLst>
    <p:bldLst/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45720"/>
          </a:xfrm>
          <a:prstGeom prst="rect">
            <a:avLst/>
          </a:prstGeom>
          <a:solidFill>
            <a:srgbClr val="E8C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Contexte et Problématique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31520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AEC6E0"/>
                </a:solidFill>
              </a:rPr>
              <a:t>La mortalité infantile, un défi persistant en Afrique subsaharienne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1417320"/>
            <a:ext cx="3749039" cy="4846320"/>
          </a:xfrm>
          <a:prstGeom prst="roundRect">
            <a:avLst/>
          </a:prstGeom>
          <a:solidFill>
            <a:srgbClr val="E6F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417320"/>
            <a:ext cx="3749039" cy="54864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4632" y="15544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7AE60"/>
                </a:solidFill>
              </a:rPr>
              <a:t>Contexte mondial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" y="2011680"/>
            <a:ext cx="3474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>
                <a:solidFill>
                  <a:srgbClr val="1A1A2E"/>
                </a:solidFill>
              </a:rPr>
              <a:t>Objectif de Développement Durable 3.2 :</a:t>
            </a:r>
          </a:p>
          <a:p>
            <a:pPr algn="l">
              <a:buChar char="▸"/>
            </a:pPr>
            <a:r>
              <a:rPr sz="1050" b="0" i="0">
                <a:solidFill>
                  <a:srgbClr val="1A1A2E"/>
                </a:solidFill>
              </a:rPr>
              <a:t>réduire la mortalité infantile à moins de 25 pour 1 000 naissances vivantes d'ici 2030.</a:t>
            </a:r>
          </a:p>
          <a:p>
            <a:pPr algn="l">
              <a:buChar char="▸"/>
            </a:pPr>
            <a:r>
              <a:rPr sz="1050" b="0" i="0">
                <a:solidFill>
                  <a:srgbClr val="1A1A2E"/>
                </a:solidFill>
              </a:rPr>
              <a:t>L'Afrique subsaharienne concentre plus de 50 % des décès d'enfants de moins de 5 ans.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70248" y="1417320"/>
            <a:ext cx="3749039" cy="4846320"/>
          </a:xfrm>
          <a:prstGeom prst="roundRect">
            <a:avLst/>
          </a:prstGeom>
          <a:solidFill>
            <a:srgbClr val="FEF6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70248" y="1417320"/>
            <a:ext cx="3749039" cy="54864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34840" y="15544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39C12"/>
                </a:solidFill>
              </a:rPr>
              <a:t>Situation au Cameroun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2011680"/>
            <a:ext cx="3474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>
                <a:solidFill>
                  <a:srgbClr val="1A1A2E"/>
                </a:solidFill>
              </a:rPr>
              <a:t>Taux de mortalité infantile : environ 50 pour 1 000 NV (EDS 2018).</a:t>
            </a:r>
          </a:p>
          <a:p>
            <a:pPr algn="l">
              <a:buChar char="▸"/>
            </a:pPr>
            <a:r>
              <a:rPr sz="1050" b="0" i="0">
                <a:solidFill>
                  <a:srgbClr val="1A1A2E"/>
                </a:solidFill>
              </a:rPr>
              <a:t>Forte disparité régionale et socio-économique.</a:t>
            </a:r>
          </a:p>
          <a:p>
            <a:pPr algn="l">
              <a:buChar char="▸"/>
            </a:pPr>
            <a:r>
              <a:rPr sz="1050" b="0" i="0">
                <a:solidFill>
                  <a:srgbClr val="1A1A2E"/>
                </a:solidFill>
              </a:rPr>
              <a:t>Accès limité aux soins dans les zones rurales et péri-urbaines.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0456" y="1417320"/>
            <a:ext cx="3749039" cy="4846320"/>
          </a:xfrm>
          <a:prstGeom prst="roundRect">
            <a:avLst/>
          </a:prstGeom>
          <a:solidFill>
            <a:srgbClr val="EA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0456" y="1417320"/>
            <a:ext cx="3749039" cy="54864"/>
          </a:xfrm>
          <a:prstGeom prst="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85048" y="15544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C5F8A"/>
                </a:solidFill>
              </a:rPr>
              <a:t>Problématique et objectif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85048" y="2011680"/>
            <a:ext cx="3474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>
                <a:solidFill>
                  <a:srgbClr val="1A1A2E"/>
                </a:solidFill>
              </a:rPr>
              <a:t>Quels sont les facteurs déterminants de la mortalité infantile au Cameroun ?</a:t>
            </a:r>
          </a:p>
          <a:p>
            <a:pPr algn="l">
              <a:buChar char="▸"/>
            </a:pPr>
            <a:r>
              <a:rPr sz="1050" b="0" i="0">
                <a:solidFill>
                  <a:srgbClr val="1A1A2E"/>
                </a:solidFill>
              </a:rPr>
              <a:t>Objectif : identifier et quantifier ces facteurs par approche mixte.</a:t>
            </a:r>
          </a:p>
          <a:p>
            <a:pPr algn="l">
              <a:buChar char="▸"/>
            </a:pPr>
            <a:r>
              <a:rPr sz="1050" b="0" i="0">
                <a:solidFill>
                  <a:srgbClr val="1A1A2E"/>
                </a:solidFill>
              </a:rPr>
              <a:t>Méthodes : régression logistique pondérée + algorithmes de Machine Learning.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6601968"/>
            <a:ext cx="10515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</a:rPr>
              <a:t>M. Yannick FONO BINDJEME  |  Institut Saint Jean Ingénieur  |  EDS Cameroun 2018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81360" y="6601968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E8C045"/>
                </a:solidFill>
              </a:rPr>
              <a:t>3 / 19</a:t>
            </a:r>
          </a:p>
        </p:txBody>
      </p:sp>
    </p:spTree>
  </p:cSld>
  <p:clrMapOvr>
    <a:masterClrMapping/>
  </p:clrMapOvr>
  <p:timing>
    <p:tnLst>
      <p:par>
        <p:cTn id="1" dur="indefinite" restart="whenNotActive" nodeType="tmRoot">
          <p:childTnLst>
            <p:par>
              <p:cTn id="2" fill="hold">
                <p:stCondLst>
                  <p:cond delay="300"/>
                </p:stCondLst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set>
                          <p:cBhvr>
                            <p:cTn id="4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" dur="550"/>
                            <p:tgtEl>
                              <p:spTgt spid="6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6" fill="hold">
                <p:stCondLst>
                  <p:cond delay="480"/>
                </p:stCondLst>
                <p:childTnLst>
                  <p:par>
                    <p:cTn id="7" fill="hold">
                      <p:stCondLst>
                        <p:cond delay="0"/>
                      </p:stCondLst>
                      <p:childTnLst>
                        <p:set>
                          <p:cBhvr>
                            <p:cTn id="8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9" dur="550"/>
                            <p:tgtEl>
                              <p:spTgt spid="9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10" fill="hold">
                <p:stCondLst>
                  <p:cond delay="660"/>
                </p:stCondLst>
                <p:childTnLst>
                  <p:par>
                    <p:cTn id="11" fill="hold">
                      <p:stCondLst>
                        <p:cond delay="0"/>
                      </p:stCondLst>
                      <p:childTnLst>
                        <p:set>
                          <p:cBhvr>
                            <p:cTn id="12" dur="1" fill="hold"/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3" dur="550"/>
                            <p:tgtEl>
                              <p:spTgt spid="10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14" fill="hold">
                <p:stCondLst>
                  <p:cond delay="840"/>
                </p:stCondLst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set>
                          <p:cBhvr>
                            <p:cTn id="16" dur="1" fill="hold"/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7" dur="550"/>
                            <p:tgtEl>
                              <p:spTgt spid="13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18" fill="hold">
                <p:stCondLst>
                  <p:cond delay="1020"/>
                </p:stCondLst>
                <p:childTnLst>
                  <p:par>
                    <p:cTn id="19" fill="hold">
                      <p:stCondLst>
                        <p:cond delay="0"/>
                      </p:stCondLst>
                      <p:childTnLst>
                        <p:set>
                          <p:cBhvr>
                            <p:cTn id="20" dur="1" fill="hold"/>
                            <p:tgtEl>
                              <p:spTgt spid="1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1" dur="550"/>
                            <p:tgtEl>
                              <p:spTgt spid="14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22" fill="hold">
                <p:stCondLst>
                  <p:cond delay="1200"/>
                </p:stCondLst>
                <p:childTnLst>
                  <p:par>
                    <p:cTn id="23" fill="hold">
                      <p:stCondLst>
                        <p:cond delay="0"/>
                      </p:stCondLst>
                      <p:childTnLst>
                        <p:set>
                          <p:cBhvr>
                            <p:cTn id="24" dur="1" fill="hold"/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5" dur="550"/>
                            <p:tgtEl>
                              <p:spTgt spid="17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</p:childTnLst>
        </p:cTn>
      </p:par>
    </p:tnLst>
    <p:bldLst/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45720"/>
          </a:xfrm>
          <a:prstGeom prst="rect">
            <a:avLst/>
          </a:prstGeom>
          <a:solidFill>
            <a:srgbClr val="E8C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Source de Données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31520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AEC6E0"/>
                </a:solidFill>
              </a:rPr>
              <a:t>Enquête Démographique et de Santé — Cameroun 2018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463040"/>
            <a:ext cx="5029200" cy="4846320"/>
          </a:xfrm>
          <a:prstGeom prst="roundRect">
            <a:avLst/>
          </a:prstGeom>
          <a:solidFill>
            <a:srgbClr val="EA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5760" y="1463040"/>
            <a:ext cx="5029200" cy="502920"/>
          </a:xfrm>
          <a:prstGeom prst="round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50876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</a:rPr>
              <a:t>Présentation de l'EDS Cameroun 2018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0312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A1A2E"/>
                </a:solidFill>
              </a:rPr>
              <a:t>Enquête nationale représentative (EDS Phase 7)</a:t>
            </a:r>
          </a:p>
          <a:p>
            <a:pPr algn="l">
              <a:buChar char="▸"/>
            </a:pPr>
            <a:r>
              <a:rPr sz="1100" b="0" i="0">
                <a:solidFill>
                  <a:srgbClr val="1A1A2E"/>
                </a:solidFill>
              </a:rPr>
              <a:t>Population : femmes de 15 à 49 ans</a:t>
            </a:r>
          </a:p>
          <a:p>
            <a:pPr algn="l">
              <a:buChar char="▸"/>
            </a:pPr>
            <a:r>
              <a:rPr sz="1100" b="0" i="0">
                <a:solidFill>
                  <a:srgbClr val="1A1A2E"/>
                </a:solidFill>
              </a:rPr>
              <a:t>Fichier utilisé : Dossier individuel femmes (CMIR71FL.dta)</a:t>
            </a:r>
          </a:p>
          <a:p>
            <a:pPr algn="l">
              <a:buChar char="▸"/>
            </a:pPr>
            <a:r>
              <a:rPr sz="1100" b="0" i="0">
                <a:solidFill>
                  <a:srgbClr val="1A1A2E"/>
                </a:solidFill>
              </a:rPr>
              <a:t>Sondage stratifié à deux degrés (grappes et ménages)</a:t>
            </a:r>
          </a:p>
          <a:p>
            <a:pPr algn="l">
              <a:buChar char="▸"/>
            </a:pPr>
            <a:r>
              <a:rPr sz="1100" b="0" i="0">
                <a:solidFill>
                  <a:srgbClr val="1A1A2E"/>
                </a:solidFill>
              </a:rPr>
              <a:t>Poids d'enquête intégrés (variable V005 / 10⁶)</a:t>
            </a:r>
          </a:p>
          <a:p>
            <a:pPr algn="l">
              <a:buChar char="▸"/>
            </a:pPr>
            <a:r>
              <a:rPr sz="1100" b="0" i="0">
                <a:solidFill>
                  <a:srgbClr val="1A1A2E"/>
                </a:solidFill>
              </a:rPr>
              <a:t>Plus de 1 000 variables collectées</a:t>
            </a:r>
          </a:p>
          <a:p>
            <a:pPr algn="l">
              <a:buChar char="▸"/>
            </a:pPr>
            <a:r>
              <a:rPr sz="1100" b="0" i="0">
                <a:solidFill>
                  <a:srgbClr val="1A1A2E"/>
                </a:solidFill>
              </a:rPr>
              <a:t>Données disponibles auprès du programme DHS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60720" y="1463040"/>
            <a:ext cx="6035040" cy="1078992"/>
          </a:xfrm>
          <a:prstGeom prst="round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89320" y="1572768"/>
            <a:ext cx="18288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8C045"/>
                </a:solidFill>
              </a:rPr>
              <a:t>14 677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09560" y="1627632"/>
            <a:ext cx="36576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Femmes dans l'analyse finale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760720" y="2670048"/>
            <a:ext cx="6035040" cy="1078992"/>
          </a:xfrm>
          <a:prstGeom prst="round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89320" y="2779776"/>
            <a:ext cx="18288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8C045"/>
                </a:solidFill>
              </a:rPr>
              <a:t>10 494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09560" y="2834640"/>
            <a:ext cx="36576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Femmes avec au moins un enfant né vivant
(sous-échantillon de régression)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760720" y="3877056"/>
            <a:ext cx="6035040" cy="1078992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89320" y="3986784"/>
            <a:ext cx="18288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8C045"/>
                </a:solidFill>
              </a:rPr>
              <a:t>~34 %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09560" y="4041648"/>
            <a:ext cx="36576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Prévalence de la mortalité infantile
(au moins un enfant décédé)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760720" y="5084064"/>
            <a:ext cx="6035040" cy="1078992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89320" y="5193792"/>
            <a:ext cx="18288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8C045"/>
                </a:solidFill>
              </a:rPr>
              <a:t>20 +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9560" y="5248656"/>
            <a:ext cx="36576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Variables prédictives retenues
(sociodémographiques, reproductives, soins)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4320" y="6601968"/>
            <a:ext cx="10515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</a:rPr>
              <a:t>M. Yannick FONO BINDJEME  |  Institut Saint Jean Ingénieur  |  EDS Cameroun 2018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81360" y="6601968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E8C045"/>
                </a:solidFill>
              </a:rPr>
              <a:t>4 / 19</a:t>
            </a:r>
          </a:p>
        </p:txBody>
      </p:sp>
    </p:spTree>
  </p:cSld>
  <p:clrMapOvr>
    <a:masterClrMapping/>
  </p:clrMapOvr>
  <p:timing>
    <p:tnLst>
      <p:par>
        <p:cTn id="1" dur="indefinite" restart="whenNotActive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/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5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Click" delay="0">
                  <p:tn/>
                </p:cond>
              </p:prevCondLst>
              <p:nextCondLst>
                <p:cond evt="onNextClick" delay="0">
                  <p:tn/>
                </p:cond>
              </p:nextCondLst>
            </p:seq>
          </p:childTnLst>
        </p:cTn>
      </p:par>
    </p:tnLst>
    <p:bldLst/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A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34640"/>
            <a:ext cx="12188952" cy="1188720"/>
          </a:xfrm>
          <a:prstGeom prst="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834640"/>
            <a:ext cx="12188952" cy="54864"/>
          </a:xfrm>
          <a:prstGeom prst="rect">
            <a:avLst/>
          </a:prstGeom>
          <a:solidFill>
            <a:srgbClr val="E8C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3968496"/>
            <a:ext cx="12188952" cy="54864"/>
          </a:xfrm>
          <a:prstGeom prst="rect">
            <a:avLst/>
          </a:prstGeom>
          <a:solidFill>
            <a:srgbClr val="E8C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2286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0" b="1" i="0">
                <a:solidFill>
                  <a:srgbClr val="2C5F8A"/>
                </a:solidFill>
              </a:rPr>
              <a:t>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288036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E8C045"/>
                </a:solidFill>
              </a:rPr>
              <a:t>PARTIE 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331012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</a:rPr>
              <a:t>Analyse Statistique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4069080"/>
            <a:ext cx="8961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AEC6E0"/>
                </a:solidFill>
              </a:rPr>
              <a:t>Exploration des données  •  Analyse bivariée  •  Régression logistique pondérée  •  Résultats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6601968"/>
            <a:ext cx="10515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</a:rPr>
              <a:t>M. Yannick FONO BINDJEME  |  Institut Saint Jean Ingénieur  |  EDS Cameroun 2018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81360" y="6601968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E8C045"/>
                </a:solidFill>
              </a:rPr>
              <a:t>5 / 19</a:t>
            </a:r>
          </a:p>
        </p:txBody>
      </p:sp>
    </p:spTree>
  </p:cSld>
  <p:clrMapOvr>
    <a:masterClrMapping/>
  </p:clrMapOvr>
  <p:timing>
    <p:tnLst>
      <p:par>
        <p:cTn id="1" dur="indefinite" restart="whenNotActive" nodeType="tmRoot">
          <p:childTnLst>
            <p:par>
              <p:cTn id="2" fill="hold">
                <p:stCondLst>
                  <p:cond delay="200"/>
                </p:stCondLst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set>
                          <p:cBhvr>
                            <p:cTn id="4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" dur="550"/>
                            <p:tgtEl>
                              <p:spTgt spid="7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6" fill="hold">
                <p:stCondLst>
                  <p:cond delay="600"/>
                </p:stCondLst>
                <p:childTnLst>
                  <p:par>
                    <p:cTn id="7" fill="hold">
                      <p:stCondLst>
                        <p:cond delay="0"/>
                      </p:stCondLst>
                      <p:childTnLst>
                        <p:set>
                          <p:cBhvr>
                            <p:cTn id="8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9" dur="550"/>
                            <p:tgtEl>
                              <p:spTgt spid="8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</p:childTnLst>
        </p:cTn>
      </p:par>
    </p:tnLst>
    <p:bldLst/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45720"/>
          </a:xfrm>
          <a:prstGeom prst="rect">
            <a:avLst/>
          </a:prstGeom>
          <a:solidFill>
            <a:srgbClr val="E8C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Préparation et Nettoyage des Données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31520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AEC6E0"/>
                </a:solidFill>
              </a:rPr>
              <a:t>Construction de la variable cible et traitement des données manquantes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817352" y="201168"/>
            <a:ext cx="1170432" cy="274320"/>
          </a:xfrm>
          <a:prstGeom prst="round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17352" y="219456"/>
            <a:ext cx="11704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PARTIE 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" y="1508760"/>
            <a:ext cx="2743200" cy="1874519"/>
          </a:xfrm>
          <a:prstGeom prst="round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600200"/>
            <a:ext cx="2514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C045"/>
                </a:solidFill>
              </a:rPr>
              <a:t>1. Chargement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011680"/>
            <a:ext cx="2514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FFFFFF"/>
                </a:solidFill>
              </a:rPr>
              <a:t>Fichier Stata CMIR71FL.dta</a:t>
            </a:r>
          </a:p>
          <a:p>
            <a:pPr algn="l"/>
            <a:r>
              <a:rPr sz="1000" b="0" i="0">
                <a:solidFill>
                  <a:srgbClr val="FFFFFF"/>
                </a:solidFill>
              </a:rPr>
              <a:t>Sélection de 22 variables</a:t>
            </a:r>
          </a:p>
          <a:p>
            <a:pPr algn="l"/>
            <a:r>
              <a:rPr sz="1000" b="0" i="0">
                <a:solidFill>
                  <a:srgbClr val="FFFFFF"/>
                </a:solidFill>
              </a:rPr>
              <a:t>1 000+ variables disponibles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210312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6C757D"/>
                </a:solidFill>
              </a:rPr>
              <a:t>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64408" y="1508760"/>
            <a:ext cx="2743200" cy="1874519"/>
          </a:xfrm>
          <a:prstGeom prst="round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01568" y="1600200"/>
            <a:ext cx="2514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C045"/>
                </a:solidFill>
              </a:rPr>
              <a:t>2. Nettoyage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01568" y="2011680"/>
            <a:ext cx="2514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FFFFFF"/>
                </a:solidFill>
              </a:rPr>
              <a:t>Codes EDS (9, 99, 998, 999)</a:t>
            </a:r>
          </a:p>
          <a:p>
            <a:pPr algn="l"/>
            <a:r>
              <a:rPr sz="1000" b="0" i="0">
                <a:solidFill>
                  <a:srgbClr val="FFFFFF"/>
                </a:solidFill>
              </a:rPr>
              <a:t>traités comme valeurs manquantes</a:t>
            </a:r>
          </a:p>
          <a:p>
            <a:pPr algn="l"/>
            <a:r>
              <a:rPr sz="1000" b="0" i="0">
                <a:solidFill>
                  <a:srgbClr val="FFFFFF"/>
                </a:solidFill>
              </a:rPr>
              <a:t>Imputation médiane / mode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53328" y="210312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6C757D"/>
                </a:solidFill>
              </a:rPr>
              <a:t>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08776" y="1508760"/>
            <a:ext cx="2743200" cy="1874519"/>
          </a:xfrm>
          <a:prstGeom prst="roundRect">
            <a:avLst/>
          </a:prstGeom>
          <a:solidFill>
            <a:srgbClr val="7B2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45936" y="1600200"/>
            <a:ext cx="2514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C045"/>
                </a:solidFill>
              </a:rPr>
              <a:t>3. Cible 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45936" y="2011680"/>
            <a:ext cx="2514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FFFFFF"/>
                </a:solidFill>
              </a:rPr>
              <a:t>Y = 1 si V206 + V207 &gt; 0</a:t>
            </a:r>
          </a:p>
          <a:p>
            <a:pPr algn="l"/>
            <a:r>
              <a:rPr sz="1000" b="0" i="0">
                <a:solidFill>
                  <a:srgbClr val="FFFFFF"/>
                </a:solidFill>
              </a:rPr>
              <a:t>(au moins un enfant décédé)</a:t>
            </a:r>
          </a:p>
          <a:p>
            <a:pPr algn="l"/>
            <a:r>
              <a:rPr sz="1000" b="0" i="0">
                <a:solidFill>
                  <a:srgbClr val="FFFFFF"/>
                </a:solidFill>
              </a:rPr>
              <a:t>Nulligestes → Y = 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97696" y="210312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6C757D"/>
                </a:solidFill>
              </a:rPr>
              <a:t>►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53144" y="1508760"/>
            <a:ext cx="2743200" cy="1874519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90304" y="1600200"/>
            <a:ext cx="2514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C045"/>
                </a:solidFill>
              </a:rPr>
              <a:t>4. Datasets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90304" y="2011680"/>
            <a:ext cx="2514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FFFFFF"/>
                </a:solidFill>
              </a:rPr>
              <a:t>df clean : toutes les femmes</a:t>
            </a:r>
          </a:p>
          <a:p>
            <a:pPr algn="l"/>
            <a:r>
              <a:rPr sz="1000" b="0" i="0">
                <a:solidFill>
                  <a:srgbClr val="FFFFFF"/>
                </a:solidFill>
              </a:rPr>
              <a:t>df stat : 10 494 mères</a:t>
            </a:r>
          </a:p>
          <a:p>
            <a:pPr algn="l"/>
            <a:r>
              <a:rPr sz="1000" b="0" i="0">
                <a:solidFill>
                  <a:srgbClr val="FFFFFF"/>
                </a:solidFill>
              </a:rPr>
              <a:t>df ml  : 14 677 femmes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" y="3611880"/>
            <a:ext cx="11430000" cy="2514600"/>
          </a:xfrm>
          <a:prstGeom prst="roundRect">
            <a:avLst/>
          </a:prstGeom>
          <a:solidFill>
            <a:srgbClr val="EA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365760" y="3611880"/>
            <a:ext cx="11430000" cy="365760"/>
          </a:xfrm>
          <a:prstGeom prst="round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363931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Variables Prédictives Retenues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4096512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2C5F8A"/>
                </a:solidFill>
              </a:rPr>
              <a:t>Sociodémographiques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4462272"/>
            <a:ext cx="35661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Âge, Niveau d'éducation, Région, Milieu de résidence, Richesse, Statut matrimonial, Religion, Emploi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97680" y="4096512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2C5F8A"/>
                </a:solidFill>
              </a:rPr>
              <a:t>Reproductives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7680" y="4462272"/>
            <a:ext cx="35661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Nombre d'enfants nés vivants, Âge à la 1ère naissance, Naissances récentes (5 ans), Grossesses interrompues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92440" y="4096512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2C5F8A"/>
                </a:solidFill>
              </a:rPr>
              <a:t>Accès aux soins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92440" y="4462272"/>
            <a:ext cx="35661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Assurance maladie, Consultation dans les 12 mois, Obstacles aux soins, Électricité au domicile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74320" y="6601968"/>
            <a:ext cx="10515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</a:rPr>
              <a:t>M. Yannick FONO BINDJEME  |  Institut Saint Jean Ingénieur  |  EDS Cameroun 2018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881360" y="6601968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E8C045"/>
                </a:solidFill>
              </a:rPr>
              <a:t>6 / 19</a:t>
            </a:r>
          </a:p>
        </p:txBody>
      </p:sp>
    </p:spTree>
  </p:cSld>
  <p:clrMapOvr>
    <a:masterClrMapping/>
  </p:clrMapOvr>
  <p:timing>
    <p:tnLst>
      <p:par>
        <p:cTn id="1" dur="indefinite" restart="whenNotActive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/>
                                  <p:tgtEl>
                                    <p:spTgt spid="2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550"/>
                                  <p:tgtEl>
                                    <p:spTgt spid="2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200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9" dur="1" fill="hold"/>
                                  <p:tgtEl>
                                    <p:spTgt spid="2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" dur="550"/>
                                  <p:tgtEl>
                                    <p:spTgt spid="2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200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3" dur="1" fill="hold"/>
                                  <p:tgtEl>
                                    <p:spTgt spid="3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4" dur="550"/>
                                  <p:tgtEl>
                                    <p:spTgt spid="3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Click" delay="0">
                  <p:tn/>
                </p:cond>
              </p:prevCondLst>
              <p:nextCondLst>
                <p:cond evt="onNextClick" delay="0">
                  <p:tn/>
                </p:cond>
              </p:nextCondLst>
            </p:seq>
          </p:childTnLst>
        </p:cTn>
      </p:par>
    </p:tnLst>
    <p:bldLst/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45720"/>
          </a:xfrm>
          <a:prstGeom prst="rect">
            <a:avLst/>
          </a:prstGeom>
          <a:solidFill>
            <a:srgbClr val="E8C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Statistiques Descriptives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31520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AEC6E0"/>
                </a:solidFill>
              </a:rPr>
              <a:t>Profil sociodémographique et reproductif des femmes de l'échantillon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817352" y="201168"/>
            <a:ext cx="1170432" cy="274320"/>
          </a:xfrm>
          <a:prstGeom prst="round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17352" y="219456"/>
            <a:ext cx="11704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PARTIE I</a:t>
            </a:r>
          </a:p>
        </p:txBody>
      </p:sp>
      <p:pic>
        <p:nvPicPr>
          <p:cNvPr id="8" name="Picture 7" descr="prevalence_bivarie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417320"/>
            <a:ext cx="7132320" cy="512064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680960" y="1417320"/>
            <a:ext cx="4160520" cy="5120640"/>
          </a:xfrm>
          <a:prstGeom prst="roundRect">
            <a:avLst/>
          </a:prstGeom>
          <a:solidFill>
            <a:srgbClr val="EA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818120" y="1572768"/>
            <a:ext cx="3886200" cy="6583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818120" y="1572768"/>
            <a:ext cx="54864" cy="658368"/>
          </a:xfrm>
          <a:prstGeom prst="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55279" y="1627632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C5F8A"/>
                </a:solidFill>
              </a:rPr>
              <a:t>30,2 ans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64040" y="1664208"/>
            <a:ext cx="2148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Âge moyen des femmes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18120" y="2395728"/>
            <a:ext cx="3886200" cy="6583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818120" y="2395728"/>
            <a:ext cx="54864" cy="65836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55279" y="2450592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74C3C"/>
                </a:solidFill>
              </a:rPr>
              <a:t>34,1 %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64040" y="2487168"/>
            <a:ext cx="2148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Prévalence mortalité infantile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18120" y="3218688"/>
            <a:ext cx="3886200" cy="6583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818120" y="3218688"/>
            <a:ext cx="54864" cy="65836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55279" y="3273552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7AE60"/>
                </a:solidFill>
              </a:rPr>
              <a:t>3,2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64040" y="3310128"/>
            <a:ext cx="2148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Nombre moyen d'enfants nés vivants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818120" y="4041648"/>
            <a:ext cx="3886200" cy="6583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818120" y="4041648"/>
            <a:ext cx="54864" cy="658368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55279" y="4096512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39C12"/>
                </a:solidFill>
              </a:rPr>
              <a:t>21,4 ans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64040" y="4133088"/>
            <a:ext cx="2148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Âge médian à la 1ère naissance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818120" y="4864608"/>
            <a:ext cx="3886200" cy="6583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818120" y="4864608"/>
            <a:ext cx="54864" cy="658368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55279" y="4919472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3A5C"/>
                </a:solidFill>
              </a:rPr>
              <a:t>47 %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64040" y="4956048"/>
            <a:ext cx="2148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Niveau secondaire (le plus fréquent)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818120" y="5687568"/>
            <a:ext cx="3886200" cy="6583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818120" y="5687568"/>
            <a:ext cx="54864" cy="658368"/>
          </a:xfrm>
          <a:prstGeom prst="rect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955279" y="5742432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C757D"/>
                </a:solidFill>
              </a:rPr>
              <a:t>55 %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64040" y="5779008"/>
            <a:ext cx="2148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Milieu rural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4320" y="6601968"/>
            <a:ext cx="10515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</a:rPr>
              <a:t>M. Yannick FONO BINDJEME  |  Institut Saint Jean Ingénieur  |  EDS Cameroun 2018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881360" y="6601968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E8C045"/>
                </a:solidFill>
              </a:rPr>
              <a:t>7 / 19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45720"/>
          </a:xfrm>
          <a:prstGeom prst="rect">
            <a:avLst/>
          </a:prstGeom>
          <a:solidFill>
            <a:srgbClr val="E8C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Analyse Bivariée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31520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AEC6E0"/>
                </a:solidFill>
              </a:rPr>
              <a:t>Tests du Khi-deux et t-tests — Association avec la mortalité infantile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817352" y="201168"/>
            <a:ext cx="1170432" cy="274320"/>
          </a:xfrm>
          <a:prstGeom prst="round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17352" y="219456"/>
            <a:ext cx="11704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PARTIE I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417320"/>
            <a:ext cx="2926080" cy="36576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8" y="1435608"/>
            <a:ext cx="2834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</a:rPr>
              <a:t>Variable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37560" y="1417320"/>
            <a:ext cx="1371600" cy="36576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01568" y="1435608"/>
            <a:ext cx="1280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</a:rPr>
              <a:t>Test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54880" y="1417320"/>
            <a:ext cx="1371600" cy="36576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18888" y="1435608"/>
            <a:ext cx="1280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</a:rPr>
              <a:t>p-valeur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72200" y="1417320"/>
            <a:ext cx="1280160" cy="36576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36208" y="1435608"/>
            <a:ext cx="1188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</a:rPr>
              <a:t>Significativité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1783080"/>
            <a:ext cx="2926080" cy="310896"/>
          </a:xfrm>
          <a:prstGeom prst="rect">
            <a:avLst/>
          </a:prstGeom>
          <a:solidFill>
            <a:srgbClr val="EAF2FB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9768" y="1837944"/>
            <a:ext cx="28346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Niveau d'éducation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37560" y="1783080"/>
            <a:ext cx="1371600" cy="310896"/>
          </a:xfrm>
          <a:prstGeom prst="rect">
            <a:avLst/>
          </a:prstGeom>
          <a:solidFill>
            <a:srgbClr val="EAF2FB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01568" y="1837944"/>
            <a:ext cx="12801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Khi-deux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754880" y="1783080"/>
            <a:ext cx="1371600" cy="310896"/>
          </a:xfrm>
          <a:prstGeom prst="rect">
            <a:avLst/>
          </a:prstGeom>
          <a:solidFill>
            <a:srgbClr val="EAF2FB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18888" y="1837944"/>
            <a:ext cx="12801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&lt; 0,001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72200" y="1783080"/>
            <a:ext cx="1280160" cy="310896"/>
          </a:xfrm>
          <a:prstGeom prst="rect">
            <a:avLst/>
          </a:prstGeom>
          <a:solidFill>
            <a:srgbClr val="EAF2FB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36208" y="1837944"/>
            <a:ext cx="11887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7AE60"/>
                </a:solidFill>
              </a:rPr>
              <a:t>***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2093976"/>
            <a:ext cx="29260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9768" y="2148840"/>
            <a:ext cx="28346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Richesse du ménage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337560" y="2093976"/>
            <a:ext cx="13716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01568" y="2148840"/>
            <a:ext cx="12801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Khi-deux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754880" y="2093976"/>
            <a:ext cx="13716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18888" y="2148840"/>
            <a:ext cx="12801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&lt; 0,001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72200" y="2093976"/>
            <a:ext cx="128016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36208" y="2148840"/>
            <a:ext cx="11887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7AE60"/>
                </a:solidFill>
              </a:rPr>
              <a:t>***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2404872"/>
            <a:ext cx="2926080" cy="310896"/>
          </a:xfrm>
          <a:prstGeom prst="rect">
            <a:avLst/>
          </a:prstGeom>
          <a:solidFill>
            <a:srgbClr val="EAF2FB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29768" y="2459736"/>
            <a:ext cx="28346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Région de résidence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337560" y="2404872"/>
            <a:ext cx="1371600" cy="310896"/>
          </a:xfrm>
          <a:prstGeom prst="rect">
            <a:avLst/>
          </a:prstGeom>
          <a:solidFill>
            <a:srgbClr val="EAF2FB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401568" y="2459736"/>
            <a:ext cx="12801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Khi-deux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754880" y="2404872"/>
            <a:ext cx="1371600" cy="310896"/>
          </a:xfrm>
          <a:prstGeom prst="rect">
            <a:avLst/>
          </a:prstGeom>
          <a:solidFill>
            <a:srgbClr val="EAF2FB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818888" y="2459736"/>
            <a:ext cx="12801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&lt; 0,001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72200" y="2404872"/>
            <a:ext cx="1280160" cy="310896"/>
          </a:xfrm>
          <a:prstGeom prst="rect">
            <a:avLst/>
          </a:prstGeom>
          <a:solidFill>
            <a:srgbClr val="EAF2FB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36208" y="2459736"/>
            <a:ext cx="11887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7AE60"/>
                </a:solidFill>
              </a:rPr>
              <a:t>***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2715768"/>
            <a:ext cx="29260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29768" y="2770632"/>
            <a:ext cx="28346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Âge à la 1ère naissance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337560" y="2715768"/>
            <a:ext cx="13716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401568" y="2770632"/>
            <a:ext cx="12801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Khi-deux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754880" y="2715768"/>
            <a:ext cx="13716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818888" y="2770632"/>
            <a:ext cx="12801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&lt; 0,001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72200" y="2715768"/>
            <a:ext cx="128016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236208" y="2770632"/>
            <a:ext cx="11887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7AE60"/>
                </a:solidFill>
              </a:rPr>
              <a:t>***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65760" y="3026664"/>
            <a:ext cx="2926080" cy="310896"/>
          </a:xfrm>
          <a:prstGeom prst="rect">
            <a:avLst/>
          </a:prstGeom>
          <a:solidFill>
            <a:srgbClr val="EAF2FB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29768" y="3081528"/>
            <a:ext cx="28346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Nombre d'enfants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337560" y="3026664"/>
            <a:ext cx="1371600" cy="310896"/>
          </a:xfrm>
          <a:prstGeom prst="rect">
            <a:avLst/>
          </a:prstGeom>
          <a:solidFill>
            <a:srgbClr val="EAF2FB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401568" y="3081528"/>
            <a:ext cx="12801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t-test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754880" y="3026664"/>
            <a:ext cx="1371600" cy="310896"/>
          </a:xfrm>
          <a:prstGeom prst="rect">
            <a:avLst/>
          </a:prstGeom>
          <a:solidFill>
            <a:srgbClr val="EAF2FB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818888" y="3081528"/>
            <a:ext cx="12801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&lt; 0,001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172200" y="3026664"/>
            <a:ext cx="1280160" cy="310896"/>
          </a:xfrm>
          <a:prstGeom prst="rect">
            <a:avLst/>
          </a:prstGeom>
          <a:solidFill>
            <a:srgbClr val="EAF2FB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236208" y="3081528"/>
            <a:ext cx="11887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7AE60"/>
                </a:solidFill>
              </a:rPr>
              <a:t>***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65760" y="3337560"/>
            <a:ext cx="29260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29768" y="3392424"/>
            <a:ext cx="28346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Milieu de résidence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337560" y="3337560"/>
            <a:ext cx="13716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401568" y="3392424"/>
            <a:ext cx="12801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Khi-deux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754880" y="3337560"/>
            <a:ext cx="13716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818888" y="3392424"/>
            <a:ext cx="12801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&lt; 0,001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172200" y="3337560"/>
            <a:ext cx="128016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236208" y="3392424"/>
            <a:ext cx="11887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7AE60"/>
                </a:solidFill>
              </a:rPr>
              <a:t>***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65760" y="3648456"/>
            <a:ext cx="2926080" cy="310896"/>
          </a:xfrm>
          <a:prstGeom prst="rect">
            <a:avLst/>
          </a:prstGeom>
          <a:solidFill>
            <a:srgbClr val="EAF2FB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29768" y="3703320"/>
            <a:ext cx="28346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Statut matrimonial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337560" y="3648456"/>
            <a:ext cx="1371600" cy="310896"/>
          </a:xfrm>
          <a:prstGeom prst="rect">
            <a:avLst/>
          </a:prstGeom>
          <a:solidFill>
            <a:srgbClr val="EAF2FB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401568" y="3703320"/>
            <a:ext cx="12801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Khi-deux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754880" y="3648456"/>
            <a:ext cx="1371600" cy="310896"/>
          </a:xfrm>
          <a:prstGeom prst="rect">
            <a:avLst/>
          </a:prstGeom>
          <a:solidFill>
            <a:srgbClr val="EAF2FB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818888" y="3703320"/>
            <a:ext cx="12801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&lt; 0,001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172200" y="3648456"/>
            <a:ext cx="1280160" cy="310896"/>
          </a:xfrm>
          <a:prstGeom prst="rect">
            <a:avLst/>
          </a:prstGeom>
          <a:solidFill>
            <a:srgbClr val="EAF2FB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236208" y="3703320"/>
            <a:ext cx="11887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7AE60"/>
                </a:solidFill>
              </a:rPr>
              <a:t>***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65760" y="3959352"/>
            <a:ext cx="29260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29768" y="4014216"/>
            <a:ext cx="28346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Emploi</a:t>
            </a:r>
          </a:p>
        </p:txBody>
      </p:sp>
      <p:sp>
        <p:nvSpPr>
          <p:cNvPr id="74" name="Rectangle 73"/>
          <p:cNvSpPr/>
          <p:nvPr/>
        </p:nvSpPr>
        <p:spPr>
          <a:xfrm>
            <a:off x="3337560" y="3959352"/>
            <a:ext cx="13716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3401568" y="4014216"/>
            <a:ext cx="12801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Khi-deux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754880" y="3959352"/>
            <a:ext cx="13716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4818888" y="4014216"/>
            <a:ext cx="12801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&lt; 0,001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172200" y="3959352"/>
            <a:ext cx="128016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236208" y="4014216"/>
            <a:ext cx="11887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7AE60"/>
                </a:solidFill>
              </a:rPr>
              <a:t>***</a:t>
            </a:r>
          </a:p>
        </p:txBody>
      </p:sp>
      <p:sp>
        <p:nvSpPr>
          <p:cNvPr id="80" name="Rectangle 79"/>
          <p:cNvSpPr/>
          <p:nvPr/>
        </p:nvSpPr>
        <p:spPr>
          <a:xfrm>
            <a:off x="365760" y="4270248"/>
            <a:ext cx="2926080" cy="310896"/>
          </a:xfrm>
          <a:prstGeom prst="rect">
            <a:avLst/>
          </a:prstGeom>
          <a:solidFill>
            <a:srgbClr val="EAF2FB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429768" y="4325112"/>
            <a:ext cx="28346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Assurance maladie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337560" y="4270248"/>
            <a:ext cx="1371600" cy="310896"/>
          </a:xfrm>
          <a:prstGeom prst="rect">
            <a:avLst/>
          </a:prstGeom>
          <a:solidFill>
            <a:srgbClr val="EAF2FB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401568" y="4325112"/>
            <a:ext cx="12801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Khi-deux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754880" y="4270248"/>
            <a:ext cx="1371600" cy="310896"/>
          </a:xfrm>
          <a:prstGeom prst="rect">
            <a:avLst/>
          </a:prstGeom>
          <a:solidFill>
            <a:srgbClr val="EAF2FB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4818888" y="4325112"/>
            <a:ext cx="12801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&lt; 0,001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172200" y="4270248"/>
            <a:ext cx="1280160" cy="310896"/>
          </a:xfrm>
          <a:prstGeom prst="rect">
            <a:avLst/>
          </a:prstGeom>
          <a:solidFill>
            <a:srgbClr val="EAF2FB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236208" y="4325112"/>
            <a:ext cx="11887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7AE60"/>
                </a:solidFill>
              </a:rPr>
              <a:t>***</a:t>
            </a:r>
          </a:p>
        </p:txBody>
      </p:sp>
      <p:sp>
        <p:nvSpPr>
          <p:cNvPr id="88" name="Rectangle 87"/>
          <p:cNvSpPr/>
          <p:nvPr/>
        </p:nvSpPr>
        <p:spPr>
          <a:xfrm>
            <a:off x="365760" y="4581144"/>
            <a:ext cx="29260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29768" y="4636008"/>
            <a:ext cx="28346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Grossesses interrompues</a:t>
            </a:r>
          </a:p>
        </p:txBody>
      </p:sp>
      <p:sp>
        <p:nvSpPr>
          <p:cNvPr id="90" name="Rectangle 89"/>
          <p:cNvSpPr/>
          <p:nvPr/>
        </p:nvSpPr>
        <p:spPr>
          <a:xfrm>
            <a:off x="3337560" y="4581144"/>
            <a:ext cx="13716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3401568" y="4636008"/>
            <a:ext cx="12801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Khi-deux</a:t>
            </a:r>
          </a:p>
        </p:txBody>
      </p:sp>
      <p:sp>
        <p:nvSpPr>
          <p:cNvPr id="92" name="Rectangle 91"/>
          <p:cNvSpPr/>
          <p:nvPr/>
        </p:nvSpPr>
        <p:spPr>
          <a:xfrm>
            <a:off x="4754880" y="4581144"/>
            <a:ext cx="13716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818888" y="4636008"/>
            <a:ext cx="12801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&lt; 0,001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172200" y="4581144"/>
            <a:ext cx="128016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236208" y="4636008"/>
            <a:ext cx="11887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7AE60"/>
                </a:solidFill>
              </a:rPr>
              <a:t>***</a:t>
            </a:r>
          </a:p>
        </p:txBody>
      </p:sp>
      <p:sp>
        <p:nvSpPr>
          <p:cNvPr id="96" name="Rectangle 95"/>
          <p:cNvSpPr/>
          <p:nvPr/>
        </p:nvSpPr>
        <p:spPr>
          <a:xfrm>
            <a:off x="365760" y="4892040"/>
            <a:ext cx="2926080" cy="310896"/>
          </a:xfrm>
          <a:prstGeom prst="rect">
            <a:avLst/>
          </a:prstGeom>
          <a:solidFill>
            <a:srgbClr val="EAF2FB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429768" y="4946904"/>
            <a:ext cx="28346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Naissances récentes</a:t>
            </a:r>
          </a:p>
        </p:txBody>
      </p:sp>
      <p:sp>
        <p:nvSpPr>
          <p:cNvPr id="98" name="Rectangle 97"/>
          <p:cNvSpPr/>
          <p:nvPr/>
        </p:nvSpPr>
        <p:spPr>
          <a:xfrm>
            <a:off x="3337560" y="4892040"/>
            <a:ext cx="1371600" cy="310896"/>
          </a:xfrm>
          <a:prstGeom prst="rect">
            <a:avLst/>
          </a:prstGeom>
          <a:solidFill>
            <a:srgbClr val="EAF2FB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3401568" y="4946904"/>
            <a:ext cx="12801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Khi-deux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754880" y="4892040"/>
            <a:ext cx="1371600" cy="310896"/>
          </a:xfrm>
          <a:prstGeom prst="rect">
            <a:avLst/>
          </a:prstGeom>
          <a:solidFill>
            <a:srgbClr val="EAF2FB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4818888" y="4946904"/>
            <a:ext cx="12801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&lt; 0,001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172200" y="4892040"/>
            <a:ext cx="1280160" cy="310896"/>
          </a:xfrm>
          <a:prstGeom prst="rect">
            <a:avLst/>
          </a:prstGeom>
          <a:solidFill>
            <a:srgbClr val="EAF2FB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236208" y="4946904"/>
            <a:ext cx="11887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7AE60"/>
                </a:solidFill>
              </a:rPr>
              <a:t>***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365760" y="5202936"/>
            <a:ext cx="29260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429768" y="5257800"/>
            <a:ext cx="28346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Religion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3337560" y="5202936"/>
            <a:ext cx="13716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3401568" y="5257800"/>
            <a:ext cx="12801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Khi-deux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4754880" y="5202936"/>
            <a:ext cx="13716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4818888" y="5257800"/>
            <a:ext cx="12801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0,002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6172200" y="5202936"/>
            <a:ext cx="128016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6236208" y="5257800"/>
            <a:ext cx="11887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39C12"/>
                </a:solidFill>
              </a:rPr>
              <a:t>**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365760" y="5513832"/>
            <a:ext cx="2926080" cy="310896"/>
          </a:xfrm>
          <a:prstGeom prst="rect">
            <a:avLst/>
          </a:prstGeom>
          <a:solidFill>
            <a:srgbClr val="EAF2FB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429768" y="5568696"/>
            <a:ext cx="28346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Consultation soins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3337560" y="5513832"/>
            <a:ext cx="1371600" cy="310896"/>
          </a:xfrm>
          <a:prstGeom prst="rect">
            <a:avLst/>
          </a:prstGeom>
          <a:solidFill>
            <a:srgbClr val="EAF2FB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3401568" y="5568696"/>
            <a:ext cx="12801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Khi-deux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4754880" y="5513832"/>
            <a:ext cx="1371600" cy="310896"/>
          </a:xfrm>
          <a:prstGeom prst="rect">
            <a:avLst/>
          </a:prstGeom>
          <a:solidFill>
            <a:srgbClr val="EAF2FB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4818888" y="5568696"/>
            <a:ext cx="12801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&lt; 0,001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6172200" y="5513832"/>
            <a:ext cx="1280160" cy="310896"/>
          </a:xfrm>
          <a:prstGeom prst="rect">
            <a:avLst/>
          </a:prstGeom>
          <a:solidFill>
            <a:srgbClr val="EAF2FB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6236208" y="5568696"/>
            <a:ext cx="11887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7AE60"/>
                </a:solidFill>
              </a:rPr>
              <a:t>***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365760" y="5824728"/>
            <a:ext cx="29260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429768" y="5879592"/>
            <a:ext cx="28346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Électricité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3337560" y="5824728"/>
            <a:ext cx="13716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3401568" y="5879592"/>
            <a:ext cx="12801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Khi-deux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4754880" y="5824728"/>
            <a:ext cx="13716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4818888" y="5879592"/>
            <a:ext cx="12801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&lt; 0,001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6172200" y="5824728"/>
            <a:ext cx="128016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6236208" y="5879592"/>
            <a:ext cx="11887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7AE60"/>
                </a:solidFill>
              </a:rPr>
              <a:t>***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365760" y="6291072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6C757D"/>
                </a:solidFill>
              </a:rPr>
              <a:t>*** p &lt; 0,001   ** p &lt; 0,01   Toutes les 14 variables sont significativement associées à la mortalité infantile.</a:t>
            </a:r>
          </a:p>
        </p:txBody>
      </p:sp>
      <p:sp>
        <p:nvSpPr>
          <p:cNvPr id="129" name="Rounded Rectangle 128"/>
          <p:cNvSpPr/>
          <p:nvPr/>
        </p:nvSpPr>
        <p:spPr>
          <a:xfrm>
            <a:off x="7726679" y="1417320"/>
            <a:ext cx="4160520" cy="5120640"/>
          </a:xfrm>
          <a:prstGeom prst="roundRect">
            <a:avLst/>
          </a:prstGeom>
          <a:solidFill>
            <a:srgbClr val="EA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7726679" y="1417320"/>
            <a:ext cx="4160520" cy="54864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7909560" y="1572768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A5C"/>
                </a:solidFill>
              </a:rPr>
              <a:t>Principaux résultats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7909560" y="2011680"/>
            <a:ext cx="3749039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27AE60"/>
                </a:solidFill>
              </a:rPr>
              <a:t>14 / 14 variables significatives (p &lt; 0,05)</a:t>
            </a:r>
          </a:p>
          <a:p>
            <a:pPr algn="l">
              <a:buChar char="▸"/>
            </a:pPr>
            <a:r>
              <a:rPr sz="1050" b="0" i="0">
                <a:solidFill>
                  <a:srgbClr val="1A1A2E"/>
                </a:solidFill>
              </a:rPr>
              <a:t>Variables les plus fortement associées :
  → Éducation, parité, âge 1ère naissance</a:t>
            </a:r>
          </a:p>
          <a:p>
            <a:pPr algn="l">
              <a:buChar char="▸"/>
            </a:pPr>
            <a:r>
              <a:rPr sz="1050" b="0" i="0">
                <a:solidFill>
                  <a:srgbClr val="1A1A2E"/>
                </a:solidFill>
              </a:rPr>
              <a:t>Richesse et région : reflet des inégalités socio-économiques</a:t>
            </a:r>
          </a:p>
          <a:p>
            <a:pPr algn="l">
              <a:buChar char="▸"/>
            </a:pPr>
            <a:r>
              <a:rPr sz="1050" b="0" i="0">
                <a:solidFill>
                  <a:srgbClr val="1A1A2E"/>
                </a:solidFill>
              </a:rPr>
              <a:t>Accès aux soins : fort effet protecteur</a:t>
            </a:r>
          </a:p>
          <a:p>
            <a:pPr algn="l">
              <a:buChar char="▸"/>
            </a:pPr>
            <a:r>
              <a:rPr sz="1050" b="0" i="0">
                <a:solidFill>
                  <a:srgbClr val="1A1A2E"/>
                </a:solidFill>
              </a:rPr>
              <a:t>Fondement pour la régression multivariée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274320" y="6601968"/>
            <a:ext cx="10515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</a:rPr>
              <a:t>M. Yannick FONO BINDJEME  |  Institut Saint Jean Ingénieur  |  EDS Cameroun 2018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10881360" y="6601968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E8C045"/>
                </a:solidFill>
              </a:rPr>
              <a:t>8 / 19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45720"/>
          </a:xfrm>
          <a:prstGeom prst="rect">
            <a:avLst/>
          </a:prstGeom>
          <a:solidFill>
            <a:srgbClr val="E8C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Régression Logistique Pondérée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31520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AEC6E0"/>
                </a:solidFill>
              </a:rPr>
              <a:t>Modèle complet intégrant l'ensemble des blocs de variables — n = 10 494 mères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817352" y="201168"/>
            <a:ext cx="1170432" cy="274320"/>
          </a:xfrm>
          <a:prstGeom prst="round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17352" y="219456"/>
            <a:ext cx="11704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PARTIE 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" y="1463040"/>
            <a:ext cx="3794760" cy="1965960"/>
          </a:xfrm>
          <a:prstGeom prst="round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554480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8C045"/>
                </a:solidFill>
              </a:rPr>
              <a:t>Bloc 1 : Sociodémographique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121408"/>
            <a:ext cx="35661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Âge, niveau d'éducation, région, milieu de résidence,
quintile de richesse, statut matrimonial, religion, emploi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87952" y="2011680"/>
            <a:ext cx="27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E8C045"/>
                </a:solidFill>
              </a:rPr>
              <a:t>+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70248" y="1463040"/>
            <a:ext cx="3794760" cy="1965960"/>
          </a:xfrm>
          <a:prstGeom prst="round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07408" y="1554480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8C045"/>
                </a:solidFill>
              </a:rPr>
              <a:t>Bloc 2 : Reproductif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07408" y="2121408"/>
            <a:ext cx="35661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Nombre d'enfants nés vivants, âge à la 1ère naissance,
naissances récentes (5 ans), grossesses interrompues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2011680"/>
            <a:ext cx="27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E8C045"/>
                </a:solidFill>
              </a:rPr>
              <a:t>+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0456" y="1463040"/>
            <a:ext cx="3794760" cy="1965960"/>
          </a:xfrm>
          <a:prstGeom prst="roundRect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57616" y="1554480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8C045"/>
                </a:solidFill>
              </a:rPr>
              <a:t>Bloc 3 : Accès aux soins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57616" y="2121408"/>
            <a:ext cx="35661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Assurance maladie, consultation établissement de soins,
visite agent de santé, électricité, obstacles aux soins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3611880"/>
            <a:ext cx="11430000" cy="2606040"/>
          </a:xfrm>
          <a:prstGeom prst="roundRect">
            <a:avLst/>
          </a:prstGeom>
          <a:solidFill>
            <a:srgbClr val="EA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65760" y="3611880"/>
            <a:ext cx="11430000" cy="365760"/>
          </a:xfrm>
          <a:prstGeom prst="round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363931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Paramètres Méthodologiques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114800"/>
            <a:ext cx="2697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2C5F8A"/>
                </a:solidFill>
              </a:rPr>
              <a:t>Pondération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4462272"/>
            <a:ext cx="2697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1A1A2E"/>
                </a:solidFill>
              </a:rPr>
              <a:t>Poids normalisés : w = V005/10⁶
divisé par la moyenne des poids</a:t>
            </a:r>
          </a:p>
          <a:p>
            <a:pPr algn="l">
              <a:buChar char="▸"/>
            </a:pPr>
            <a:r>
              <a:rPr sz="950" b="0" i="0">
                <a:solidFill>
                  <a:srgbClr val="1A1A2E"/>
                </a:solidFill>
              </a:rPr>
              <a:t>Écart-type robuste (HC1)</a:t>
            </a:r>
          </a:p>
          <a:p>
            <a:pPr algn="l">
              <a:buChar char="▸"/>
            </a:pPr>
            <a:r>
              <a:rPr sz="950" b="0" i="0">
                <a:solidFill>
                  <a:srgbClr val="1A1A2E"/>
                </a:solidFill>
              </a:rPr>
              <a:t>Hypothèse : MCAR sur les poids manquants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29000" y="4114800"/>
            <a:ext cx="2697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2C5F8A"/>
                </a:solidFill>
              </a:rPr>
              <a:t>Qualité du modèle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29000" y="4462272"/>
            <a:ext cx="2697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1A1A2E"/>
                </a:solidFill>
              </a:rPr>
              <a:t>AUC sur données test (25 %)</a:t>
            </a:r>
          </a:p>
          <a:p>
            <a:pPr algn="l">
              <a:buChar char="▸"/>
            </a:pPr>
            <a:r>
              <a:rPr sz="950" b="0" i="0">
                <a:solidFill>
                  <a:srgbClr val="1A1A2E"/>
                </a:solidFill>
              </a:rPr>
              <a:t>Pseudo-R² de McFadden et Nagelkerke</a:t>
            </a:r>
          </a:p>
          <a:p>
            <a:pPr algn="l">
              <a:buChar char="▸"/>
            </a:pPr>
            <a:r>
              <a:rPr sz="950" b="0" i="0">
                <a:solidFill>
                  <a:srgbClr val="1A1A2E"/>
                </a:solidFill>
              </a:rPr>
              <a:t>Test de Hosmer-Lemeshow (calibration)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59" y="4114800"/>
            <a:ext cx="2697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2C5F8A"/>
                </a:solidFill>
              </a:rPr>
              <a:t>Diagnostic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59" y="4462272"/>
            <a:ext cx="2697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1A1A2E"/>
                </a:solidFill>
              </a:rPr>
              <a:t>VIF pour toutes les variables
(seuil : VIF &gt; 10 = problématique)</a:t>
            </a:r>
          </a:p>
          <a:p>
            <a:pPr algn="l">
              <a:buChar char="▸"/>
            </a:pPr>
            <a:r>
              <a:rPr sz="950" b="0" i="0">
                <a:solidFill>
                  <a:srgbClr val="1A1A2E"/>
                </a:solidFill>
              </a:rPr>
              <a:t>Aucune multicolinéarité problématique</a:t>
            </a:r>
          </a:p>
          <a:p>
            <a:pPr algn="l">
              <a:buChar char="▸"/>
            </a:pPr>
            <a:r>
              <a:rPr sz="950" b="0" i="0">
                <a:solidFill>
                  <a:srgbClr val="1A1A2E"/>
                </a:solidFill>
              </a:rPr>
              <a:t>Séparation parfaite évitée (sous-groupe mères)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89719" y="4114800"/>
            <a:ext cx="2697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2C5F8A"/>
                </a:solidFill>
              </a:rPr>
              <a:t>Catégories de référence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9719" y="4462272"/>
            <a:ext cx="2697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1A1A2E"/>
                </a:solidFill>
              </a:rPr>
              <a:t>Éducation : Supérieur</a:t>
            </a:r>
          </a:p>
          <a:p>
            <a:pPr algn="l">
              <a:buChar char="▸"/>
            </a:pPr>
            <a:r>
              <a:rPr sz="950" b="0" i="0">
                <a:solidFill>
                  <a:srgbClr val="1A1A2E"/>
                </a:solidFill>
              </a:rPr>
              <a:t>Résidence : Urbain</a:t>
            </a:r>
          </a:p>
          <a:p>
            <a:pPr algn="l">
              <a:buChar char="▸"/>
            </a:pPr>
            <a:r>
              <a:rPr sz="950" b="0" i="0">
                <a:solidFill>
                  <a:srgbClr val="1A1A2E"/>
                </a:solidFill>
              </a:rPr>
              <a:t>Richesse : Très riche</a:t>
            </a:r>
          </a:p>
          <a:p>
            <a:pPr algn="l">
              <a:buChar char="▸"/>
            </a:pPr>
            <a:r>
              <a:rPr sz="950" b="0" i="0">
                <a:solidFill>
                  <a:srgbClr val="1A1A2E"/>
                </a:solidFill>
              </a:rPr>
              <a:t>Âge 1ère naissance : 25 ans et plus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4320" y="6601968"/>
            <a:ext cx="10515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</a:rPr>
              <a:t>M. Yannick FONO BINDJEME  |  Institut Saint Jean Ingénieur  |  EDS Cameroun 2018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881360" y="6601968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E8C045"/>
                </a:solidFill>
              </a:rPr>
              <a:t>9 / 19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45720"/>
          </a:xfrm>
          <a:prstGeom prst="rect">
            <a:avLst/>
          </a:prstGeom>
          <a:solidFill>
            <a:srgbClr val="E8C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Résultats — Facteurs de Risque et Protecteurs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31520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AEC6E0"/>
                </a:solidFill>
              </a:rPr>
              <a:t>Odds ratios ajustés — Modèle 3 complet — n = 10 494 femmes avec enfants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817352" y="201168"/>
            <a:ext cx="1170432" cy="274320"/>
          </a:xfrm>
          <a:prstGeom prst="round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17352" y="219456"/>
            <a:ext cx="11704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PARTIE I</a:t>
            </a:r>
          </a:p>
        </p:txBody>
      </p:sp>
      <p:pic>
        <p:nvPicPr>
          <p:cNvPr id="8" name="Picture 7" descr="forest_plot_sta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444752"/>
            <a:ext cx="5349240" cy="512064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943600" y="1444752"/>
            <a:ext cx="5943600" cy="5120640"/>
          </a:xfrm>
          <a:prstGeom prst="roundRect">
            <a:avLst/>
          </a:prstGeom>
          <a:solidFill>
            <a:srgbClr val="EA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943600" y="1444752"/>
            <a:ext cx="5943600" cy="384048"/>
          </a:xfrm>
          <a:prstGeom prst="round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0" y="1481328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Odds Ratios Ajustés — Résultats Clés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1938528"/>
            <a:ext cx="5943600" cy="420624"/>
          </a:xfrm>
          <a:prstGeom prst="rect">
            <a:avLst/>
          </a:prstGeom>
          <a:solidFill>
            <a:srgbClr val="D0D8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80760" y="2011680"/>
            <a:ext cx="5577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74C3C"/>
                </a:solidFill>
              </a:rPr>
              <a:t>Facteurs de RISQUE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0" y="2359152"/>
            <a:ext cx="5943600" cy="420624"/>
          </a:xfrm>
          <a:prstGeom prst="rect">
            <a:avLst/>
          </a:prstGeom>
          <a:solidFill>
            <a:srgbClr val="EAF2FB"/>
          </a:solidFill>
          <a:ln w="508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80760" y="2450592"/>
            <a:ext cx="2926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Âge 1ère naissance &lt; 18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0" y="2450592"/>
            <a:ext cx="731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74C3C"/>
                </a:solidFill>
              </a:rPr>
              <a:t>5,05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29800" y="2450592"/>
            <a:ext cx="1920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1">
                <a:solidFill>
                  <a:srgbClr val="6C757D"/>
                </a:solidFill>
              </a:rPr>
              <a:t>(4,11 – 6,21)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0" y="2779776"/>
            <a:ext cx="5943600" cy="420624"/>
          </a:xfrm>
          <a:prstGeom prst="rect">
            <a:avLst/>
          </a:prstGeom>
          <a:solidFill>
            <a:srgbClr val="FFFFFF"/>
          </a:solidFill>
          <a:ln w="508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80760" y="2871216"/>
            <a:ext cx="2926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Aucun niveau d'éducation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2871216"/>
            <a:ext cx="731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74C3C"/>
                </a:solidFill>
              </a:rPr>
              <a:t>2,98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29800" y="2871216"/>
            <a:ext cx="1920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1">
                <a:solidFill>
                  <a:srgbClr val="6C757D"/>
                </a:solidFill>
              </a:rPr>
              <a:t>(2,04 – 4,34)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43600" y="3200400"/>
            <a:ext cx="5943600" cy="420624"/>
          </a:xfrm>
          <a:prstGeom prst="rect">
            <a:avLst/>
          </a:prstGeom>
          <a:solidFill>
            <a:srgbClr val="EAF2FB"/>
          </a:solidFill>
          <a:ln w="508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80760" y="3291840"/>
            <a:ext cx="2926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Âge 1ère naissance 18-19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0" y="3291840"/>
            <a:ext cx="731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74C3C"/>
                </a:solidFill>
              </a:rPr>
              <a:t>2,64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29800" y="3291840"/>
            <a:ext cx="1920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1">
                <a:solidFill>
                  <a:srgbClr val="6C757D"/>
                </a:solidFill>
              </a:rPr>
              <a:t>(2,13 – 3,28)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43600" y="3621024"/>
            <a:ext cx="5943600" cy="420624"/>
          </a:xfrm>
          <a:prstGeom prst="rect">
            <a:avLst/>
          </a:prstGeom>
          <a:solidFill>
            <a:srgbClr val="FFFFFF"/>
          </a:solidFill>
          <a:ln w="508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80760" y="3712464"/>
            <a:ext cx="2926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Éducation primaire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0" y="3712464"/>
            <a:ext cx="731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39C12"/>
                </a:solidFill>
              </a:rPr>
              <a:t>2,30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29800" y="3712464"/>
            <a:ext cx="1920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1">
                <a:solidFill>
                  <a:srgbClr val="6C757D"/>
                </a:solidFill>
              </a:rPr>
              <a:t>(1,61 – 3,29)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943600" y="4041648"/>
            <a:ext cx="5943600" cy="420624"/>
          </a:xfrm>
          <a:prstGeom prst="rect">
            <a:avLst/>
          </a:prstGeom>
          <a:solidFill>
            <a:srgbClr val="EAF2FB"/>
          </a:solidFill>
          <a:ln w="508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080760" y="4133088"/>
            <a:ext cx="2926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Éducation secondaire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52560" y="4133088"/>
            <a:ext cx="731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39C12"/>
                </a:solidFill>
              </a:rPr>
              <a:t>1,49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29800" y="4133088"/>
            <a:ext cx="1920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1">
                <a:solidFill>
                  <a:srgbClr val="6C757D"/>
                </a:solidFill>
              </a:rPr>
              <a:t>(1,05 – 2,11)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943600" y="4462272"/>
            <a:ext cx="5943600" cy="420624"/>
          </a:xfrm>
          <a:prstGeom prst="rect">
            <a:avLst/>
          </a:prstGeom>
          <a:solidFill>
            <a:srgbClr val="D0D8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080760" y="4535424"/>
            <a:ext cx="5577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7AE60"/>
                </a:solidFill>
              </a:rPr>
              <a:t>Facteurs PROTECTEURS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943600" y="4882896"/>
            <a:ext cx="5943600" cy="420624"/>
          </a:xfrm>
          <a:prstGeom prst="rect">
            <a:avLst/>
          </a:prstGeom>
          <a:solidFill>
            <a:srgbClr val="EAF2FB"/>
          </a:solidFill>
          <a:ln w="508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080760" y="4974336"/>
            <a:ext cx="2926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Jamais en union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52560" y="4974336"/>
            <a:ext cx="731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7AE60"/>
                </a:solidFill>
              </a:rPr>
              <a:t>0,69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829800" y="4974336"/>
            <a:ext cx="1920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1">
                <a:solidFill>
                  <a:srgbClr val="6C757D"/>
                </a:solidFill>
              </a:rPr>
              <a:t>(0,55 – 0,85)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943600" y="5303520"/>
            <a:ext cx="5943600" cy="420624"/>
          </a:xfrm>
          <a:prstGeom prst="rect">
            <a:avLst/>
          </a:prstGeom>
          <a:solidFill>
            <a:srgbClr val="FFFFFF"/>
          </a:solidFill>
          <a:ln w="508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080760" y="5394960"/>
            <a:ext cx="2926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Emploi actif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52560" y="5394960"/>
            <a:ext cx="731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7AE60"/>
                </a:solidFill>
              </a:rPr>
              <a:t>0,81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829800" y="5394960"/>
            <a:ext cx="1920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1">
                <a:solidFill>
                  <a:srgbClr val="6C757D"/>
                </a:solidFill>
              </a:rPr>
              <a:t>(0,72 – 0,92)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943600" y="5724144"/>
            <a:ext cx="5943600" cy="420624"/>
          </a:xfrm>
          <a:prstGeom prst="rect">
            <a:avLst/>
          </a:prstGeom>
          <a:solidFill>
            <a:srgbClr val="EAF2FB"/>
          </a:solidFill>
          <a:ln w="508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080760" y="5815584"/>
            <a:ext cx="2926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Consultation soins (12 m)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52560" y="5815584"/>
            <a:ext cx="731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7AE60"/>
                </a:solidFill>
              </a:rPr>
              <a:t>0,77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829800" y="5815584"/>
            <a:ext cx="1920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1">
                <a:solidFill>
                  <a:srgbClr val="6C757D"/>
                </a:solidFill>
              </a:rPr>
              <a:t>(0,68 – 0,86)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943600" y="5943600"/>
            <a:ext cx="5943600" cy="594360"/>
          </a:xfrm>
          <a:prstGeom prst="round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126480" y="5989320"/>
            <a:ext cx="5577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E8C045"/>
                </a:solidFill>
              </a:rPr>
              <a:t>AUC du modèle final : 0,87   |   Pseudo-R² Nagelkerke : 0,23   |   Seuil : p &lt; 0,05</a:t>
            </a:r>
          </a:p>
        </p:txBody>
      </p:sp>
      <p:sp>
        <p:nvSpPr>
          <p:cNvPr id="50" name="Rectangle 49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74320" y="6601968"/>
            <a:ext cx="10515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</a:rPr>
              <a:t>M. Yannick FONO BINDJEME  |  Institut Saint Jean Ingénieur  |  EDS Cameroun 2018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881360" y="6601968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E8C045"/>
                </a:solidFill>
              </a:rPr>
              <a:t>10 / 19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45720"/>
          </a:xfrm>
          <a:prstGeom prst="rect">
            <a:avLst/>
          </a:prstGeom>
          <a:solidFill>
            <a:srgbClr val="E8C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Performance du Modèle Statistique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31520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AEC6E0"/>
                </a:solidFill>
              </a:rPr>
              <a:t>Courbe ROC et indicateurs de qualité du modèle logistique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817352" y="201168"/>
            <a:ext cx="1170432" cy="274320"/>
          </a:xfrm>
          <a:prstGeom prst="round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17352" y="219456"/>
            <a:ext cx="11704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PARTIE I</a:t>
            </a:r>
          </a:p>
        </p:txBody>
      </p:sp>
      <p:pic>
        <p:nvPicPr>
          <p:cNvPr id="8" name="Picture 7" descr="roc_curve_sta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17320"/>
            <a:ext cx="5486400" cy="512064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172200" y="1417320"/>
            <a:ext cx="5669280" cy="5120640"/>
          </a:xfrm>
          <a:prstGeom prst="roundRect">
            <a:avLst/>
          </a:prstGeom>
          <a:solidFill>
            <a:srgbClr val="EA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172200" y="1417320"/>
            <a:ext cx="5669280" cy="411480"/>
          </a:xfrm>
          <a:prstGeom prst="round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1444752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Indicateurs de Qualité du Modèle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1993392"/>
            <a:ext cx="539496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9360" y="1993392"/>
            <a:ext cx="54864" cy="603504"/>
          </a:xfrm>
          <a:prstGeom prst="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2048256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3A5C"/>
                </a:solidFill>
              </a:rPr>
              <a:t>AUC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58200" y="2029968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C5F8A"/>
                </a:solidFill>
              </a:rPr>
              <a:t>0,87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21240" y="2084832"/>
            <a:ext cx="1645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6C757D"/>
                </a:solidFill>
              </a:rPr>
              <a:t>Discrimination excellente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60" y="2706624"/>
            <a:ext cx="539496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09360" y="2706624"/>
            <a:ext cx="54864" cy="603504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2761488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3A5C"/>
                </a:solidFill>
              </a:rPr>
              <a:t>Pseudo-R² McFadden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58200" y="274320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3A5C"/>
                </a:solidFill>
              </a:rPr>
              <a:t>0,14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21240" y="2798064"/>
            <a:ext cx="1645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6C757D"/>
                </a:solidFill>
              </a:rPr>
              <a:t>Contribution relative modérée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60" y="3419856"/>
            <a:ext cx="539496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09360" y="3419856"/>
            <a:ext cx="54864" cy="603504"/>
          </a:xfrm>
          <a:prstGeom prst="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347472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3A5C"/>
                </a:solidFill>
              </a:rPr>
              <a:t>Pseudo-R² Nagelkerke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58200" y="3456432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C5F8A"/>
                </a:solidFill>
              </a:rPr>
              <a:t>0,23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21240" y="3511296"/>
            <a:ext cx="1645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6C757D"/>
                </a:solidFill>
              </a:rPr>
              <a:t>Variance expliquée estimée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09360" y="4133088"/>
            <a:ext cx="539496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09360" y="4133088"/>
            <a:ext cx="54864" cy="603504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46520" y="4187952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3A5C"/>
                </a:solidFill>
              </a:rPr>
              <a:t>Log-vraisemblance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58200" y="4169664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7AE60"/>
                </a:solidFill>
              </a:rPr>
              <a:t>Model 3 meilleur
(AIC le plus faible)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921240" y="4224528"/>
            <a:ext cx="1645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6C757D"/>
                </a:solidFill>
              </a:rPr>
              <a:t>Comparaison modèles emboités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09360" y="4846320"/>
            <a:ext cx="539496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309360" y="4846320"/>
            <a:ext cx="54864" cy="603504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46520" y="4901184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3A5C"/>
                </a:solidFill>
              </a:rPr>
              <a:t>VIF max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58200" y="4882896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7AE60"/>
                </a:solidFill>
              </a:rPr>
              <a:t>&lt; 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921240" y="4937760"/>
            <a:ext cx="1645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6C757D"/>
                </a:solidFill>
              </a:rPr>
              <a:t>Pas de multicolinéarité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09360" y="5559552"/>
            <a:ext cx="539496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309360" y="5559552"/>
            <a:ext cx="54864" cy="603504"/>
          </a:xfrm>
          <a:prstGeom prst="rect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46520" y="5614416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3A5C"/>
                </a:solidFill>
              </a:rPr>
              <a:t>Effectif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58200" y="5596128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6C757D"/>
                </a:solidFill>
              </a:rPr>
              <a:t>10 494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921240" y="5650992"/>
            <a:ext cx="1645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6C757D"/>
                </a:solidFill>
              </a:rPr>
              <a:t>Mères (au moins 1 naissance vivante)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74320" y="6601968"/>
            <a:ext cx="10515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</a:rPr>
              <a:t>M. Yannick FONO BINDJEME  |  Institut Saint Jean Ingénieur  |  EDS Cameroun 2018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881360" y="6601968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E8C045"/>
                </a:solidFill>
              </a:rPr>
              <a:t>11 / 19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34640"/>
            <a:ext cx="12188952" cy="1188720"/>
          </a:xfrm>
          <a:prstGeom prst="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834640"/>
            <a:ext cx="12188952" cy="54864"/>
          </a:xfrm>
          <a:prstGeom prst="rect">
            <a:avLst/>
          </a:prstGeom>
          <a:solidFill>
            <a:srgbClr val="E8C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3968496"/>
            <a:ext cx="12188952" cy="54864"/>
          </a:xfrm>
          <a:prstGeom prst="rect">
            <a:avLst/>
          </a:prstGeom>
          <a:solidFill>
            <a:srgbClr val="E8C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2286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0" b="1" i="0">
                <a:solidFill>
                  <a:srgbClr val="2C5F8A"/>
                </a:solidFill>
              </a:rPr>
              <a:t>II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288036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E8C045"/>
                </a:solidFill>
              </a:rPr>
              <a:t>PARTIE II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331012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</a:rPr>
              <a:t>Machine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4069080"/>
            <a:ext cx="8961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AEC6E0"/>
                </a:solidFill>
              </a:rPr>
              <a:t>Pipeline ML  •  Six algorithmes  •  Courbes d'apprentissage  •  Comparaison  •  SHAP  •  Application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6601968"/>
            <a:ext cx="10515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</a:rPr>
              <a:t>M. Yannick FONO BINDJEME  |  Institut Saint Jean Ingénieur  |  EDS Cameroun 2018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81360" y="6601968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E8C045"/>
                </a:solidFill>
              </a:rPr>
              <a:t>12 / 19</a:t>
            </a:r>
          </a:p>
        </p:txBody>
      </p:sp>
    </p:spTree>
  </p:cSld>
  <p:clrMapOvr>
    <a:masterClrMapping/>
  </p:clrMapOvr>
  <p:timing>
    <p:tnLst>
      <p:par>
        <p:cTn id="1" dur="indefinite" restart="whenNotActive" nodeType="tmRoot">
          <p:childTnLst>
            <p:par>
              <p:cTn id="2" fill="hold">
                <p:stCondLst>
                  <p:cond delay="200"/>
                </p:stCondLst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set>
                          <p:cBhvr>
                            <p:cTn id="4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" dur="550"/>
                            <p:tgtEl>
                              <p:spTgt spid="7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6" fill="hold">
                <p:stCondLst>
                  <p:cond delay="600"/>
                </p:stCondLst>
                <p:childTnLst>
                  <p:par>
                    <p:cTn id="7" fill="hold">
                      <p:stCondLst>
                        <p:cond delay="0"/>
                      </p:stCondLst>
                      <p:childTnLst>
                        <p:set>
                          <p:cBhvr>
                            <p:cTn id="8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9" dur="550"/>
                            <p:tgtEl>
                              <p:spTgt spid="8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</p:childTnLst>
        </p:cTn>
      </p:par>
    </p:tnLst>
    <p:bldLst/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45720"/>
          </a:xfrm>
          <a:prstGeom prst="rect">
            <a:avLst/>
          </a:prstGeom>
          <a:solidFill>
            <a:srgbClr val="E8C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Pipeline de Prétraitement Machine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31520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AEC6E0"/>
                </a:solidFill>
              </a:rPr>
              <a:t>Traitement différencié selon la nature des variables — Seed fixé à 42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817352" y="201168"/>
            <a:ext cx="1170432" cy="274320"/>
          </a:xfrm>
          <a:prstGeom prst="round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17352" y="219456"/>
            <a:ext cx="11704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PARTIE II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" y="1463040"/>
            <a:ext cx="3749039" cy="3291840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572768"/>
            <a:ext cx="3520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8C045"/>
                </a:solidFill>
              </a:rPr>
              <a:t>Variables Numériques
(6 variables)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121408"/>
            <a:ext cx="3520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Âge, Nombre d'enfants, Âge 1ère naissance,
Naissances récentes, Grossesses interrompues,
Nombre de membres du ménage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3493008"/>
            <a:ext cx="3566160" cy="54864"/>
          </a:xfrm>
          <a:prstGeom prst="rect">
            <a:avLst/>
          </a:prstGeom>
          <a:solidFill>
            <a:srgbClr val="E8C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3611880"/>
            <a:ext cx="3520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AEC6E0"/>
                </a:solidFill>
              </a:rPr>
              <a:t>Imputation → Médiane
Mise à l'échelle → StandardScaler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70248" y="1463040"/>
            <a:ext cx="3749039" cy="3291840"/>
          </a:xfrm>
          <a:prstGeom prst="round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07408" y="1572768"/>
            <a:ext cx="3520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8C045"/>
                </a:solidFill>
              </a:rPr>
              <a:t>Variables Ordinales
(14 variables)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07408" y="2121408"/>
            <a:ext cx="3520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Éducation, Richesse, Région, Religion,
Milieu, Statut matrimonial, Emploi,
Assurance, Obstacles aux soins…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61688" y="3493008"/>
            <a:ext cx="3566160" cy="54864"/>
          </a:xfrm>
          <a:prstGeom prst="rect">
            <a:avLst/>
          </a:prstGeom>
          <a:solidFill>
            <a:srgbClr val="E8C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07408" y="3611880"/>
            <a:ext cx="3520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AEC6E0"/>
                </a:solidFill>
              </a:rPr>
              <a:t>Imputation → Mode
(catégorie la plus fréquente)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0456" y="1463040"/>
            <a:ext cx="3749039" cy="3291840"/>
          </a:xfrm>
          <a:prstGeom prst="round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57616" y="1572768"/>
            <a:ext cx="3520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8C045"/>
                </a:solidFill>
              </a:rPr>
              <a:t>Variables Catégorielles
(2 variables)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57616" y="2121408"/>
            <a:ext cx="3520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Électricité, Consultation dans les 12 mois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311896" y="3493008"/>
            <a:ext cx="3566160" cy="54864"/>
          </a:xfrm>
          <a:prstGeom prst="rect">
            <a:avLst/>
          </a:prstGeom>
          <a:solidFill>
            <a:srgbClr val="E8C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57616" y="3611880"/>
            <a:ext cx="3520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AEC6E0"/>
                </a:solidFill>
              </a:rPr>
              <a:t>Imputation → Mode
Encodage → OneHotEncoder
handle unknown = ignore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" y="4983480"/>
            <a:ext cx="11430000" cy="1508760"/>
          </a:xfrm>
          <a:prstGeom prst="roundRect">
            <a:avLst/>
          </a:prstGeom>
          <a:solidFill>
            <a:srgbClr val="EA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365760" y="4983480"/>
            <a:ext cx="11430000" cy="365760"/>
          </a:xfrm>
          <a:prstGeom prst="round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501091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Stratégie de Validation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5468112"/>
            <a:ext cx="2148840" cy="804672"/>
          </a:xfrm>
          <a:prstGeom prst="round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" y="5504688"/>
            <a:ext cx="1965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75 % Entraînement
(11 007 obs.)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834640" y="5468112"/>
            <a:ext cx="2148840" cy="804672"/>
          </a:xfrm>
          <a:prstGeom prst="round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944368" y="5504688"/>
            <a:ext cx="1965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25 % Test
(3 670 obs.)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120640" y="5468112"/>
            <a:ext cx="2148840" cy="804672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230368" y="5504688"/>
            <a:ext cx="1965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5 plis stratifiés
(Validation croisée)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406640" y="5468112"/>
            <a:ext cx="2148840" cy="804672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516368" y="5504688"/>
            <a:ext cx="1965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Classe déséquilibrée
class weight = balanced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692640" y="5468112"/>
            <a:ext cx="2148840" cy="804672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802368" y="5504688"/>
            <a:ext cx="1965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Seuil optimal
maximisant le F1-Score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74320" y="6601968"/>
            <a:ext cx="10515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</a:rPr>
              <a:t>M. Yannick FONO BINDJEME  |  Institut Saint Jean Ingénieur  |  EDS Cameroun 2018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881360" y="6601968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E8C045"/>
                </a:solidFill>
              </a:rPr>
              <a:t>13 / 19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45720"/>
          </a:xfrm>
          <a:prstGeom prst="rect">
            <a:avLst/>
          </a:prstGeom>
          <a:solidFill>
            <a:srgbClr val="E8C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Six Algorithmes de Machine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31520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AEC6E0"/>
                </a:solidFill>
              </a:rPr>
              <a:t>Comparaison d'approches linéaires, d'ensemble et de gradient boosting avancé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817352" y="201168"/>
            <a:ext cx="1170432" cy="274320"/>
          </a:xfrm>
          <a:prstGeom prst="round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17352" y="219456"/>
            <a:ext cx="11704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PARTIE II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8600" y="1463040"/>
            <a:ext cx="1874519" cy="5029200"/>
          </a:xfrm>
          <a:prstGeom prst="roundRect">
            <a:avLst/>
          </a:prstGeom>
          <a:solidFill>
            <a:srgbClr val="EA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28600" y="1463040"/>
            <a:ext cx="1874519" cy="54864"/>
          </a:xfrm>
          <a:prstGeom prst="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" y="1572768"/>
            <a:ext cx="169163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2C5F8A"/>
                </a:solidFill>
              </a:rPr>
              <a:t>Régression
Logistique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536191" y="1536192"/>
            <a:ext cx="475488" cy="475488"/>
          </a:xfrm>
          <a:prstGeom prst="round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536191" y="1554480"/>
            <a:ext cx="47548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" y="2240280"/>
            <a:ext cx="16916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A3A5C"/>
                </a:solidFill>
              </a:rPr>
              <a:t>Hyperparamètres 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" y="2514600"/>
            <a:ext cx="1691639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2E"/>
                </a:solidFill>
              </a:rPr>
              <a:t>C = 0,1 | L2
max iter = 500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8328" y="3383280"/>
            <a:ext cx="1691639" cy="27432"/>
          </a:xfrm>
          <a:prstGeom prst="rect">
            <a:avLst/>
          </a:prstGeom>
          <a:solidFill>
            <a:srgbClr val="DE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8328" y="3456432"/>
            <a:ext cx="169163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C757D"/>
                </a:solidFill>
              </a:rPr>
              <a:t>Référence linéaire
Interprétable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8600" y="4251960"/>
            <a:ext cx="1874519" cy="1938528"/>
          </a:xfrm>
          <a:prstGeom prst="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1752" y="4315968"/>
            <a:ext cx="1764791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Déséquilibre
Y=0 : 75 %  |  Y=1 : 25 %
class weight = balanced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221992" y="1463040"/>
            <a:ext cx="1874519" cy="5029200"/>
          </a:xfrm>
          <a:prstGeom prst="roundRect">
            <a:avLst/>
          </a:prstGeom>
          <a:solidFill>
            <a:srgbClr val="EA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221992" y="1463040"/>
            <a:ext cx="1874519" cy="54864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331720" y="1572768"/>
            <a:ext cx="169163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27AE60"/>
                </a:solidFill>
              </a:rPr>
              <a:t>Random
Forest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529583" y="1536192"/>
            <a:ext cx="475488" cy="475488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529583" y="1554480"/>
            <a:ext cx="47548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31720" y="2240280"/>
            <a:ext cx="16916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A3A5C"/>
                </a:solidFill>
              </a:rPr>
              <a:t>Hyperparamètres 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31720" y="2514600"/>
            <a:ext cx="1691639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2E"/>
                </a:solidFill>
              </a:rPr>
              <a:t>200 arbres
max depth = 10
min samples = 10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331720" y="3383280"/>
            <a:ext cx="1691639" cy="27432"/>
          </a:xfrm>
          <a:prstGeom prst="rect">
            <a:avLst/>
          </a:prstGeom>
          <a:solidFill>
            <a:srgbClr val="DE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331720" y="3456432"/>
            <a:ext cx="169163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C757D"/>
                </a:solidFill>
              </a:rPr>
              <a:t>Ensemble bagging
Variance réduite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221992" y="4251960"/>
            <a:ext cx="1874519" cy="193852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295144" y="4315968"/>
            <a:ext cx="1764791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Déséquilibre
Y=0 : 75 %  |  Y=1 : 25 %
class weight = balanced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215384" y="1463040"/>
            <a:ext cx="1874519" cy="5029200"/>
          </a:xfrm>
          <a:prstGeom prst="roundRect">
            <a:avLst/>
          </a:prstGeom>
          <a:solidFill>
            <a:srgbClr val="EA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215384" y="1463040"/>
            <a:ext cx="1874519" cy="54864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325112" y="1572768"/>
            <a:ext cx="169163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39C12"/>
                </a:solidFill>
              </a:rPr>
              <a:t>Gradient
Boosting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522975" y="1536192"/>
            <a:ext cx="475488" cy="475488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522975" y="1554480"/>
            <a:ext cx="47548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25112" y="2240280"/>
            <a:ext cx="16916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A3A5C"/>
                </a:solidFill>
              </a:rPr>
              <a:t>Hyperparamètres :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25112" y="2514600"/>
            <a:ext cx="1691639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2E"/>
                </a:solidFill>
              </a:rPr>
              <a:t>200 estimateurs
lr = 0,05
subsample = 0,8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325112" y="3383280"/>
            <a:ext cx="1691639" cy="27432"/>
          </a:xfrm>
          <a:prstGeom prst="rect">
            <a:avLst/>
          </a:prstGeom>
          <a:solidFill>
            <a:srgbClr val="DE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325112" y="3456432"/>
            <a:ext cx="169163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C757D"/>
                </a:solidFill>
              </a:rPr>
              <a:t>Boosting séquentiel
Sklearn natif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215384" y="4251960"/>
            <a:ext cx="1874519" cy="1938528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288536" y="4315968"/>
            <a:ext cx="1764791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Déséquilibre
Y=0 : 75 %  |  Y=1 : 25 %
class weight = balanced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08776" y="1463040"/>
            <a:ext cx="1874519" cy="5029200"/>
          </a:xfrm>
          <a:prstGeom prst="roundRect">
            <a:avLst/>
          </a:prstGeom>
          <a:solidFill>
            <a:srgbClr val="EA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08776" y="1463040"/>
            <a:ext cx="1874519" cy="54864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318504" y="1572768"/>
            <a:ext cx="169163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E74C3C"/>
                </a:solidFill>
              </a:rPr>
              <a:t>XGBoost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516367" y="1536192"/>
            <a:ext cx="475488" cy="475488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516367" y="1554480"/>
            <a:ext cx="47548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18504" y="2240280"/>
            <a:ext cx="16916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A3A5C"/>
                </a:solidFill>
              </a:rPr>
              <a:t>Hyperparamètres :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18504" y="2514600"/>
            <a:ext cx="1691639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2E"/>
                </a:solidFill>
              </a:rPr>
              <a:t>300 estimateurs
max depth = 5
lr = 0,05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318504" y="3383280"/>
            <a:ext cx="1691639" cy="27432"/>
          </a:xfrm>
          <a:prstGeom prst="rect">
            <a:avLst/>
          </a:prstGeom>
          <a:solidFill>
            <a:srgbClr val="DE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318504" y="3456432"/>
            <a:ext cx="169163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C757D"/>
                </a:solidFill>
              </a:rPr>
              <a:t>Optimisé CPU/GPU
Meilleur modèle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208776" y="4251960"/>
            <a:ext cx="1874519" cy="193852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281928" y="4315968"/>
            <a:ext cx="1764791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Déséquilibre
Y=0 : 75 %  |  Y=1 : 25 %
class weight = balanced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202168" y="1463040"/>
            <a:ext cx="1874519" cy="5029200"/>
          </a:xfrm>
          <a:prstGeom prst="roundRect">
            <a:avLst/>
          </a:prstGeom>
          <a:solidFill>
            <a:srgbClr val="EA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8202168" y="1463040"/>
            <a:ext cx="1874519" cy="54864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311896" y="1572768"/>
            <a:ext cx="169163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A3A5C"/>
                </a:solidFill>
              </a:rPr>
              <a:t>LightGBM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9509759" y="1536192"/>
            <a:ext cx="475488" cy="475488"/>
          </a:xfrm>
          <a:prstGeom prst="round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509759" y="1554480"/>
            <a:ext cx="47548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311896" y="2240280"/>
            <a:ext cx="16916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A3A5C"/>
                </a:solidFill>
              </a:rPr>
              <a:t>Hyperparamètres :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311896" y="2514600"/>
            <a:ext cx="1691639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2E"/>
                </a:solidFill>
              </a:rPr>
              <a:t>300 estimateurs
croissance feuilles
lr = 0,05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311896" y="3383280"/>
            <a:ext cx="1691639" cy="27432"/>
          </a:xfrm>
          <a:prstGeom prst="rect">
            <a:avLst/>
          </a:prstGeom>
          <a:solidFill>
            <a:srgbClr val="DE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311896" y="3456432"/>
            <a:ext cx="169163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C757D"/>
                </a:solidFill>
              </a:rPr>
              <a:t>Très rapide
Grandes données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202168" y="4251960"/>
            <a:ext cx="1874519" cy="1938528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275320" y="4315968"/>
            <a:ext cx="1764791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Déséquilibre
Y=0 : 75 %  |  Y=1 : 25 %
class weight = balanced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10195560" y="1463040"/>
            <a:ext cx="1874519" cy="5029200"/>
          </a:xfrm>
          <a:prstGeom prst="roundRect">
            <a:avLst/>
          </a:prstGeom>
          <a:solidFill>
            <a:srgbClr val="EA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10195560" y="1463040"/>
            <a:ext cx="1874519" cy="54864"/>
          </a:xfrm>
          <a:prstGeom prst="rect">
            <a:avLst/>
          </a:prstGeom>
          <a:solidFill>
            <a:srgbClr val="FFC0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0305288" y="1572768"/>
            <a:ext cx="169163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C007"/>
                </a:solidFill>
              </a:rPr>
              <a:t>CatBoost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11503151" y="1536192"/>
            <a:ext cx="475488" cy="475488"/>
          </a:xfrm>
          <a:prstGeom prst="roundRect">
            <a:avLst/>
          </a:prstGeom>
          <a:solidFill>
            <a:srgbClr val="FFC0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1503151" y="1554480"/>
            <a:ext cx="47548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305288" y="2240280"/>
            <a:ext cx="16916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A3A5C"/>
                </a:solidFill>
              </a:rPr>
              <a:t>Hyperparamètres :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305288" y="2514600"/>
            <a:ext cx="1691639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2E"/>
                </a:solidFill>
              </a:rPr>
              <a:t>300 iterations
depth = 6
auto_class_weights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0305288" y="3383280"/>
            <a:ext cx="1691639" cy="27432"/>
          </a:xfrm>
          <a:prstGeom prst="rect">
            <a:avLst/>
          </a:prstGeom>
          <a:solidFill>
            <a:srgbClr val="DE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0305288" y="3456432"/>
            <a:ext cx="169163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C757D"/>
                </a:solidFill>
              </a:rPr>
              <a:t>Gère nativement
le déséquilibre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0195560" y="4251960"/>
            <a:ext cx="1874519" cy="1938528"/>
          </a:xfrm>
          <a:prstGeom prst="rect">
            <a:avLst/>
          </a:prstGeom>
          <a:solidFill>
            <a:srgbClr val="FFC0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0268712" y="4315968"/>
            <a:ext cx="1764791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Déséquilibre
Y=0 : 75 %  |  Y=1 : 25 %
class weight = balanced</a:t>
            </a:r>
          </a:p>
        </p:txBody>
      </p:sp>
      <p:sp>
        <p:nvSpPr>
          <p:cNvPr id="74" name="Rectangle 73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274320" y="6601968"/>
            <a:ext cx="10515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</a:rPr>
              <a:t>M. Yannick FONO BINDJEME  |  Institut Saint Jean Ingénieur  |  EDS Cameroun 2018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0881360" y="6601968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E8C045"/>
                </a:solidFill>
              </a:rPr>
              <a:t>14 / 19</a:t>
            </a:r>
          </a:p>
        </p:txBody>
      </p:sp>
    </p:spTree>
  </p:cSld>
  <p:clrMapOvr>
    <a:masterClrMapping/>
  </p:clrMapOvr>
  <p:timing>
    <p:tnLst>
      <p:par>
        <p:cTn id="1" dur="indefinite" restart="whenNotActive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/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5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200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9" dur="1" fill="hold"/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" dur="55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200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3" dur="1" fill="hold"/>
                                  <p:tgtEl>
                                    <p:spTgt spid="3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4" dur="550"/>
                                  <p:tgtEl>
                                    <p:spTgt spid="3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20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7" dur="1" fill="hold"/>
                                  <p:tgtEl>
                                    <p:spTgt spid="4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" dur="550"/>
                                  <p:tgtEl>
                                    <p:spTgt spid="4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200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1" dur="1" fill="hold"/>
                                  <p:tgtEl>
                                    <p:spTgt spid="5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2" dur="550"/>
                                  <p:tgtEl>
                                    <p:spTgt spid="5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20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5" dur="1" fill="hold"/>
                                  <p:tgtEl>
                                    <p:spTgt spid="6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6" dur="550"/>
                                  <p:tgtEl>
                                    <p:spTgt spid="6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Click" delay="0">
                  <p:tn/>
                </p:cond>
              </p:prevCondLst>
              <p:nextCondLst>
                <p:cond evt="onNextClick" delay="0">
                  <p:tn/>
                </p:cond>
              </p:nextCondLst>
            </p:seq>
          </p:childTnLst>
        </p:cTn>
      </p:par>
    </p:tnLst>
    <p:bldLst/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45720"/>
          </a:xfrm>
          <a:prstGeom prst="rect">
            <a:avLst/>
          </a:prstGeom>
          <a:solidFill>
            <a:srgbClr val="E8C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Courbes d'Apprentissage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31520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AEC6E0"/>
                </a:solidFill>
              </a:rPr>
              <a:t>AUC entraînement vs validation croisée (5-fold) en fonction de la taille de l'échantillon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817352" y="201168"/>
            <a:ext cx="1170432" cy="274320"/>
          </a:xfrm>
          <a:prstGeom prst="round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17352" y="219456"/>
            <a:ext cx="11704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PARTIE II</a:t>
            </a:r>
          </a:p>
        </p:txBody>
      </p:sp>
      <p:pic>
        <p:nvPicPr>
          <p:cNvPr id="8" name="Picture 7" descr="learning_curves_all_mode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417320"/>
            <a:ext cx="8229600" cy="50292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823960" y="1417320"/>
            <a:ext cx="3246120" cy="5029200"/>
          </a:xfrm>
          <a:prstGeom prst="roundRect">
            <a:avLst/>
          </a:prstGeom>
          <a:solidFill>
            <a:srgbClr val="EA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823960" y="1417320"/>
            <a:ext cx="3246120" cy="384048"/>
          </a:xfrm>
          <a:prstGeom prst="round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06840" y="1444752"/>
            <a:ext cx="2926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Lecture des courbes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79408" y="1920240"/>
            <a:ext cx="292608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1A1A2E"/>
                </a:solidFill>
              </a:rPr>
              <a:t>Courbe bleue : score sur données d'entraînement</a:t>
            </a:r>
          </a:p>
          <a:p>
            <a:pPr algn="l">
              <a:buChar char="▸"/>
            </a:pPr>
            <a:r>
              <a:rPr sz="950" b="0" i="0">
                <a:solidFill>
                  <a:srgbClr val="1A1A2E"/>
                </a:solidFill>
              </a:rPr>
              <a:t>Courbe rouge : score sur validation croisée</a:t>
            </a:r>
          </a:p>
          <a:p>
            <a:pPr algn="l">
              <a:buChar char="▸"/>
            </a:pPr>
            <a:r>
              <a:rPr sz="950" b="0" i="0">
                <a:solidFill>
                  <a:srgbClr val="1A1A2E"/>
                </a:solidFill>
              </a:rPr>
              <a:t>Un faible écart final indique une bonne généralisation</a:t>
            </a:r>
          </a:p>
          <a:p>
            <a:pPr algn="l">
              <a:buChar char="▸"/>
            </a:pPr>
            <a:r>
              <a:rPr sz="950" b="0" i="0">
                <a:solidFill>
                  <a:srgbClr val="1A1A2E"/>
                </a:solidFill>
              </a:rPr>
              <a:t>Convergence des deux courbes = pas de surapprentissage</a:t>
            </a:r>
          </a:p>
          <a:p>
            <a:pPr algn="l">
              <a:buChar char="▸"/>
            </a:pPr>
            <a:r>
              <a:rPr sz="950" b="0" i="0">
                <a:solidFill>
                  <a:srgbClr val="1A1A2E"/>
                </a:solidFill>
              </a:rPr>
              <a:t>Tous les modèles convergent &gt; 0,80 AUC</a:t>
            </a:r>
          </a:p>
          <a:p>
            <a:pPr algn="l">
              <a:buChar char="▸"/>
            </a:pPr>
            <a:r>
              <a:rPr sz="950" b="0" i="0">
                <a:solidFill>
                  <a:srgbClr val="1A1A2E"/>
                </a:solidFill>
              </a:rPr>
              <a:t>XGBoost : gap &lt; 0,05 — excellent équilibre biais / variance</a:t>
            </a:r>
          </a:p>
          <a:p>
            <a:pPr algn="l">
              <a:buChar char="▸"/>
            </a:pPr>
            <a:r>
              <a:rPr sz="950" b="0" i="0">
                <a:solidFill>
                  <a:srgbClr val="1A1A2E"/>
                </a:solidFill>
              </a:rPr>
              <a:t>Le modèle bénéficie de données supplémentaires (courbe val. croissante)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6601968"/>
            <a:ext cx="10515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</a:rPr>
              <a:t>M. Yannick FONO BINDJEME  |  Institut Saint Jean Ingénieur  |  EDS Cameroun 2018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81360" y="6601968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E8C045"/>
                </a:solidFill>
              </a:rPr>
              <a:t>15 / 19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45720"/>
          </a:xfrm>
          <a:prstGeom prst="rect">
            <a:avLst/>
          </a:prstGeom>
          <a:solidFill>
            <a:srgbClr val="E8C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Comparaison des Performances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31520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AEC6E0"/>
                </a:solidFill>
              </a:rPr>
              <a:t>Évaluation sur l'ensemble de test (25 %) — 3 670 observations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817352" y="201168"/>
            <a:ext cx="1170432" cy="274320"/>
          </a:xfrm>
          <a:prstGeom prst="round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17352" y="219456"/>
            <a:ext cx="11704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PARTIE II</a:t>
            </a:r>
          </a:p>
        </p:txBody>
      </p:sp>
      <p:pic>
        <p:nvPicPr>
          <p:cNvPr id="8" name="Picture 7" descr="roc_comparison_m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17320"/>
            <a:ext cx="5303520" cy="512064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989320" y="1417320"/>
            <a:ext cx="5852160" cy="5120640"/>
          </a:xfrm>
          <a:prstGeom prst="roundRect">
            <a:avLst/>
          </a:prstGeom>
          <a:solidFill>
            <a:srgbClr val="EA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989320" y="1417320"/>
            <a:ext cx="5852160" cy="384048"/>
          </a:xfrm>
          <a:prstGeom prst="round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72200" y="1444752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Métriques sur l'Ensemble de Test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53328" y="1901952"/>
            <a:ext cx="1600200" cy="347472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89904" y="1920240"/>
            <a:ext cx="153619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Modèle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99248" y="1901952"/>
            <a:ext cx="777240" cy="347472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35824" y="1920240"/>
            <a:ext cx="7132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AUC CV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522208" y="1901952"/>
            <a:ext cx="822960" cy="347472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58784" y="1920240"/>
            <a:ext cx="7589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AUC Test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90888" y="1901952"/>
            <a:ext cx="731520" cy="347472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27464" y="1920240"/>
            <a:ext cx="6675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F1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168128" y="1901952"/>
            <a:ext cx="777240" cy="347472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04704" y="1920240"/>
            <a:ext cx="7132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Rappel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53328" y="2249424"/>
            <a:ext cx="1600200" cy="566928"/>
          </a:xfrm>
          <a:prstGeom prst="rect">
            <a:avLst/>
          </a:prstGeom>
          <a:solidFill>
            <a:srgbClr val="EAF2FB"/>
          </a:solidFill>
          <a:ln w="508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89904" y="2377440"/>
            <a:ext cx="153619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Régression Log.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699248" y="2249424"/>
            <a:ext cx="777240" cy="566928"/>
          </a:xfrm>
          <a:prstGeom prst="rect">
            <a:avLst/>
          </a:prstGeom>
          <a:solidFill>
            <a:srgbClr val="EAF2FB"/>
          </a:solidFill>
          <a:ln w="508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35824" y="2377440"/>
            <a:ext cx="7132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0,877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522208" y="2249424"/>
            <a:ext cx="822960" cy="566928"/>
          </a:xfrm>
          <a:prstGeom prst="rect">
            <a:avLst/>
          </a:prstGeom>
          <a:solidFill>
            <a:srgbClr val="EAF2FB"/>
          </a:solidFill>
          <a:ln w="508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58784" y="2377440"/>
            <a:ext cx="7589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0,874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390888" y="2249424"/>
            <a:ext cx="731520" cy="566928"/>
          </a:xfrm>
          <a:prstGeom prst="rect">
            <a:avLst/>
          </a:prstGeom>
          <a:solidFill>
            <a:srgbClr val="EAF2FB"/>
          </a:solidFill>
          <a:ln w="508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427464" y="2377440"/>
            <a:ext cx="6675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0,602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168128" y="2249424"/>
            <a:ext cx="777240" cy="566928"/>
          </a:xfrm>
          <a:prstGeom prst="rect">
            <a:avLst/>
          </a:prstGeom>
          <a:solidFill>
            <a:srgbClr val="EAF2FB"/>
          </a:solidFill>
          <a:ln w="508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204704" y="2377440"/>
            <a:ext cx="7132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0,738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53328" y="2816352"/>
            <a:ext cx="1600200" cy="566928"/>
          </a:xfrm>
          <a:prstGeom prst="rect">
            <a:avLst/>
          </a:prstGeom>
          <a:solidFill>
            <a:srgbClr val="FFFFFF"/>
          </a:solidFill>
          <a:ln w="508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089904" y="2944368"/>
            <a:ext cx="153619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Random Forest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699248" y="2816352"/>
            <a:ext cx="777240" cy="566928"/>
          </a:xfrm>
          <a:prstGeom prst="rect">
            <a:avLst/>
          </a:prstGeom>
          <a:solidFill>
            <a:srgbClr val="FFFFFF"/>
          </a:solidFill>
          <a:ln w="508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735824" y="2944368"/>
            <a:ext cx="7132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0,879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522208" y="2816352"/>
            <a:ext cx="822960" cy="566928"/>
          </a:xfrm>
          <a:prstGeom prst="rect">
            <a:avLst/>
          </a:prstGeom>
          <a:solidFill>
            <a:srgbClr val="FFFFFF"/>
          </a:solidFill>
          <a:ln w="508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558784" y="2944368"/>
            <a:ext cx="7589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0,874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390888" y="2816352"/>
            <a:ext cx="731520" cy="566928"/>
          </a:xfrm>
          <a:prstGeom prst="rect">
            <a:avLst/>
          </a:prstGeom>
          <a:solidFill>
            <a:srgbClr val="FFFFFF"/>
          </a:solidFill>
          <a:ln w="508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427464" y="2944368"/>
            <a:ext cx="6675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0,609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168128" y="2816352"/>
            <a:ext cx="777240" cy="566928"/>
          </a:xfrm>
          <a:prstGeom prst="rect">
            <a:avLst/>
          </a:prstGeom>
          <a:solidFill>
            <a:srgbClr val="FFFFFF"/>
          </a:solidFill>
          <a:ln w="508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204704" y="2944368"/>
            <a:ext cx="7132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0,711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053328" y="3383280"/>
            <a:ext cx="1600200" cy="566928"/>
          </a:xfrm>
          <a:prstGeom prst="rect">
            <a:avLst/>
          </a:prstGeom>
          <a:solidFill>
            <a:srgbClr val="EAF2FB"/>
          </a:solidFill>
          <a:ln w="508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089904" y="3511296"/>
            <a:ext cx="153619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Gradient Boosting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699248" y="3383280"/>
            <a:ext cx="777240" cy="566928"/>
          </a:xfrm>
          <a:prstGeom prst="rect">
            <a:avLst/>
          </a:prstGeom>
          <a:solidFill>
            <a:srgbClr val="EAF2FB"/>
          </a:solidFill>
          <a:ln w="508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735824" y="3511296"/>
            <a:ext cx="7132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0,887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522208" y="3383280"/>
            <a:ext cx="822960" cy="566928"/>
          </a:xfrm>
          <a:prstGeom prst="rect">
            <a:avLst/>
          </a:prstGeom>
          <a:solidFill>
            <a:srgbClr val="EAF2FB"/>
          </a:solidFill>
          <a:ln w="508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558784" y="3511296"/>
            <a:ext cx="7589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0,887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390888" y="3383280"/>
            <a:ext cx="731520" cy="566928"/>
          </a:xfrm>
          <a:prstGeom prst="rect">
            <a:avLst/>
          </a:prstGeom>
          <a:solidFill>
            <a:srgbClr val="EAF2FB"/>
          </a:solidFill>
          <a:ln w="508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427464" y="3511296"/>
            <a:ext cx="6675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0,635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0168128" y="3383280"/>
            <a:ext cx="777240" cy="566928"/>
          </a:xfrm>
          <a:prstGeom prst="rect">
            <a:avLst/>
          </a:prstGeom>
          <a:solidFill>
            <a:srgbClr val="EAF2FB"/>
          </a:solidFill>
          <a:ln w="508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204704" y="3511296"/>
            <a:ext cx="7132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0,695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053328" y="3950208"/>
            <a:ext cx="1600200" cy="566928"/>
          </a:xfrm>
          <a:prstGeom prst="rect">
            <a:avLst/>
          </a:prstGeom>
          <a:solidFill>
            <a:srgbClr val="D4EDDA"/>
          </a:solidFill>
          <a:ln w="508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089904" y="4078224"/>
            <a:ext cx="153619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XGBoost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699248" y="3950208"/>
            <a:ext cx="777240" cy="566928"/>
          </a:xfrm>
          <a:prstGeom prst="rect">
            <a:avLst/>
          </a:prstGeom>
          <a:solidFill>
            <a:srgbClr val="D4EDDA"/>
          </a:solidFill>
          <a:ln w="508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735824" y="4078224"/>
            <a:ext cx="7132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74C3C"/>
                </a:solidFill>
              </a:rPr>
              <a:t>0,885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522208" y="3950208"/>
            <a:ext cx="822960" cy="566928"/>
          </a:xfrm>
          <a:prstGeom prst="rect">
            <a:avLst/>
          </a:prstGeom>
          <a:solidFill>
            <a:srgbClr val="D4EDDA"/>
          </a:solidFill>
          <a:ln w="508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558784" y="4078224"/>
            <a:ext cx="7589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E74C3C"/>
                </a:solidFill>
              </a:rPr>
              <a:t>0,889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390888" y="3950208"/>
            <a:ext cx="731520" cy="566928"/>
          </a:xfrm>
          <a:prstGeom prst="rect">
            <a:avLst/>
          </a:prstGeom>
          <a:solidFill>
            <a:srgbClr val="D4EDDA"/>
          </a:solidFill>
          <a:ln w="508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427464" y="4078224"/>
            <a:ext cx="6675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E74C3C"/>
                </a:solidFill>
              </a:rPr>
              <a:t>0,643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0168128" y="3950208"/>
            <a:ext cx="777240" cy="566928"/>
          </a:xfrm>
          <a:prstGeom prst="rect">
            <a:avLst/>
          </a:prstGeom>
          <a:solidFill>
            <a:srgbClr val="D4EDDA"/>
          </a:solidFill>
          <a:ln w="508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0204704" y="4078224"/>
            <a:ext cx="7132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74C3C"/>
                </a:solidFill>
              </a:rPr>
              <a:t>0,720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981944" y="411480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7AE60"/>
                </a:solidFill>
              </a:rPr>
              <a:t>★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053328" y="4517136"/>
            <a:ext cx="1600200" cy="566928"/>
          </a:xfrm>
          <a:prstGeom prst="rect">
            <a:avLst/>
          </a:prstGeom>
          <a:solidFill>
            <a:srgbClr val="EAF2FB"/>
          </a:solidFill>
          <a:ln w="508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089904" y="4645152"/>
            <a:ext cx="153619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LightGBM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699248" y="4517136"/>
            <a:ext cx="777240" cy="566928"/>
          </a:xfrm>
          <a:prstGeom prst="rect">
            <a:avLst/>
          </a:prstGeom>
          <a:solidFill>
            <a:srgbClr val="EAF2FB"/>
          </a:solidFill>
          <a:ln w="508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735824" y="4645152"/>
            <a:ext cx="7132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0,884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522208" y="4517136"/>
            <a:ext cx="822960" cy="566928"/>
          </a:xfrm>
          <a:prstGeom prst="rect">
            <a:avLst/>
          </a:prstGeom>
          <a:solidFill>
            <a:srgbClr val="EAF2FB"/>
          </a:solidFill>
          <a:ln w="508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558784" y="4645152"/>
            <a:ext cx="7589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0,889</a:t>
            </a:r>
          </a:p>
        </p:txBody>
      </p:sp>
      <p:sp>
        <p:nvSpPr>
          <p:cNvPr id="69" name="Rectangle 68"/>
          <p:cNvSpPr/>
          <p:nvPr/>
        </p:nvSpPr>
        <p:spPr>
          <a:xfrm>
            <a:off x="9390888" y="4517136"/>
            <a:ext cx="731520" cy="566928"/>
          </a:xfrm>
          <a:prstGeom prst="rect">
            <a:avLst/>
          </a:prstGeom>
          <a:solidFill>
            <a:srgbClr val="EAF2FB"/>
          </a:solidFill>
          <a:ln w="508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9427464" y="4645152"/>
            <a:ext cx="6675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0,637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0168128" y="4517136"/>
            <a:ext cx="777240" cy="566928"/>
          </a:xfrm>
          <a:prstGeom prst="rect">
            <a:avLst/>
          </a:prstGeom>
          <a:solidFill>
            <a:srgbClr val="EAF2FB"/>
          </a:solidFill>
          <a:ln w="508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0204704" y="4645152"/>
            <a:ext cx="7132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0,748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053328" y="5084064"/>
            <a:ext cx="1600200" cy="566928"/>
          </a:xfrm>
          <a:prstGeom prst="rect">
            <a:avLst/>
          </a:prstGeom>
          <a:solidFill>
            <a:srgbClr val="FFFFFF"/>
          </a:solidFill>
          <a:ln w="508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089904" y="5212080"/>
            <a:ext cx="153619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CatBoost</a:t>
            </a:r>
          </a:p>
        </p:txBody>
      </p:sp>
      <p:sp>
        <p:nvSpPr>
          <p:cNvPr id="75" name="Rectangle 74"/>
          <p:cNvSpPr/>
          <p:nvPr/>
        </p:nvSpPr>
        <p:spPr>
          <a:xfrm>
            <a:off x="7699248" y="5084064"/>
            <a:ext cx="777240" cy="566928"/>
          </a:xfrm>
          <a:prstGeom prst="rect">
            <a:avLst/>
          </a:prstGeom>
          <a:solidFill>
            <a:srgbClr val="FFFFFF"/>
          </a:solidFill>
          <a:ln w="508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7735824" y="5212080"/>
            <a:ext cx="7132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0,885</a:t>
            </a:r>
          </a:p>
        </p:txBody>
      </p:sp>
      <p:sp>
        <p:nvSpPr>
          <p:cNvPr id="77" name="Rectangle 76"/>
          <p:cNvSpPr/>
          <p:nvPr/>
        </p:nvSpPr>
        <p:spPr>
          <a:xfrm>
            <a:off x="8522208" y="5084064"/>
            <a:ext cx="822960" cy="566928"/>
          </a:xfrm>
          <a:prstGeom prst="rect">
            <a:avLst/>
          </a:prstGeom>
          <a:solidFill>
            <a:srgbClr val="FFFFFF"/>
          </a:solidFill>
          <a:ln w="508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558784" y="5212080"/>
            <a:ext cx="7589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0,887</a:t>
            </a:r>
          </a:p>
        </p:txBody>
      </p:sp>
      <p:sp>
        <p:nvSpPr>
          <p:cNvPr id="79" name="Rectangle 78"/>
          <p:cNvSpPr/>
          <p:nvPr/>
        </p:nvSpPr>
        <p:spPr>
          <a:xfrm>
            <a:off x="9390888" y="5084064"/>
            <a:ext cx="731520" cy="566928"/>
          </a:xfrm>
          <a:prstGeom prst="rect">
            <a:avLst/>
          </a:prstGeom>
          <a:solidFill>
            <a:srgbClr val="FFFFFF"/>
          </a:solidFill>
          <a:ln w="508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9427464" y="5212080"/>
            <a:ext cx="6675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0,631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0168128" y="5084064"/>
            <a:ext cx="777240" cy="566928"/>
          </a:xfrm>
          <a:prstGeom prst="rect">
            <a:avLst/>
          </a:prstGeom>
          <a:solidFill>
            <a:srgbClr val="FFFFFF"/>
          </a:solidFill>
          <a:ln w="508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10204704" y="5212080"/>
            <a:ext cx="7132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0,720</a:t>
            </a:r>
          </a:p>
        </p:txBody>
      </p:sp>
      <p:sp>
        <p:nvSpPr>
          <p:cNvPr id="83" name="Rectangle 82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274320" y="6601968"/>
            <a:ext cx="10515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</a:rPr>
              <a:t>M. Yannick FONO BINDJEME  |  Institut Saint Jean Ingénieur  |  EDS Cameroun 2018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0881360" y="6601968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E8C045"/>
                </a:solidFill>
              </a:rPr>
              <a:t>16 / 19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45720"/>
          </a:xfrm>
          <a:prstGeom prst="rect">
            <a:avLst/>
          </a:prstGeom>
          <a:solidFill>
            <a:srgbClr val="E8C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Modèle Champion — XGBoost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31520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AEC6E0"/>
                </a:solidFill>
              </a:rPr>
              <a:t>Importance des variables et interprétabilité via SHAP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817352" y="201168"/>
            <a:ext cx="1170432" cy="274320"/>
          </a:xfrm>
          <a:prstGeom prst="round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17352" y="219456"/>
            <a:ext cx="11704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PARTIE II</a:t>
            </a:r>
          </a:p>
        </p:txBody>
      </p:sp>
      <p:pic>
        <p:nvPicPr>
          <p:cNvPr id="8" name="Picture 7" descr="shap_importance_XGBoo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417320"/>
            <a:ext cx="5669280" cy="5120640"/>
          </a:xfrm>
          <a:prstGeom prst="rect">
            <a:avLst/>
          </a:prstGeom>
        </p:spPr>
      </p:pic>
      <p:pic>
        <p:nvPicPr>
          <p:cNvPr id="9" name="Picture 8" descr="feature_importance_XGBoo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417320"/>
            <a:ext cx="2743200" cy="246888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217920" y="4133087"/>
            <a:ext cx="1325880" cy="82296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81928" y="4169663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AUC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81928" y="4407408"/>
            <a:ext cx="1234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E8C045"/>
                </a:solidFill>
              </a:rPr>
              <a:t>0,889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44383" y="4133087"/>
            <a:ext cx="1325880" cy="822960"/>
          </a:xfrm>
          <a:prstGeom prst="round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08391" y="4169663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F1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08391" y="4407408"/>
            <a:ext cx="1234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E8C045"/>
                </a:solidFill>
              </a:rPr>
              <a:t>0,642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0848" y="4133087"/>
            <a:ext cx="1325880" cy="822960"/>
          </a:xfrm>
          <a:prstGeom prst="round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34856" y="4169663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Rappel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34856" y="4407408"/>
            <a:ext cx="1234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E8C045"/>
                </a:solidFill>
              </a:rPr>
              <a:t>0,720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97312" y="4133087"/>
            <a:ext cx="1325880" cy="822960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61320" y="4169663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Précision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61320" y="4407408"/>
            <a:ext cx="1234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E8C045"/>
                </a:solidFill>
              </a:rPr>
              <a:t>0,580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5102352"/>
            <a:ext cx="5577840" cy="1417320"/>
          </a:xfrm>
          <a:prstGeom prst="roundRect">
            <a:avLst/>
          </a:prstGeom>
          <a:solidFill>
            <a:srgbClr val="EA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217920" y="5102352"/>
            <a:ext cx="5577840" cy="347472"/>
          </a:xfrm>
          <a:prstGeom prst="round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5129784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Top Variables Prédictives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5080" y="5532120"/>
            <a:ext cx="3474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2E"/>
                </a:solidFill>
              </a:rPr>
              <a:t>Nombre d'enfants nés vivants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921240" y="5550408"/>
            <a:ext cx="1737360" cy="146304"/>
          </a:xfrm>
          <a:prstGeom prst="rect">
            <a:avLst/>
          </a:prstGeom>
          <a:solidFill>
            <a:srgbClr val="DE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921240" y="5550408"/>
            <a:ext cx="1605320" cy="146304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722608" y="5532120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E74C3C"/>
                </a:solidFill>
              </a:rPr>
              <a:t>23,1 %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5080" y="5715000"/>
            <a:ext cx="3474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2E"/>
                </a:solidFill>
              </a:rPr>
              <a:t>Âge de la femme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921240" y="5733288"/>
            <a:ext cx="1737360" cy="146304"/>
          </a:xfrm>
          <a:prstGeom prst="rect">
            <a:avLst/>
          </a:prstGeom>
          <a:solidFill>
            <a:srgbClr val="DE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921240" y="5733288"/>
            <a:ext cx="291876" cy="146304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722608" y="5715000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F39C12"/>
                </a:solidFill>
              </a:rPr>
              <a:t>4,2 %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55080" y="5897880"/>
            <a:ext cx="3474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2E"/>
                </a:solidFill>
              </a:rPr>
              <a:t>Niveau d'éducation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921240" y="5916168"/>
            <a:ext cx="1737360" cy="146304"/>
          </a:xfrm>
          <a:prstGeom prst="rect">
            <a:avLst/>
          </a:prstGeom>
          <a:solidFill>
            <a:srgbClr val="DE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921240" y="5916168"/>
            <a:ext cx="284927" cy="146304"/>
          </a:xfrm>
          <a:prstGeom prst="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722608" y="5897880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2C5F8A"/>
                </a:solidFill>
              </a:rPr>
              <a:t>4,1 %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55080" y="6080760"/>
            <a:ext cx="3474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2E"/>
                </a:solidFill>
              </a:rPr>
              <a:t>Naissances récentes (5 ans)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921240" y="6099048"/>
            <a:ext cx="1737360" cy="146304"/>
          </a:xfrm>
          <a:prstGeom prst="rect">
            <a:avLst/>
          </a:prstGeom>
          <a:solidFill>
            <a:srgbClr val="DE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921240" y="6099048"/>
            <a:ext cx="194584" cy="146304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722608" y="6080760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1A3A5C"/>
                </a:solidFill>
              </a:rPr>
              <a:t>2,8 %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55080" y="6263640"/>
            <a:ext cx="3474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2E"/>
                </a:solidFill>
              </a:rPr>
              <a:t>Âge à la 1ère naissance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921240" y="6281928"/>
            <a:ext cx="1737360" cy="146304"/>
          </a:xfrm>
          <a:prstGeom prst="rect">
            <a:avLst/>
          </a:prstGeom>
          <a:solidFill>
            <a:srgbClr val="DE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921240" y="6281928"/>
            <a:ext cx="187634" cy="146304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722608" y="6263640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27AE60"/>
                </a:solidFill>
              </a:rPr>
              <a:t>2,7 %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74320" y="6601968"/>
            <a:ext cx="10515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</a:rPr>
              <a:t>M. Yannick FONO BINDJEME  |  Institut Saint Jean Ingénieur  |  EDS Cameroun 2018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881360" y="6601968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E8C045"/>
                </a:solidFill>
              </a:rPr>
              <a:t>17 / 19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45720"/>
          </a:xfrm>
          <a:prstGeom prst="rect">
            <a:avLst/>
          </a:prstGeom>
          <a:solidFill>
            <a:srgbClr val="E8C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Application de Prédiction — Streamlit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31520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AEC6E0"/>
                </a:solidFill>
              </a:rPr>
              <a:t>Interface interactive d'estimation du risque de mortalité infantile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817352" y="201168"/>
            <a:ext cx="1170432" cy="274320"/>
          </a:xfrm>
          <a:prstGeom prst="round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17352" y="219456"/>
            <a:ext cx="11704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PARTIE II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463040"/>
            <a:ext cx="11430000" cy="5029200"/>
          </a:xfrm>
          <a:prstGeom prst="roundRect">
            <a:avLst/>
          </a:prstGeom>
          <a:solidFill>
            <a:srgbClr val="EA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20" y="1600200"/>
            <a:ext cx="2834640" cy="4754880"/>
          </a:xfrm>
          <a:prstGeom prst="round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691640"/>
            <a:ext cx="2606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8C045"/>
                </a:solidFill>
              </a:rPr>
              <a:t>Saisie des
Informations Patient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2359152"/>
            <a:ext cx="2606040" cy="1051560"/>
          </a:xfrm>
          <a:prstGeom prst="roundRect">
            <a:avLst/>
          </a:prstGeom>
          <a:solidFill>
            <a:srgbClr val="2A5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432304"/>
            <a:ext cx="2423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8C045"/>
                </a:solidFill>
              </a:rPr>
              <a:t>Profil Sociodémographique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798064"/>
            <a:ext cx="2423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Âge, éducation, région, richesse, religion, emploi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3621024"/>
            <a:ext cx="2606040" cy="1051560"/>
          </a:xfrm>
          <a:prstGeom prst="roundRect">
            <a:avLst/>
          </a:prstGeom>
          <a:solidFill>
            <a:srgbClr val="2A5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694176"/>
            <a:ext cx="2423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8C045"/>
                </a:solidFill>
              </a:rPr>
              <a:t>Historique Reproductif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059936"/>
            <a:ext cx="2423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Nombre d'enfants, âge 1ère naissance, naissances récentes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4882896"/>
            <a:ext cx="2606040" cy="1051560"/>
          </a:xfrm>
          <a:prstGeom prst="roundRect">
            <a:avLst/>
          </a:prstGeom>
          <a:solidFill>
            <a:srgbClr val="2A5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4956048"/>
            <a:ext cx="2423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8C045"/>
                </a:solidFill>
              </a:rPr>
              <a:t>Accès aux Soins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321808"/>
            <a:ext cx="2423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Assurance maladie, consultations, obstacles aux soins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5897880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► Estimer le Risque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5888736"/>
            <a:ext cx="2651760" cy="274320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5897880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► Estimer le Risque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520440" y="1600200"/>
            <a:ext cx="8046720" cy="4754880"/>
          </a:xfrm>
          <a:prstGeom prst="rect">
            <a:avLst/>
          </a:prstGeom>
          <a:solidFill>
            <a:srgbClr val="FFFFFF"/>
          </a:solidFill>
          <a:ln w="1016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0" y="1664208"/>
            <a:ext cx="7772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1A3A5C"/>
                </a:solidFill>
              </a:rPr>
              <a:t>Machine Learning — XGBoost (AUC = 0,889)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114800" y="2148840"/>
            <a:ext cx="6858000" cy="201168"/>
          </a:xfrm>
          <a:prstGeom prst="roundRect">
            <a:avLst/>
          </a:prstGeom>
          <a:solidFill>
            <a:srgbClr val="DE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114800" y="2148840"/>
            <a:ext cx="3977639" cy="201168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55279" y="2011680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74C3C"/>
                </a:solidFill>
              </a:rPr>
              <a:t>58,7 %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0" y="2487168"/>
            <a:ext cx="5120640" cy="868680"/>
          </a:xfrm>
          <a:prstGeom prst="roundRect">
            <a:avLst/>
          </a:prstGeom>
          <a:solidFill>
            <a:srgbClr val="FDE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0" y="2633472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E74C3C"/>
                </a:solidFill>
              </a:rPr>
              <a:t>Probabilité : 58,7 %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9120" y="3493008"/>
            <a:ext cx="6400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E74C3C"/>
                </a:solidFill>
              </a:rPr>
              <a:t>RISQUE ÉLEVÉ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40480" y="4160520"/>
            <a:ext cx="7406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A1A2E"/>
                </a:solidFill>
              </a:rPr>
              <a:t>Suivi médical urgent requis  ·  Éducation à la santé maternelle  ·  Planification familiale conseillée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0" y="4754880"/>
            <a:ext cx="1828800" cy="59436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645152" y="4791456"/>
            <a:ext cx="1691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AUC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45152" y="4992624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E8C045"/>
                </a:solidFill>
              </a:rPr>
              <a:t>0,889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675120" y="4754880"/>
            <a:ext cx="1828800" cy="594360"/>
          </a:xfrm>
          <a:prstGeom prst="round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748272" y="4791456"/>
            <a:ext cx="1691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F1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48272" y="4992624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E8C045"/>
                </a:solidFill>
              </a:rPr>
              <a:t>0,643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778240" y="4754880"/>
            <a:ext cx="1828800" cy="594360"/>
          </a:xfrm>
          <a:prstGeom prst="round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851392" y="4791456"/>
            <a:ext cx="1691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Rappel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851392" y="4992624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E8C045"/>
                </a:solidFill>
              </a:rPr>
              <a:t>0,720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520440" y="5715000"/>
            <a:ext cx="8046720" cy="502920"/>
          </a:xfrm>
          <a:prstGeom prst="rect">
            <a:avLst/>
          </a:prstGeom>
          <a:solidFill>
            <a:srgbClr val="EA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611880" y="5779008"/>
            <a:ext cx="7863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1">
                <a:solidFill>
                  <a:srgbClr val="6C757D"/>
                </a:solidFill>
              </a:rPr>
              <a:t>Résultats confirmés par les valeurs SHAP — interprétabilité garantie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74320" y="6601968"/>
            <a:ext cx="10515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</a:rPr>
              <a:t>M. Yannick FONO BINDJEME  |  Institut Saint Jean Ingénieur  |  EDS Cameroun 2018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881360" y="6601968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E8C045"/>
                </a:solidFill>
              </a:rPr>
              <a:t>18 / 19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45720"/>
          </a:xfrm>
          <a:prstGeom prst="rect">
            <a:avLst/>
          </a:prstGeom>
          <a:solidFill>
            <a:srgbClr val="E8C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Synthèse — Résultats Machine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31520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AEC6E0"/>
                </a:solidFill>
              </a:rPr>
              <a:t>Bilan des 6 algorithmes comparés — Modèle retenu : XGBoost (AUC = 0,889)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817352" y="201168"/>
            <a:ext cx="1170432" cy="274320"/>
          </a:xfrm>
          <a:prstGeom prst="round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17352" y="219456"/>
            <a:ext cx="11704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PARTIE II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463040"/>
            <a:ext cx="5669280" cy="2606040"/>
          </a:xfrm>
          <a:prstGeom prst="roundRect">
            <a:avLst/>
          </a:prstGeom>
          <a:solidFill>
            <a:srgbClr val="EA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65760" y="1463040"/>
            <a:ext cx="5669280" cy="384048"/>
          </a:xfrm>
          <a:prstGeom prst="round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490472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Classement — Ensemble de Test (25 %)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" y="1920240"/>
            <a:ext cx="1600200" cy="292608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" y="1938528"/>
            <a:ext cx="15361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Modèle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075688" y="1920240"/>
            <a:ext cx="804672" cy="292608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112264" y="1938528"/>
            <a:ext cx="7406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AUC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926080" y="1920240"/>
            <a:ext cx="749808" cy="292608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62656" y="1938528"/>
            <a:ext cx="685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F1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721608" y="1920240"/>
            <a:ext cx="749808" cy="292608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58184" y="1938528"/>
            <a:ext cx="685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Rappel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9768" y="2212848"/>
            <a:ext cx="1600200" cy="292608"/>
          </a:xfrm>
          <a:prstGeom prst="rect">
            <a:avLst/>
          </a:prstGeom>
          <a:solidFill>
            <a:srgbClr val="D4EDDA"/>
          </a:solidFill>
          <a:ln w="381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6344" y="2267712"/>
            <a:ext cx="153619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27AE60"/>
                </a:solidFill>
              </a:rPr>
              <a:t>★  XGBoost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075688" y="2212848"/>
            <a:ext cx="804672" cy="292608"/>
          </a:xfrm>
          <a:prstGeom prst="rect">
            <a:avLst/>
          </a:prstGeom>
          <a:solidFill>
            <a:srgbClr val="D4EDDA"/>
          </a:solidFill>
          <a:ln w="381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112264" y="2267712"/>
            <a:ext cx="74066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27AE60"/>
                </a:solidFill>
              </a:rPr>
              <a:t>0,889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926080" y="2212848"/>
            <a:ext cx="749808" cy="292608"/>
          </a:xfrm>
          <a:prstGeom prst="rect">
            <a:avLst/>
          </a:prstGeom>
          <a:solidFill>
            <a:srgbClr val="D4EDDA"/>
          </a:solidFill>
          <a:ln w="381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962656" y="2267712"/>
            <a:ext cx="685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27AE60"/>
                </a:solidFill>
              </a:rPr>
              <a:t>0,643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721608" y="2212848"/>
            <a:ext cx="749808" cy="292608"/>
          </a:xfrm>
          <a:prstGeom prst="rect">
            <a:avLst/>
          </a:prstGeom>
          <a:solidFill>
            <a:srgbClr val="D4EDDA"/>
          </a:solidFill>
          <a:ln w="381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758184" y="2267712"/>
            <a:ext cx="685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27AE60"/>
                </a:solidFill>
              </a:rPr>
              <a:t>0,720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9768" y="2505456"/>
            <a:ext cx="1600200" cy="292608"/>
          </a:xfrm>
          <a:prstGeom prst="rect">
            <a:avLst/>
          </a:prstGeom>
          <a:solidFill>
            <a:srgbClr val="D4EDDA"/>
          </a:solidFill>
          <a:ln w="381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6344" y="2560320"/>
            <a:ext cx="153619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27AE60"/>
                </a:solidFill>
              </a:rPr>
              <a:t>★  LightGBM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075688" y="2505456"/>
            <a:ext cx="804672" cy="292608"/>
          </a:xfrm>
          <a:prstGeom prst="rect">
            <a:avLst/>
          </a:prstGeom>
          <a:solidFill>
            <a:srgbClr val="D4EDDA"/>
          </a:solidFill>
          <a:ln w="381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112264" y="2560320"/>
            <a:ext cx="74066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27AE60"/>
                </a:solidFill>
              </a:rPr>
              <a:t>0,889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926080" y="2505456"/>
            <a:ext cx="749808" cy="292608"/>
          </a:xfrm>
          <a:prstGeom prst="rect">
            <a:avLst/>
          </a:prstGeom>
          <a:solidFill>
            <a:srgbClr val="D4EDDA"/>
          </a:solidFill>
          <a:ln w="381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962656" y="2560320"/>
            <a:ext cx="685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27AE60"/>
                </a:solidFill>
              </a:rPr>
              <a:t>0,637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721608" y="2505456"/>
            <a:ext cx="749808" cy="292608"/>
          </a:xfrm>
          <a:prstGeom prst="rect">
            <a:avLst/>
          </a:prstGeom>
          <a:solidFill>
            <a:srgbClr val="D4EDDA"/>
          </a:solidFill>
          <a:ln w="381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758184" y="2560320"/>
            <a:ext cx="685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27AE60"/>
                </a:solidFill>
              </a:rPr>
              <a:t>0,748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9768" y="2798064"/>
            <a:ext cx="1600200" cy="292608"/>
          </a:xfrm>
          <a:prstGeom prst="rect">
            <a:avLst/>
          </a:prstGeom>
          <a:solidFill>
            <a:srgbClr val="EAF2FB"/>
          </a:solidFill>
          <a:ln w="381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66344" y="2852928"/>
            <a:ext cx="153619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2E"/>
                </a:solidFill>
              </a:rPr>
              <a:t>    Gradient Boosting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075688" y="2798064"/>
            <a:ext cx="804672" cy="292608"/>
          </a:xfrm>
          <a:prstGeom prst="rect">
            <a:avLst/>
          </a:prstGeom>
          <a:solidFill>
            <a:srgbClr val="EAF2FB"/>
          </a:solidFill>
          <a:ln w="381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112264" y="2852928"/>
            <a:ext cx="74066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A1A2E"/>
                </a:solidFill>
              </a:rPr>
              <a:t>0,887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926080" y="2798064"/>
            <a:ext cx="749808" cy="292608"/>
          </a:xfrm>
          <a:prstGeom prst="rect">
            <a:avLst/>
          </a:prstGeom>
          <a:solidFill>
            <a:srgbClr val="EAF2FB"/>
          </a:solidFill>
          <a:ln w="381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962656" y="2852928"/>
            <a:ext cx="685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A1A2E"/>
                </a:solidFill>
              </a:rPr>
              <a:t>0,635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721608" y="2798064"/>
            <a:ext cx="749808" cy="292608"/>
          </a:xfrm>
          <a:prstGeom prst="rect">
            <a:avLst/>
          </a:prstGeom>
          <a:solidFill>
            <a:srgbClr val="EAF2FB"/>
          </a:solidFill>
          <a:ln w="381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758184" y="2852928"/>
            <a:ext cx="685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A1A2E"/>
                </a:solidFill>
              </a:rPr>
              <a:t>0,695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29768" y="3090672"/>
            <a:ext cx="1600200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66344" y="3145536"/>
            <a:ext cx="153619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2E"/>
                </a:solidFill>
              </a:rPr>
              <a:t>    CatBoost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075688" y="3090672"/>
            <a:ext cx="804672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112264" y="3145536"/>
            <a:ext cx="74066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A1A2E"/>
                </a:solidFill>
              </a:rPr>
              <a:t>0,887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926080" y="3090672"/>
            <a:ext cx="749808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962656" y="3145536"/>
            <a:ext cx="685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A1A2E"/>
                </a:solidFill>
              </a:rPr>
              <a:t>0,631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721608" y="3090672"/>
            <a:ext cx="749808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758184" y="3145536"/>
            <a:ext cx="685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A1A2E"/>
                </a:solidFill>
              </a:rPr>
              <a:t>0,720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29768" y="3383280"/>
            <a:ext cx="1600200" cy="292608"/>
          </a:xfrm>
          <a:prstGeom prst="rect">
            <a:avLst/>
          </a:prstGeom>
          <a:solidFill>
            <a:srgbClr val="EAF2FB"/>
          </a:solidFill>
          <a:ln w="381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66344" y="3438144"/>
            <a:ext cx="153619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2E"/>
                </a:solidFill>
              </a:rPr>
              <a:t>    Random Forest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075688" y="3383280"/>
            <a:ext cx="804672" cy="292608"/>
          </a:xfrm>
          <a:prstGeom prst="rect">
            <a:avLst/>
          </a:prstGeom>
          <a:solidFill>
            <a:srgbClr val="EAF2FB"/>
          </a:solidFill>
          <a:ln w="381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112264" y="3438144"/>
            <a:ext cx="74066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A1A2E"/>
                </a:solidFill>
              </a:rPr>
              <a:t>0,874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926080" y="3383280"/>
            <a:ext cx="749808" cy="292608"/>
          </a:xfrm>
          <a:prstGeom prst="rect">
            <a:avLst/>
          </a:prstGeom>
          <a:solidFill>
            <a:srgbClr val="EAF2FB"/>
          </a:solidFill>
          <a:ln w="381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962656" y="3438144"/>
            <a:ext cx="685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A1A2E"/>
                </a:solidFill>
              </a:rPr>
              <a:t>0,609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721608" y="3383280"/>
            <a:ext cx="749808" cy="292608"/>
          </a:xfrm>
          <a:prstGeom prst="rect">
            <a:avLst/>
          </a:prstGeom>
          <a:solidFill>
            <a:srgbClr val="EAF2FB"/>
          </a:solidFill>
          <a:ln w="381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758184" y="3438144"/>
            <a:ext cx="685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A1A2E"/>
                </a:solidFill>
              </a:rPr>
              <a:t>0,711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29768" y="3675888"/>
            <a:ext cx="1600200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66344" y="3730752"/>
            <a:ext cx="153619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2E"/>
                </a:solidFill>
              </a:rPr>
              <a:t>    Régr. Logistique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075688" y="3675888"/>
            <a:ext cx="804672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112264" y="3730752"/>
            <a:ext cx="74066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A1A2E"/>
                </a:solidFill>
              </a:rPr>
              <a:t>0,874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926080" y="3675888"/>
            <a:ext cx="749808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962656" y="3730752"/>
            <a:ext cx="685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A1A2E"/>
                </a:solidFill>
              </a:rPr>
              <a:t>0,602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721608" y="3675888"/>
            <a:ext cx="749808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758184" y="3730752"/>
            <a:ext cx="685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A1A2E"/>
                </a:solidFill>
              </a:rPr>
              <a:t>0,738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365760" y="4224528"/>
            <a:ext cx="5669280" cy="2331720"/>
          </a:xfrm>
          <a:prstGeom prst="roundRect">
            <a:avLst/>
          </a:prstGeom>
          <a:solidFill>
            <a:srgbClr val="EA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365760" y="4224528"/>
            <a:ext cx="5669280" cy="384048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48640" y="4251960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Top Prédicteurs — SHAP (XGBoost)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02920" y="4736592"/>
            <a:ext cx="37490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▸  Nombre d'enfants nés vivants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343400" y="4791456"/>
            <a:ext cx="1417320" cy="164592"/>
          </a:xfrm>
          <a:prstGeom prst="rect">
            <a:avLst/>
          </a:prstGeom>
          <a:solidFill>
            <a:srgbClr val="DE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4343400" y="4791456"/>
            <a:ext cx="1309603" cy="16459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815584" y="4736592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1" i="0">
                <a:solidFill>
                  <a:srgbClr val="E74C3C"/>
                </a:solidFill>
              </a:rPr>
              <a:t>23,1 %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02920" y="5074920"/>
            <a:ext cx="37490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▸  Âge de la femme</a:t>
            </a:r>
          </a:p>
        </p:txBody>
      </p:sp>
      <p:sp>
        <p:nvSpPr>
          <p:cNvPr id="75" name="Rectangle 74"/>
          <p:cNvSpPr/>
          <p:nvPr/>
        </p:nvSpPr>
        <p:spPr>
          <a:xfrm>
            <a:off x="4343400" y="5129784"/>
            <a:ext cx="1417320" cy="164592"/>
          </a:xfrm>
          <a:prstGeom prst="rect">
            <a:avLst/>
          </a:prstGeom>
          <a:solidFill>
            <a:srgbClr val="DE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4343400" y="5129784"/>
            <a:ext cx="238109" cy="164592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5815584" y="50749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1" i="0">
                <a:solidFill>
                  <a:srgbClr val="F39C12"/>
                </a:solidFill>
              </a:rPr>
              <a:t>4,2 %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02920" y="5413248"/>
            <a:ext cx="37490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▸  Niveau d'éducation</a:t>
            </a:r>
          </a:p>
        </p:txBody>
      </p:sp>
      <p:sp>
        <p:nvSpPr>
          <p:cNvPr id="79" name="Rectangle 78"/>
          <p:cNvSpPr/>
          <p:nvPr/>
        </p:nvSpPr>
        <p:spPr>
          <a:xfrm>
            <a:off x="4343400" y="5468112"/>
            <a:ext cx="1417320" cy="164592"/>
          </a:xfrm>
          <a:prstGeom prst="rect">
            <a:avLst/>
          </a:prstGeom>
          <a:solidFill>
            <a:srgbClr val="DE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4343400" y="5468112"/>
            <a:ext cx="232440" cy="164592"/>
          </a:xfrm>
          <a:prstGeom prst="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5815584" y="541324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1" i="0">
                <a:solidFill>
                  <a:srgbClr val="2C5F8A"/>
                </a:solidFill>
              </a:rPr>
              <a:t>4,1 %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02920" y="5751576"/>
            <a:ext cx="37490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▸  Naissances récentes (5 ans)</a:t>
            </a:r>
          </a:p>
        </p:txBody>
      </p:sp>
      <p:sp>
        <p:nvSpPr>
          <p:cNvPr id="83" name="Rectangle 82"/>
          <p:cNvSpPr/>
          <p:nvPr/>
        </p:nvSpPr>
        <p:spPr>
          <a:xfrm>
            <a:off x="4343400" y="5806440"/>
            <a:ext cx="1417320" cy="164592"/>
          </a:xfrm>
          <a:prstGeom prst="rect">
            <a:avLst/>
          </a:prstGeom>
          <a:solidFill>
            <a:srgbClr val="DE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4343400" y="5806440"/>
            <a:ext cx="158739" cy="164592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5815584" y="5751576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1" i="0">
                <a:solidFill>
                  <a:srgbClr val="1A3A5C"/>
                </a:solidFill>
              </a:rPr>
              <a:t>2,8 %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02920" y="6089904"/>
            <a:ext cx="37490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▸  Âge à la 1ère naissance</a:t>
            </a:r>
          </a:p>
        </p:txBody>
      </p:sp>
      <p:sp>
        <p:nvSpPr>
          <p:cNvPr id="87" name="Rectangle 86"/>
          <p:cNvSpPr/>
          <p:nvPr/>
        </p:nvSpPr>
        <p:spPr>
          <a:xfrm>
            <a:off x="4343400" y="6144768"/>
            <a:ext cx="1417320" cy="164592"/>
          </a:xfrm>
          <a:prstGeom prst="rect">
            <a:avLst/>
          </a:prstGeom>
          <a:solidFill>
            <a:srgbClr val="DE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4343400" y="6144768"/>
            <a:ext cx="153070" cy="16459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5815584" y="6089904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1" i="0">
                <a:solidFill>
                  <a:srgbClr val="27AE60"/>
                </a:solidFill>
              </a:rPr>
              <a:t>2,7 %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6263640" y="1463040"/>
            <a:ext cx="5577840" cy="5074920"/>
          </a:xfrm>
          <a:prstGeom prst="roundRect">
            <a:avLst/>
          </a:prstGeom>
          <a:solidFill>
            <a:srgbClr val="EA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ounded Rectangle 90"/>
          <p:cNvSpPr/>
          <p:nvPr/>
        </p:nvSpPr>
        <p:spPr>
          <a:xfrm>
            <a:off x="6263640" y="1463040"/>
            <a:ext cx="5577840" cy="384048"/>
          </a:xfrm>
          <a:prstGeom prst="round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6446520" y="1490472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Points Clés &amp; Recommandations ML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446520" y="1993392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3A5C"/>
                </a:solidFill>
              </a:rPr>
              <a:t>Courbes d'apprentissage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473952" y="2331720"/>
            <a:ext cx="5212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1A1A2E"/>
                </a:solidFill>
              </a:rPr>
              <a:t>Tous les modèles convergent au-delà de 0,80 AUC dès 3 000 observations</a:t>
            </a:r>
          </a:p>
          <a:p>
            <a:pPr algn="l">
              <a:buChar char="▸"/>
            </a:pPr>
            <a:r>
              <a:rPr sz="950" b="0" i="0">
                <a:solidFill>
                  <a:srgbClr val="1A1A2E"/>
                </a:solidFill>
              </a:rPr>
              <a:t>XGBoost : écart entraînement / validation &lt; 0,05 → pas de surapprentissage</a:t>
            </a:r>
          </a:p>
          <a:p>
            <a:pPr algn="l">
              <a:buChar char="▸"/>
            </a:pPr>
            <a:r>
              <a:rPr sz="950" b="0" i="0">
                <a:solidFill>
                  <a:srgbClr val="1A1A2E"/>
                </a:solidFill>
              </a:rPr>
              <a:t>Courbe de validation croissante → le modèle bénéficierait de données supplémentaires</a:t>
            </a:r>
          </a:p>
          <a:p>
            <a:pPr algn="l">
              <a:buChar char="▸"/>
            </a:pPr>
            <a:r>
              <a:rPr sz="950" b="0" i="0">
                <a:solidFill>
                  <a:srgbClr val="1A1A2E"/>
                </a:solidFill>
              </a:rPr>
              <a:t>CatBoost &amp; LightGBM : convergence rapide grâce au gradient optimisé sur feuilles</a:t>
            </a:r>
          </a:p>
        </p:txBody>
      </p:sp>
      <p:sp>
        <p:nvSpPr>
          <p:cNvPr id="95" name="Rectangle 94"/>
          <p:cNvSpPr/>
          <p:nvPr/>
        </p:nvSpPr>
        <p:spPr>
          <a:xfrm>
            <a:off x="6400800" y="3776472"/>
            <a:ext cx="5257800" cy="27432"/>
          </a:xfrm>
          <a:prstGeom prst="rect">
            <a:avLst/>
          </a:prstGeom>
          <a:solidFill>
            <a:srgbClr val="DE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6446520" y="3867912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3A5C"/>
                </a:solidFill>
              </a:rPr>
              <a:t>Modèle champion — XGBoost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6473952" y="4206240"/>
            <a:ext cx="5212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1A1A2E"/>
                </a:solidFill>
              </a:rPr>
              <a:t>AUC = 0,889  |  F1 = 0,643  |  Rappel = 0,720  |  Précision = 0,580</a:t>
            </a:r>
          </a:p>
          <a:p>
            <a:pPr algn="l">
              <a:buChar char="▸"/>
            </a:pPr>
            <a:r>
              <a:rPr sz="950" b="0" i="0">
                <a:solidFill>
                  <a:srgbClr val="1A1A2E"/>
                </a:solidFill>
              </a:rPr>
              <a:t>SHAP garantit l'interprétabilité clinique des prédictions individuelles</a:t>
            </a:r>
          </a:p>
        </p:txBody>
      </p:sp>
      <p:sp>
        <p:nvSpPr>
          <p:cNvPr id="98" name="Rectangle 97"/>
          <p:cNvSpPr/>
          <p:nvPr/>
        </p:nvSpPr>
        <p:spPr>
          <a:xfrm>
            <a:off x="6400800" y="5056632"/>
            <a:ext cx="5257800" cy="27432"/>
          </a:xfrm>
          <a:prstGeom prst="rect">
            <a:avLst/>
          </a:prstGeom>
          <a:solidFill>
            <a:srgbClr val="DE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6446520" y="5148072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3A5C"/>
                </a:solidFill>
              </a:rPr>
              <a:t>Recommandations opérationnelles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6473952" y="5486400"/>
            <a:ext cx="5212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1A1A2E"/>
                </a:solidFill>
              </a:rPr>
              <a:t>Déployer XGBoost comme outil d'aide à la décision dans les centres de santé</a:t>
            </a:r>
          </a:p>
          <a:p>
            <a:pPr algn="l">
              <a:buChar char="▸"/>
            </a:pPr>
            <a:r>
              <a:rPr sz="950" b="0" i="0">
                <a:solidFill>
                  <a:srgbClr val="1A1A2E"/>
                </a:solidFill>
              </a:rPr>
              <a:t>Collecter davantage de données pour renforcer la généralisation du modèle</a:t>
            </a:r>
          </a:p>
          <a:p>
            <a:pPr algn="l">
              <a:buChar char="▸"/>
            </a:pPr>
            <a:r>
              <a:rPr sz="950" b="0" i="0">
                <a:solidFill>
                  <a:srgbClr val="1A1A2E"/>
                </a:solidFill>
              </a:rPr>
              <a:t>Mettre à jour le modèle à chaque nouvelle vague EDS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274320" y="6601968"/>
            <a:ext cx="10515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</a:rPr>
              <a:t>M. Yannick FONO BINDJEME  |  Institut Saint Jean Ingénieur  |  EDS Cameroun 2018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881360" y="6601968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E8C045"/>
                </a:solidFill>
              </a:rPr>
              <a:t>19 / 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